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0:15 — title, name, supervisor.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0:10 — four parts.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1:00 — source: D1; fig:bg-lidar-scan (b); say the 3 point-cloud properties aloud (backup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1:00 — source: D2; ch1 §1.1 (examples); ch2 §2.2.2–2.2.3. If asked how we compare: different metrics (their all-class mIoU vs our car-only point F1), not one scale; see 1.3 / tab:positioning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ch2 §2.2 (bg-deep, bg-classical, bg-completion); tab:positioning for the per-method table. No accuracy column on purpose: their mIoU / PQ over all classes and our car-only point F1 are different measurements (ch2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0:40 — source: ch1 §1.1–1.2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0:45 — source: ch1 §Objectives,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1:00 — source: D3; fig:architecture, fig:pipeline, fig:completion-pipeline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ch3 §detection pipeline; fig:pipeline (crop: scripts/crop_thesis_figure.py 3.2 pipeline)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0:45 — source: D4 (seq 08 frame 2500, one-frame illustration: counts are NOT thesis results); ch2 §RANSAC; ch3 §preprocessing, §RANSAC.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0:45 — source: D5 = same seq 08 frame 2500 as D4 (scripts/make_d5_clusters.py, pipeline's own preprocess, remove_ground, cluster_objects); one-frame illustration: the 205 clusters are NOT a thesis result. Concept: fig:clustering; fig:bg-pipeline-stages.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fig:geo-filter (crop: scripts/crop_thesis_figure.py 3.4 geo_filter); gates = ch3 §Geometric Filtering; P 0.199 / R 0.773 = tab:ablation-stage geometric-only row. If asked which gates cost cars: 27,718 rejected clusters overlap a GT car, 73.9% by the minimum-volume and 12.7% by the minimum-points gate, i.e. small splinters of already-split cars (the thesis states this as an inference).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1:00 — source: D6+D7 merged. Top lane (training) = ch3 §training data (mined, not hand labelled); bottom lane (inference) = fig:classifier, simplified. Story: the top lane is the answer key, looked up from SemanticKITTI labels; the classifier learns to give the same answer from the points alone, so on a new scan, with no labels, only the bottom lane runs. Say 'zero additional manual annotation', not 'annotation-free'. Counts: 420,333 training clusters (seq 00-07, 09, 10), 130,394 validation (seq 08), about 21% car / 79% not-car.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0:30 — source: fig:tracker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ch3 §object completion; fig:completion-pipeline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1:00 — source: fig:pcn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fig:kitti-like-partial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fig:lshape-gate, tab:completion-config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tab:dataset-roles, tab:sensor-spec, tab:dataset, verbatim. Seq 08 is the classifier's validation sequence, not a test set; LOSO (3.2.3) is the leakage control.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ch4 §eligibility — ≥10 surviving points; 25.5% of annotated cars excluded; recall vs ALL annotated cars ≈ 0.55 (ch4, ch5) vs 0.732 eligible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ch4 §baselines; tab:positioning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0:30 — source: fig:bg-iou; ch4 §metrics; ch4 §plausibility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ch4 §splits; tab:loso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1:00 — source: D9 = tab:ablation-stage, numbers verbatim (scripts/make_d9_funnel.py); table = tab:headline + tab:loso pooled row. Story, left to right: the geometric filter keeps most cars (recall 0.773) but 4 of 5 detections are false positives (precision 0.199); the classifier removes about 104,000 false positives (precision 0.846) and pays some recall (0.676); the track filter wins back 1,968 true positives and drops more false positives (0.911 / 0.732 / F1 0.812). Counts are per-frame matches over the sequence, not distinct cars. Table row 2 = tab:loso pooled (each fold's classifier never saw its test sequence). If asked whether we selected and report on seq 08: the seq-08 fold of LOSO (classifier blind to seq 08) gets 0.888 / 0.736 / 0.805, so selection bought about 2 precision points and no recall (tab:headline).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fig:bev-detections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1:00 — source: tab:split, fig:failure-zooms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tab:distance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ch4 §result analysis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1:30 — source: D12; tab:plausibility, fig:plausibility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fig:completion-shape, fig:plausibility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ch4 §synthetic fidelity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tab:plausibility-seq; ch4 §plausibility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ch4 §scope of the completion claim; ch5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tab:runtime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ch4 §runtime evaluation (921.3 → 623.5 ms)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tab:ablation-stage, verbatim. Same numbers as the slide 29 chart, plus mean IoU and the raw counts. Counts are per-frame matches over the full sequence, not distinct cars.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tab:clustering, tab:splitrate. Mean IoU column of tab:clustering left out. If asked 'why not an even coarser grid, e.g. 0.20 m?': merges grow as the grid coarsens (56 → 284), so we expect more fused cars; 0.20 m was NOT tested, say 'expect', not 'found'. If asked 'did you tune DBSCAN's radius?': yes, an epsilon sweep; the best fixed radius (Euclidean, 0.4 m) reaches F1 0.800 on seq 00, still below HDBSCAN's 0.835 (ch4 §clustering).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tab:iou-sensitivity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ch4 sec:ablation-stagea (macro-F1 0.9285 vs 0.9225; pipeline F1 identical to three decimals); tab:cross-domain. Don't mix the metrics: 0.9285 is macro-F1 (mean of car and not-car F1), 0.885 is car-class F1. Why keep it in the thesis: it changes the recipe, so it is reported as a negative result.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ch4 §completion ablations (sec:abl-completion)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0:45 — source: ch5 §principal outcomes, §diagnostic findings, Final Remarks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0:30 — source: ch5 §limitations (disc-architectural, disc-completion-scope, disc-eval-validity)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0:30 — source: ch5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END — leave up during Q&amp;A; jump to slides by number.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ch2 §LiDAR point cloud; tab:sensor-spec; S1 notes A1</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backup for 'how does HDBSCAN work?'. TOY 2D example (scripts/make_hdbscan_explainer.py), real hdbscan library with our settings (min_samples 5, min_cluster_size 10); NOT a thesis result. Say: (1) each point measures how crowded its neighbourhood is: the distance to its 5th nearest point (itself included); (2) HDBSCAN then looks at every radius at once: at a small radius only the dense near car forms, at a medium one both cars form, at a large one they fuse; (3) shrinking the radius, it keeps a group whole if it holds together longer than its pieces would. Each car is judged only against its own pieces, never against the other car, so the dense near car and the sparse far car both survive; a fixed-radius DBSCAN would have to pick one column. Toy numbers: near car 335.7 vs its pieces 19.2 -&gt; whole; far car 24.1, no pieces -&gt; kept (S2 notes A4). Precision if pressed: the 'radius' is the mutual reachability distance max(core a, core b, distance a-b), and 'longest' is stability, lifetime measured in 1/radius and summed over points; groups under 10 points are noise. ch2 §density-based clustering; S2 notes A4.</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backup</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backup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backup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backup</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backup</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SUPPORT (skip in talk) — source: backup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pt_logo.png"/>
          <p:cNvPicPr>
            <a:picLocks noChangeAspect="1"/>
          </p:cNvPicPr>
          <p:nvPr/>
        </p:nvPicPr>
        <p:blipFill>
          <a:blip r:embed="rId2"/>
          <a:stretch>
            <a:fillRect/>
          </a:stretch>
        </p:blipFill>
        <p:spPr>
          <a:xfrm>
            <a:off x="1202815" y="381000"/>
            <a:ext cx="2737871" cy="1047750"/>
          </a:xfrm>
          <a:prstGeom prst="rect">
            <a:avLst/>
          </a:prstGeom>
        </p:spPr>
      </p:pic>
      <p:sp>
        <p:nvSpPr>
          <p:cNvPr id="3" name="Rectangle 2"/>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524000" y="2667000"/>
            <a:ext cx="15240000" cy="3143250"/>
          </a:xfrm>
          <a:prstGeom prst="rect">
            <a:avLst/>
          </a:prstGeom>
          <a:noFill/>
        </p:spPr>
        <p:txBody>
          <a:bodyPr wrap="square" anchor="ctr" lIns="0" rIns="0" tIns="0" bIns="0">
            <a:spAutoFit/>
          </a:bodyPr>
          <a:lstStyle/>
          <a:p>
            <a:pPr algn="ctr">
              <a:spcAft>
                <a:spcPts val="0"/>
              </a:spcAft>
            </a:pPr>
            <a:r>
              <a:rPr sz="4800" b="1" i="0">
                <a:solidFill>
                  <a:srgbClr val="1F2933"/>
                </a:solidFill>
                <a:latin typeface="Be Vietnam Pro"/>
              </a:rPr>
              <a:t>A MODULAR DETECTION AND COMPLETION FRAMEWORK FOR OCCLUDED VEHICLES IN AUTOMOTIVE LIDAR</a:t>
            </a:r>
          </a:p>
        </p:txBody>
      </p:sp>
      <p:sp>
        <p:nvSpPr>
          <p:cNvPr id="5" name="TextBox 4"/>
          <p:cNvSpPr txBox="1"/>
          <p:nvPr/>
        </p:nvSpPr>
        <p:spPr>
          <a:xfrm>
            <a:off x="10477500" y="6858000"/>
            <a:ext cx="7239000" cy="2095500"/>
          </a:xfrm>
          <a:prstGeom prst="rect">
            <a:avLst/>
          </a:prstGeom>
          <a:noFill/>
        </p:spPr>
        <p:txBody>
          <a:bodyPr wrap="square" anchor="t" lIns="0" rIns="0" tIns="0" bIns="0">
            <a:spAutoFit/>
          </a:bodyPr>
          <a:lstStyle/>
          <a:p>
            <a:pPr algn="l">
              <a:spcAft>
                <a:spcPts val="600"/>
              </a:spcAft>
            </a:pPr>
            <a:r>
              <a:rPr sz="3000" b="1" i="1">
                <a:solidFill>
                  <a:srgbClr val="1F2933"/>
                </a:solidFill>
                <a:latin typeface="Be Vietnam Pro"/>
              </a:rPr>
              <a:t>Supervisor: Dr. Doan Nhat Quang</a:t>
            </a:r>
          </a:p>
          <a:p>
            <a:pPr algn="l">
              <a:spcAft>
                <a:spcPts val="600"/>
              </a:spcAft>
            </a:pPr>
            <a:r>
              <a:rPr sz="3000" b="1" i="0">
                <a:solidFill>
                  <a:srgbClr val="1F2933"/>
                </a:solidFill>
                <a:latin typeface="Be Vietnam Pro"/>
              </a:rPr>
              <a:t>Presenter: Ngo Vi Viet Anh</a:t>
            </a:r>
          </a:p>
          <a:p>
            <a:pPr algn="l">
              <a:spcAft>
                <a:spcPts val="600"/>
              </a:spcAft>
            </a:pPr>
            <a:r>
              <a:rPr sz="3000" b="1" i="0">
                <a:solidFill>
                  <a:srgbClr val="1F2933"/>
                </a:solidFill>
                <a:latin typeface="Be Vietnam Pro"/>
              </a:rPr>
              <a:t>ID: 24MSE13205</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43000" y="1428750"/>
            <a:ext cx="16002000" cy="857250"/>
          </a:xfrm>
          <a:prstGeom prst="rect">
            <a:avLst/>
          </a:prstGeom>
          <a:noFill/>
        </p:spPr>
        <p:txBody>
          <a:bodyPr wrap="square" anchor="t" lIns="0" rIns="0" tIns="0" bIns="0">
            <a:spAutoFit/>
          </a:bodyPr>
          <a:lstStyle/>
          <a:p>
            <a:pPr algn="ctr">
              <a:spcAft>
                <a:spcPts val="0"/>
              </a:spcAft>
            </a:pPr>
            <a:r>
              <a:rPr sz="5600" b="1" i="0">
                <a:solidFill>
                  <a:srgbClr val="1F2933"/>
                </a:solidFill>
                <a:latin typeface="Be Vietnam Pro"/>
              </a:rPr>
              <a:t>TABLE OF CONTENTS</a:t>
            </a:r>
          </a:p>
        </p:txBody>
      </p:sp>
      <p:sp>
        <p:nvSpPr>
          <p:cNvPr id="4" name="TextBox 3"/>
          <p:cNvSpPr txBox="1"/>
          <p:nvPr/>
        </p:nvSpPr>
        <p:spPr>
          <a:xfrm>
            <a:off x="2857500" y="3810000"/>
            <a:ext cx="6096000" cy="2857500"/>
          </a:xfrm>
          <a:prstGeom prst="rect">
            <a:avLst/>
          </a:prstGeom>
          <a:noFill/>
        </p:spPr>
        <p:txBody>
          <a:bodyPr wrap="square" anchor="t" lIns="0" rIns="0" tIns="0" bIns="0">
            <a:spAutoFit/>
          </a:bodyPr>
          <a:lstStyle/>
          <a:p>
            <a:pPr algn="l">
              <a:spcAft>
                <a:spcPts val="6000"/>
              </a:spcAft>
            </a:pPr>
            <a:r>
              <a:rPr sz="3600" b="1" i="0">
                <a:solidFill>
                  <a:srgbClr val="1F2933"/>
                </a:solidFill>
                <a:latin typeface="Be Vietnam Pro"/>
              </a:rPr>
              <a:t>I. Introduction</a:t>
            </a:r>
          </a:p>
          <a:p>
            <a:pPr algn="l">
              <a:spcAft>
                <a:spcPts val="6000"/>
              </a:spcAft>
            </a:pPr>
            <a:r>
              <a:rPr sz="3600" b="1" i="0">
                <a:solidFill>
                  <a:srgbClr val="1F2933"/>
                </a:solidFill>
                <a:latin typeface="Be Vietnam Pro"/>
              </a:rPr>
              <a:t>II. Proposed Methodology</a:t>
            </a:r>
          </a:p>
        </p:txBody>
      </p:sp>
      <p:sp>
        <p:nvSpPr>
          <p:cNvPr id="5" name="TextBox 4"/>
          <p:cNvSpPr txBox="1"/>
          <p:nvPr/>
        </p:nvSpPr>
        <p:spPr>
          <a:xfrm>
            <a:off x="9906000" y="3810000"/>
            <a:ext cx="6667500" cy="2857500"/>
          </a:xfrm>
          <a:prstGeom prst="rect">
            <a:avLst/>
          </a:prstGeom>
          <a:noFill/>
        </p:spPr>
        <p:txBody>
          <a:bodyPr wrap="square" anchor="t" lIns="0" rIns="0" tIns="0" bIns="0">
            <a:spAutoFit/>
          </a:bodyPr>
          <a:lstStyle/>
          <a:p>
            <a:pPr algn="l">
              <a:spcAft>
                <a:spcPts val="6000"/>
              </a:spcAft>
            </a:pPr>
            <a:r>
              <a:rPr sz="3600" b="1" i="0">
                <a:solidFill>
                  <a:srgbClr val="1F2933"/>
                </a:solidFill>
                <a:latin typeface="Be Vietnam Pro"/>
              </a:rPr>
              <a:t>III. Experimental Evaluation</a:t>
            </a:r>
          </a:p>
          <a:p>
            <a:pPr algn="l">
              <a:spcAft>
                <a:spcPts val="6000"/>
              </a:spcAft>
            </a:pPr>
            <a:r>
              <a:rPr sz="3600" b="1" i="0">
                <a:solidFill>
                  <a:srgbClr val="1F2933"/>
                </a:solidFill>
                <a:latin typeface="Be Vietnam Pro"/>
              </a:rPr>
              <a:t>IV. Conclusion &amp; Future Work</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43000" y="2857500"/>
            <a:ext cx="16002000" cy="3810000"/>
          </a:xfrm>
          <a:prstGeom prst="rect">
            <a:avLst/>
          </a:prstGeom>
          <a:noFill/>
        </p:spPr>
        <p:txBody>
          <a:bodyPr wrap="square" anchor="ctr" lIns="0" rIns="0" tIns="0" bIns="0">
            <a:spAutoFit/>
          </a:bodyPr>
          <a:lstStyle/>
          <a:p>
            <a:pPr algn="ctr">
              <a:spcAft>
                <a:spcPts val="1200"/>
              </a:spcAft>
            </a:pPr>
            <a:r>
              <a:rPr sz="5600" b="1" i="0">
                <a:solidFill>
                  <a:srgbClr val="1F2933"/>
                </a:solidFill>
                <a:latin typeface="Be Vietnam Pro"/>
              </a:rPr>
              <a:t>I. INTRODUCTION</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1.1 BACKGROUND</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The laser only reaches the near side, so half of every car is missing.</a:t>
            </a:r>
          </a:p>
        </p:txBody>
      </p:sp>
      <p:pic>
        <p:nvPicPr>
          <p:cNvPr id="4" name="Picture 3" descr="d1_occlusion.png"/>
          <p:cNvPicPr>
            <a:picLocks noChangeAspect="1"/>
          </p:cNvPicPr>
          <p:nvPr/>
        </p:nvPicPr>
        <p:blipFill>
          <a:blip r:embed="rId2"/>
          <a:stretch>
            <a:fillRect/>
          </a:stretch>
        </p:blipFill>
        <p:spPr>
          <a:xfrm>
            <a:off x="1326092" y="2095500"/>
            <a:ext cx="9006417" cy="7048500"/>
          </a:xfrm>
          <a:prstGeom prst="rect">
            <a:avLst/>
          </a:prstGeom>
        </p:spPr>
      </p:pic>
      <p:pic>
        <p:nvPicPr>
          <p:cNvPr id="5" name="Picture 4" descr="scan_panel_b.png"/>
          <p:cNvPicPr>
            <a:picLocks noChangeAspect="1"/>
          </p:cNvPicPr>
          <p:nvPr/>
        </p:nvPicPr>
        <p:blipFill>
          <a:blip r:embed="rId3"/>
          <a:stretch>
            <a:fillRect/>
          </a:stretch>
        </p:blipFill>
        <p:spPr>
          <a:xfrm>
            <a:off x="12223319" y="2095500"/>
            <a:ext cx="3594963" cy="6477000"/>
          </a:xfrm>
          <a:prstGeom prst="rect">
            <a:avLst/>
          </a:prstGeom>
        </p:spPr>
      </p:pic>
      <p:sp>
        <p:nvSpPr>
          <p:cNvPr id="6" name="TextBox 5"/>
          <p:cNvSpPr txBox="1"/>
          <p:nvPr/>
        </p:nvSpPr>
        <p:spPr>
          <a:xfrm>
            <a:off x="10896600" y="8686800"/>
            <a:ext cx="6248400" cy="381000"/>
          </a:xfrm>
          <a:prstGeom prst="rect">
            <a:avLst/>
          </a:prstGeom>
          <a:noFill/>
        </p:spPr>
        <p:txBody>
          <a:bodyPr wrap="square" anchor="t" lIns="0" rIns="0" tIns="0" bIns="0">
            <a:spAutoFit/>
          </a:bodyPr>
          <a:lstStyle/>
          <a:p>
            <a:pPr algn="ctr">
              <a:spcAft>
                <a:spcPts val="0"/>
              </a:spcAft>
            </a:pPr>
            <a:r>
              <a:rPr sz="2400" b="0" i="0">
                <a:solidFill>
                  <a:srgbClr val="1F2933"/>
                </a:solidFill>
                <a:latin typeface="Be Vietnam Pro"/>
              </a:rPr>
              <a:t>Real car, 6 m away (Thesis Fig. 2.3)</a:t>
            </a:r>
          </a:p>
        </p:txBody>
      </p:sp>
      <p:sp>
        <p:nvSpPr>
          <p:cNvPr id="7" name="Rectangle 6"/>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 INTRODUCTION</a:t>
            </a:r>
          </a:p>
        </p:txBody>
      </p:sp>
      <p:sp>
        <p:nvSpPr>
          <p:cNvPr id="9" name="TextBox 8"/>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1.2 CURRENT APPROACHES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End-to-end networks are accurate but need dense labels and act as black boxes; we take the modular route.</a:t>
            </a:r>
          </a:p>
        </p:txBody>
      </p:sp>
      <p:pic>
        <p:nvPicPr>
          <p:cNvPr id="4" name="Picture 3" descr="d2_end_to_end_vs_modular.png"/>
          <p:cNvPicPr>
            <a:picLocks noChangeAspect="1"/>
          </p:cNvPicPr>
          <p:nvPr/>
        </p:nvPicPr>
        <p:blipFill>
          <a:blip r:embed="rId2"/>
          <a:stretch>
            <a:fillRect/>
          </a:stretch>
        </p:blipFill>
        <p:spPr>
          <a:xfrm>
            <a:off x="1143000" y="2095500"/>
            <a:ext cx="16002000" cy="7048500"/>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 INTRODUCTION</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1.3 LITERATURE REVIEW</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Three lines of prior work, and what each leaves open.</a:t>
            </a:r>
          </a:p>
        </p:txBody>
      </p:sp>
      <p:graphicFrame>
        <p:nvGraphicFramePr>
          <p:cNvPr id="4" name="Table 3"/>
          <p:cNvGraphicFramePr>
            <a:graphicFrameLocks noGrp="1"/>
          </p:cNvGraphicFramePr>
          <p:nvPr/>
        </p:nvGraphicFramePr>
        <p:xfrm>
          <a:off x="1143000" y="2286000"/>
          <a:ext cx="16002000" cy="4762500"/>
        </p:xfrm>
        <a:graphic>
          <a:graphicData uri="http://schemas.openxmlformats.org/drawingml/2006/table">
            <a:tbl>
              <a:tblPr firstRow="1" bandRow="1">
                <a:tableStyleId>{5C22544A-7EE6-4342-B048-85BDC9FD1C3A}</a:tableStyleId>
              </a:tblPr>
              <a:tblGrid>
                <a:gridCol w="2985448"/>
                <a:gridCol w="4179627"/>
                <a:gridCol w="3821373"/>
                <a:gridCol w="5015552"/>
              </a:tblGrid>
              <a:tr h="1190625">
                <a:tc>
                  <a:txBody>
                    <a:bodyPr/>
                    <a:lstStyle/>
                    <a:p>
                      <a:pPr algn="l"/>
                      <a:r>
                        <a:rPr sz="2100" b="1">
                          <a:solidFill>
                            <a:srgbClr val="FFFFFF"/>
                          </a:solidFill>
                          <a:latin typeface="Be Vietnam Pro"/>
                        </a:rPr>
                        <a:t>Approach</a:t>
                      </a:r>
                    </a:p>
                  </a:txBody>
                  <a:tcPr anchor="ctr" marL="114300" marR="114300">
                    <a:solidFill>
                      <a:srgbClr val="1F2933"/>
                    </a:solidFill>
                  </a:tcPr>
                </a:tc>
                <a:tc>
                  <a:txBody>
                    <a:bodyPr/>
                    <a:lstStyle/>
                    <a:p>
                      <a:pPr algn="l"/>
                      <a:r>
                        <a:rPr sz="2100" b="1">
                          <a:solidFill>
                            <a:srgbClr val="FFFFFF"/>
                          </a:solidFill>
                          <a:latin typeface="Be Vietnam Pro"/>
                        </a:rPr>
                        <a:t>Representative works</a:t>
                      </a:r>
                    </a:p>
                  </a:txBody>
                  <a:tcPr anchor="ctr" marL="114300" marR="114300">
                    <a:solidFill>
                      <a:srgbClr val="1F2933"/>
                    </a:solidFill>
                  </a:tcPr>
                </a:tc>
                <a:tc>
                  <a:txBody>
                    <a:bodyPr/>
                    <a:lstStyle/>
                    <a:p>
                      <a:pPr algn="l"/>
                      <a:r>
                        <a:rPr sz="2100" b="1">
                          <a:solidFill>
                            <a:srgbClr val="FFFFFF"/>
                          </a:solidFill>
                          <a:latin typeface="Be Vietnam Pro"/>
                        </a:rPr>
                        <a:t>Strengths</a:t>
                      </a:r>
                    </a:p>
                  </a:txBody>
                  <a:tcPr anchor="ctr" marL="114300" marR="114300">
                    <a:solidFill>
                      <a:srgbClr val="1F2933"/>
                    </a:solidFill>
                  </a:tcPr>
                </a:tc>
                <a:tc>
                  <a:txBody>
                    <a:bodyPr/>
                    <a:lstStyle/>
                    <a:p>
                      <a:pPr algn="l"/>
                      <a:r>
                        <a:rPr sz="2100" b="1">
                          <a:solidFill>
                            <a:srgbClr val="FFFFFF"/>
                          </a:solidFill>
                          <a:latin typeface="Be Vietnam Pro"/>
                        </a:rPr>
                        <a:t>Remaining challenges</a:t>
                      </a:r>
                    </a:p>
                  </a:txBody>
                  <a:tcPr anchor="ctr" marL="114300" marR="114300">
                    <a:solidFill>
                      <a:srgbClr val="1F2933"/>
                    </a:solidFill>
                  </a:tcPr>
                </a:tc>
              </a:tr>
              <a:tr h="1190625">
                <a:tc>
                  <a:txBody>
                    <a:bodyPr/>
                    <a:lstStyle/>
                    <a:p>
                      <a:pPr algn="l"/>
                      <a:r>
                        <a:rPr sz="2100" b="1">
                          <a:solidFill>
                            <a:srgbClr val="1F2933"/>
                          </a:solidFill>
                          <a:latin typeface="Be Vietnam Pro"/>
                        </a:rPr>
                        <a:t>End-to-end deep segmentation</a:t>
                      </a:r>
                    </a:p>
                  </a:txBody>
                  <a:tcPr anchor="ctr" marL="114300" marR="114300">
                    <a:solidFill>
                      <a:srgbClr val="FFFFFF"/>
                    </a:solidFill>
                  </a:tcPr>
                </a:tc>
                <a:tc>
                  <a:txBody>
                    <a:bodyPr/>
                    <a:lstStyle/>
                    <a:p>
                      <a:pPr algn="l"/>
                      <a:r>
                        <a:rPr sz="2100" b="0">
                          <a:solidFill>
                            <a:srgbClr val="1F2933"/>
                          </a:solidFill>
                          <a:latin typeface="Be Vietnam Pro"/>
                        </a:rPr>
                        <a:t>RangeNet++, RandLA-Net, Cylinder3D; panoptic: Panoptic-PolarNet, DS-Net</a:t>
                      </a:r>
                    </a:p>
                  </a:txBody>
                  <a:tcPr anchor="ctr" marL="114300" marR="114300">
                    <a:solidFill>
                      <a:srgbClr val="FFFFFF"/>
                    </a:solidFill>
                  </a:tcPr>
                </a:tc>
                <a:tc>
                  <a:txBody>
                    <a:bodyPr/>
                    <a:lstStyle/>
                    <a:p>
                      <a:pPr algn="l"/>
                      <a:r>
                        <a:rPr sz="2100" b="0">
                          <a:solidFill>
                            <a:srgbClr val="1F2933"/>
                          </a:solidFill>
                          <a:latin typeface="Be Vietnam Pro"/>
                        </a:rPr>
                        <a:t>Benchmark leaders (Cylinder3D 67.8 mIoU on the SemanticKITTI test set)</a:t>
                      </a:r>
                    </a:p>
                  </a:txBody>
                  <a:tcPr anchor="ctr" marL="114300" marR="114300">
                    <a:solidFill>
                      <a:srgbClr val="FFFFFF"/>
                    </a:solidFill>
                  </a:tcPr>
                </a:tc>
                <a:tc>
                  <a:txBody>
                    <a:bodyPr/>
                    <a:lstStyle/>
                    <a:p>
                      <a:pPr algn="l"/>
                      <a:r>
                        <a:rPr sz="2100" b="0">
                          <a:solidFill>
                            <a:srgbClr val="1F2933"/>
                          </a:solidFill>
                          <a:latin typeface="Be Vietnam Pro"/>
                        </a:rPr>
                        <a:t>Need dense per-point (and per-instance) labels; a missed object can't be traced to one step</a:t>
                      </a:r>
                    </a:p>
                  </a:txBody>
                  <a:tcPr anchor="ctr" marL="114300" marR="114300">
                    <a:solidFill>
                      <a:srgbClr val="FFFFFF"/>
                    </a:solidFill>
                  </a:tcPr>
                </a:tc>
              </a:tr>
              <a:tr h="1190625">
                <a:tc>
                  <a:txBody>
                    <a:bodyPr/>
                    <a:lstStyle/>
                    <a:p>
                      <a:pPr algn="l"/>
                      <a:r>
                        <a:rPr sz="2100" b="1">
                          <a:solidFill>
                            <a:srgbClr val="1F2933"/>
                          </a:solidFill>
                          <a:latin typeface="Be Vietnam Pro"/>
                        </a:rPr>
                        <a:t>Classical geometric segmentation</a:t>
                      </a:r>
                    </a:p>
                  </a:txBody>
                  <a:tcPr anchor="ctr" marL="114300" marR="114300">
                    <a:solidFill>
                      <a:srgbClr val="EEF0F2"/>
                    </a:solidFill>
                  </a:tcPr>
                </a:tc>
                <a:tc>
                  <a:txBody>
                    <a:bodyPr/>
                    <a:lstStyle/>
                    <a:p>
                      <a:pPr algn="l"/>
                      <a:r>
                        <a:rPr sz="2100" b="0">
                          <a:solidFill>
                            <a:srgbClr val="1F2933"/>
                          </a:solidFill>
                          <a:latin typeface="Be Vietnam Pro"/>
                        </a:rPr>
                        <a:t>RANSAC ground removal + DBSCAN / HDBSCAN clustering</a:t>
                      </a:r>
                    </a:p>
                  </a:txBody>
                  <a:tcPr anchor="ctr" marL="114300" marR="114300">
                    <a:solidFill>
                      <a:srgbClr val="EEF0F2"/>
                    </a:solidFill>
                  </a:tcPr>
                </a:tc>
                <a:tc>
                  <a:txBody>
                    <a:bodyPr/>
                    <a:lstStyle/>
                    <a:p>
                      <a:pPr algn="l"/>
                      <a:r>
                        <a:rPr sz="2100" b="0">
                          <a:solidFill>
                            <a:srgbClr val="1F2933"/>
                          </a:solidFill>
                          <a:latin typeface="Be Vietnam Pro"/>
                        </a:rPr>
                        <a:t>No training data for segmentation; every stage inspectable</a:t>
                      </a:r>
                    </a:p>
                  </a:txBody>
                  <a:tcPr anchor="ctr" marL="114300" marR="114300">
                    <a:solidFill>
                      <a:srgbClr val="EEF0F2"/>
                    </a:solidFill>
                  </a:tcPr>
                </a:tc>
                <a:tc>
                  <a:txBody>
                    <a:bodyPr/>
                    <a:lstStyle/>
                    <a:p>
                      <a:pPr algn="l"/>
                      <a:r>
                        <a:rPr sz="2100" b="0">
                          <a:solidFill>
                            <a:srgbClr val="1F2933"/>
                          </a:solidFill>
                          <a:latin typeface="Be Vietnam Pro"/>
                        </a:rPr>
                        <a:t>No notion of objectness: clustering splits cars, which costs recall</a:t>
                      </a:r>
                    </a:p>
                  </a:txBody>
                  <a:tcPr anchor="ctr" marL="114300" marR="114300">
                    <a:solidFill>
                      <a:srgbClr val="EEF0F2"/>
                    </a:solidFill>
                  </a:tcPr>
                </a:tc>
              </a:tr>
              <a:tr h="1190625">
                <a:tc>
                  <a:txBody>
                    <a:bodyPr/>
                    <a:lstStyle/>
                    <a:p>
                      <a:pPr algn="l"/>
                      <a:r>
                        <a:rPr sz="2100" b="1">
                          <a:solidFill>
                            <a:srgbClr val="1F2933"/>
                          </a:solidFill>
                          <a:latin typeface="Be Vietnam Pro"/>
                        </a:rPr>
                        <a:t>Object-level completion</a:t>
                      </a:r>
                    </a:p>
                  </a:txBody>
                  <a:tcPr anchor="ctr" marL="114300" marR="114300">
                    <a:solidFill>
                      <a:srgbClr val="FFFFFF"/>
                    </a:solidFill>
                  </a:tcPr>
                </a:tc>
                <a:tc>
                  <a:txBody>
                    <a:bodyPr/>
                    <a:lstStyle/>
                    <a:p>
                      <a:pPr algn="l"/>
                      <a:r>
                        <a:rPr sz="2100" b="0">
                          <a:solidFill>
                            <a:srgbClr val="1F2933"/>
                          </a:solidFill>
                          <a:latin typeface="Be Vietnam Pro"/>
                        </a:rPr>
                        <a:t>PCN, PoinTr, SnowflakeNet, SeedFormer</a:t>
                      </a:r>
                    </a:p>
                  </a:txBody>
                  <a:tcPr anchor="ctr" marL="114300" marR="114300">
                    <a:solidFill>
                      <a:srgbClr val="FFFFFF"/>
                    </a:solidFill>
                  </a:tcPr>
                </a:tc>
                <a:tc>
                  <a:txBody>
                    <a:bodyPr/>
                    <a:lstStyle/>
                    <a:p>
                      <a:pPr algn="l"/>
                      <a:r>
                        <a:rPr sz="2100" b="0">
                          <a:solidFill>
                            <a:srgbClr val="1F2933"/>
                          </a:solidFill>
                          <a:latin typeface="Be Vietnam Pro"/>
                        </a:rPr>
                        <a:t>Learns to map a partial view to a complete shape</a:t>
                      </a:r>
                    </a:p>
                  </a:txBody>
                  <a:tcPr anchor="ctr" marL="114300" marR="114300">
                    <a:solidFill>
                      <a:srgbClr val="FFFFFF"/>
                    </a:solidFill>
                  </a:tcPr>
                </a:tc>
                <a:tc>
                  <a:txBody>
                    <a:bodyPr/>
                    <a:lstStyle/>
                    <a:p>
                      <a:pPr algn="l"/>
                      <a:r>
                        <a:rPr sz="2100" b="0">
                          <a:solidFill>
                            <a:srgbClr val="1F2933"/>
                          </a:solidFill>
                          <a:latin typeface="Be Vietnam Pro"/>
                        </a:rPr>
                        <a:t>Trained on synthetic CAD shapes (domain gap); Chamfer scoring needs a complete true shape that real LiDAR lacks</a:t>
                      </a:r>
                    </a:p>
                  </a:txBody>
                  <a:tcPr anchor="ctr" marL="114300" marR="114300">
                    <a:solidFill>
                      <a:srgbClr val="FFFFFF"/>
                    </a:solidFill>
                  </a:tcPr>
                </a:tc>
              </a:tr>
            </a:tbl>
          </a:graphicData>
        </a:graphic>
      </p:graphicFrame>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 INTRODUCTION</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1.4 RESEARCH GAP</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Accurate detectors need dense labels and are hard to inspect, and real-world completion has no ground truth to train or test against.</a:t>
            </a:r>
          </a:p>
        </p:txBody>
      </p:sp>
      <p:sp>
        <p:nvSpPr>
          <p:cNvPr id="4" name="Rectangle 3"/>
          <p:cNvSpPr/>
          <p:nvPr/>
        </p:nvSpPr>
        <p:spPr>
          <a:xfrm>
            <a:off x="11430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2875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Dense labels</a:t>
            </a:r>
          </a:p>
          <a:p>
            <a:pPr algn="ctr">
              <a:spcAft>
                <a:spcPts val="0"/>
              </a:spcAft>
            </a:pPr>
            <a:r>
              <a:rPr sz="2800" b="0" i="0">
                <a:solidFill>
                  <a:srgbClr val="1F2933"/>
                </a:solidFill>
                <a:latin typeface="Be Vietnam Pro"/>
              </a:rPr>
              <a:t>Accurate networks need a class per point or a box per object</a:t>
            </a:r>
          </a:p>
        </p:txBody>
      </p:sp>
      <p:sp>
        <p:nvSpPr>
          <p:cNvPr id="6" name="Rectangle 5"/>
          <p:cNvSpPr/>
          <p:nvPr/>
        </p:nvSpPr>
        <p:spPr>
          <a:xfrm>
            <a:off x="52387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52450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Opacity</a:t>
            </a:r>
          </a:p>
          <a:p>
            <a:pPr algn="ctr">
              <a:spcAft>
                <a:spcPts val="0"/>
              </a:spcAft>
            </a:pPr>
            <a:r>
              <a:rPr sz="2800" b="0" i="0">
                <a:solidFill>
                  <a:srgbClr val="1F2933"/>
                </a:solidFill>
                <a:latin typeface="Be Vietnam Pro"/>
              </a:rPr>
              <a:t>A missed car can't be traced to one step</a:t>
            </a:r>
          </a:p>
        </p:txBody>
      </p:sp>
      <p:sp>
        <p:nvSpPr>
          <p:cNvPr id="8" name="Rectangle 7"/>
          <p:cNvSpPr/>
          <p:nvPr/>
        </p:nvSpPr>
        <p:spPr>
          <a:xfrm>
            <a:off x="93345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2025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No paired real data</a:t>
            </a:r>
          </a:p>
          <a:p>
            <a:pPr algn="ctr">
              <a:spcAft>
                <a:spcPts val="0"/>
              </a:spcAft>
            </a:pPr>
            <a:r>
              <a:rPr sz="2800" b="0" i="0">
                <a:solidFill>
                  <a:srgbClr val="1F2933"/>
                </a:solidFill>
                <a:latin typeface="Be Vietnam Pro"/>
              </a:rPr>
              <a:t>No real occluded car comes with its full shape</a:t>
            </a:r>
          </a:p>
        </p:txBody>
      </p:sp>
      <p:sp>
        <p:nvSpPr>
          <p:cNvPr id="10" name="Rectangle 9"/>
          <p:cNvSpPr/>
          <p:nvPr/>
        </p:nvSpPr>
        <p:spPr>
          <a:xfrm>
            <a:off x="134302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71600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No ground truth</a:t>
            </a:r>
          </a:p>
          <a:p>
            <a:pPr algn="ctr">
              <a:spcAft>
                <a:spcPts val="0"/>
              </a:spcAft>
            </a:pPr>
            <a:r>
              <a:rPr sz="2800" b="0" i="0">
                <a:solidFill>
                  <a:srgbClr val="1F2933"/>
                </a:solidFill>
                <a:latin typeface="Be Vietnam Pro"/>
              </a:rPr>
              <a:t>Real completions can't be scored against a true shape</a:t>
            </a:r>
          </a:p>
        </p:txBody>
      </p:sp>
      <p:sp>
        <p:nvSpPr>
          <p:cNvPr id="12" name="Rectangle 11"/>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 INTRODUCTION</a:t>
            </a:r>
          </a:p>
        </p:txBody>
      </p:sp>
      <p:sp>
        <p:nvSpPr>
          <p:cNvPr id="14" name="TextBox 13"/>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1.5 OBJECTIVES &amp; CONTRIBUTIONS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Three objectives, two contributions.</a:t>
            </a:r>
          </a:p>
        </p:txBody>
      </p:sp>
      <p:sp>
        <p:nvSpPr>
          <p:cNvPr id="4" name="TextBox 3"/>
          <p:cNvSpPr txBox="1"/>
          <p:nvPr/>
        </p:nvSpPr>
        <p:spPr>
          <a:xfrm>
            <a:off x="1143000" y="2095500"/>
            <a:ext cx="7810500" cy="571500"/>
          </a:xfrm>
          <a:prstGeom prst="rect">
            <a:avLst/>
          </a:prstGeom>
          <a:noFill/>
        </p:spPr>
        <p:txBody>
          <a:bodyPr wrap="square" anchor="t" lIns="0" rIns="0" tIns="0" bIns="0">
            <a:spAutoFit/>
          </a:bodyPr>
          <a:lstStyle/>
          <a:p>
            <a:pPr algn="l">
              <a:spcAft>
                <a:spcPts val="0"/>
              </a:spcAft>
            </a:pPr>
            <a:r>
              <a:rPr sz="3600" b="1" i="0">
                <a:solidFill>
                  <a:srgbClr val="1F2933"/>
                </a:solidFill>
                <a:latin typeface="Be Vietnam Pro"/>
              </a:rPr>
              <a:t>Objectives</a:t>
            </a:r>
          </a:p>
        </p:txBody>
      </p:sp>
      <p:sp>
        <p:nvSpPr>
          <p:cNvPr id="5" name="TextBox 4"/>
          <p:cNvSpPr txBox="1"/>
          <p:nvPr/>
        </p:nvSpPr>
        <p:spPr>
          <a:xfrm>
            <a:off x="1143000" y="2857500"/>
            <a:ext cx="7810500" cy="6286500"/>
          </a:xfrm>
          <a:prstGeom prst="rect">
            <a:avLst/>
          </a:prstGeom>
          <a:noFill/>
        </p:spPr>
        <p:txBody>
          <a:bodyPr wrap="square" anchor="t" lIns="0" rIns="0" tIns="0" bIns="0">
            <a:spAutoFit/>
          </a:bodyPr>
          <a:lstStyle/>
          <a:p>
            <a:pPr algn="l">
              <a:spcAft>
                <a:spcPts val="1800"/>
              </a:spcAft>
            </a:pPr>
            <a:r>
              <a:rPr sz="3200" b="0" i="0">
                <a:solidFill>
                  <a:srgbClr val="1F2933"/>
                </a:solidFill>
                <a:latin typeface="Be Vietnam Pro"/>
              </a:rPr>
              <a:t>1. Test whether a modular, geometry-first pipeline can detect vehicles as a transparent alternative to end-to-end networks.</a:t>
            </a:r>
          </a:p>
          <a:p>
            <a:pPr algn="l">
              <a:spcAft>
                <a:spcPts val="1800"/>
              </a:spcAft>
            </a:pPr>
            <a:r>
              <a:rPr sz="3200" b="0" i="0">
                <a:solidFill>
                  <a:srgbClr val="1F2933"/>
                </a:solidFill>
                <a:latin typeface="Be Vietnam Pro"/>
              </a:rPr>
              <a:t>2. Evaluate point cloud completion on real LiDAR, where no complete ground truth exists.</a:t>
            </a:r>
          </a:p>
          <a:p>
            <a:pPr algn="l">
              <a:spcAft>
                <a:spcPts val="1800"/>
              </a:spcAft>
            </a:pPr>
            <a:r>
              <a:rPr sz="3200" b="0" i="0">
                <a:solidFill>
                  <a:srgbClr val="1F2933"/>
                </a:solidFill>
                <a:latin typeface="Be Vietnam Pro"/>
              </a:rPr>
              <a:t>3. Test whether synthetic-only training and auto-mined supervision transfer to real LiDAR without new manual labels.</a:t>
            </a:r>
          </a:p>
        </p:txBody>
      </p:sp>
      <p:sp>
        <p:nvSpPr>
          <p:cNvPr id="6" name="TextBox 5"/>
          <p:cNvSpPr txBox="1"/>
          <p:nvPr/>
        </p:nvSpPr>
        <p:spPr>
          <a:xfrm>
            <a:off x="9334500" y="2095500"/>
            <a:ext cx="7810500" cy="571500"/>
          </a:xfrm>
          <a:prstGeom prst="rect">
            <a:avLst/>
          </a:prstGeom>
          <a:noFill/>
        </p:spPr>
        <p:txBody>
          <a:bodyPr wrap="square" anchor="t" lIns="0" rIns="0" tIns="0" bIns="0">
            <a:spAutoFit/>
          </a:bodyPr>
          <a:lstStyle/>
          <a:p>
            <a:pPr algn="l">
              <a:spcAft>
                <a:spcPts val="0"/>
              </a:spcAft>
            </a:pPr>
            <a:r>
              <a:rPr sz="3600" b="1" i="0">
                <a:solidFill>
                  <a:srgbClr val="1F2933"/>
                </a:solidFill>
                <a:latin typeface="Be Vietnam Pro"/>
              </a:rPr>
              <a:t>Contributions</a:t>
            </a:r>
          </a:p>
        </p:txBody>
      </p:sp>
      <p:sp>
        <p:nvSpPr>
          <p:cNvPr id="7" name="TextBox 6"/>
          <p:cNvSpPr txBox="1"/>
          <p:nvPr/>
        </p:nvSpPr>
        <p:spPr>
          <a:xfrm>
            <a:off x="9334500" y="2857500"/>
            <a:ext cx="7810500" cy="6286500"/>
          </a:xfrm>
          <a:prstGeom prst="rect">
            <a:avLst/>
          </a:prstGeom>
          <a:noFill/>
        </p:spPr>
        <p:txBody>
          <a:bodyPr wrap="square" anchor="t" lIns="0" rIns="0" tIns="0" bIns="0">
            <a:spAutoFit/>
          </a:bodyPr>
          <a:lstStyle/>
          <a:p>
            <a:pPr algn="l">
              <a:spcAft>
                <a:spcPts val="1800"/>
              </a:spcAft>
            </a:pPr>
            <a:r>
              <a:rPr sz="3200" b="0" i="0">
                <a:solidFill>
                  <a:srgbClr val="1F2933"/>
                </a:solidFill>
                <a:latin typeface="Be Vietnam Pro"/>
              </a:rPr>
              <a:t>1. A modular detection and completion framework for occluded vehicles, inspectable and reproducible at every stage.</a:t>
            </a:r>
          </a:p>
          <a:p>
            <a:pPr algn="l">
              <a:spcAft>
                <a:spcPts val="1800"/>
              </a:spcAft>
            </a:pPr>
            <a:r>
              <a:rPr sz="3200" b="0" i="0">
                <a:solidFill>
                  <a:srgbClr val="1F2933"/>
                </a:solidFill>
                <a:latin typeface="Be Vietnam Pro"/>
              </a:rPr>
              <a:t>2. Zero additional manual annotation: classifier labels are mined automatically; the completion network trains only on synthetic shapes.</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 INTRODUCTION</a:t>
            </a:r>
          </a:p>
        </p:txBody>
      </p:sp>
      <p:sp>
        <p:nvSpPr>
          <p:cNvPr id="10" name="TextBox 9"/>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43000" y="2857500"/>
            <a:ext cx="16002000" cy="3810000"/>
          </a:xfrm>
          <a:prstGeom prst="rect">
            <a:avLst/>
          </a:prstGeom>
          <a:noFill/>
        </p:spPr>
        <p:txBody>
          <a:bodyPr wrap="square" anchor="ctr" lIns="0" rIns="0" tIns="0" bIns="0">
            <a:spAutoFit/>
          </a:bodyPr>
          <a:lstStyle/>
          <a:p>
            <a:pPr algn="ctr">
              <a:spcAft>
                <a:spcPts val="1200"/>
              </a:spcAft>
            </a:pPr>
            <a:r>
              <a:rPr sz="5600" b="1" i="0">
                <a:solidFill>
                  <a:srgbClr val="1F2933"/>
                </a:solidFill>
                <a:latin typeface="Be Vietnam Pro"/>
              </a:rPr>
              <a:t>II. PROPOSED METHODOLOGY</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2.1 SYSTEM ARCHITECTURE</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Eight steps from a raw scan to completed cars.</a:t>
            </a:r>
          </a:p>
        </p:txBody>
      </p:sp>
      <p:pic>
        <p:nvPicPr>
          <p:cNvPr id="4" name="Picture 3" descr="d3_master_pipeline.drawio.png"/>
          <p:cNvPicPr>
            <a:picLocks noChangeAspect="1"/>
          </p:cNvPicPr>
          <p:nvPr/>
        </p:nvPicPr>
        <p:blipFill>
          <a:blip r:embed="rId2"/>
          <a:stretch>
            <a:fillRect/>
          </a:stretch>
        </p:blipFill>
        <p:spPr>
          <a:xfrm>
            <a:off x="1143000" y="3281293"/>
            <a:ext cx="16002000" cy="4676913"/>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 PROPOSED METHODOLOGY</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2.2 DETECTION PIPELINE</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Six steps turn a raw scan into tracked cars.</a:t>
            </a:r>
          </a:p>
        </p:txBody>
      </p:sp>
      <p:pic>
        <p:nvPicPr>
          <p:cNvPr id="4" name="Picture 3" descr="thesis_pipeline.png"/>
          <p:cNvPicPr>
            <a:picLocks noChangeAspect="1"/>
          </p:cNvPicPr>
          <p:nvPr/>
        </p:nvPicPr>
        <p:blipFill>
          <a:blip r:embed="rId2"/>
          <a:stretch>
            <a:fillRect/>
          </a:stretch>
        </p:blipFill>
        <p:spPr>
          <a:xfrm>
            <a:off x="6857117" y="2095500"/>
            <a:ext cx="4573766" cy="7048500"/>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 PROPOSED METHODOLOGY</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2.2.1 PREPROCESSING AND GROUND REMOVAL</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Clean the scan, then remove the ground plane with RANSAC.</a:t>
            </a:r>
          </a:p>
        </p:txBody>
      </p:sp>
      <p:pic>
        <p:nvPicPr>
          <p:cNvPr id="4" name="Picture 3" descr="d4_ransac_real.png"/>
          <p:cNvPicPr>
            <a:picLocks noChangeAspect="1"/>
          </p:cNvPicPr>
          <p:nvPr/>
        </p:nvPicPr>
        <p:blipFill>
          <a:blip r:embed="rId2"/>
          <a:stretch>
            <a:fillRect/>
          </a:stretch>
        </p:blipFill>
        <p:spPr>
          <a:xfrm>
            <a:off x="1143000" y="2861726"/>
            <a:ext cx="16002000" cy="5516048"/>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 PROPOSED METHODOLOGY</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2.2.2 CLUSTERING (HDBSCAN)</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HDBSCAN groups the remaining points into object candidates.</a:t>
            </a:r>
          </a:p>
        </p:txBody>
      </p:sp>
      <p:pic>
        <p:nvPicPr>
          <p:cNvPr id="4" name="Picture 3" descr="d5_ground_then_clusters.png"/>
          <p:cNvPicPr>
            <a:picLocks noChangeAspect="1"/>
          </p:cNvPicPr>
          <p:nvPr/>
        </p:nvPicPr>
        <p:blipFill>
          <a:blip r:embed="rId2"/>
          <a:stretch>
            <a:fillRect/>
          </a:stretch>
        </p:blipFill>
        <p:spPr>
          <a:xfrm>
            <a:off x="1143000" y="2861726"/>
            <a:ext cx="16002000" cy="5516048"/>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 PROPOSED METHODOLOGY</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2.2.3 GEOMETRIC FILTER</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Size and shape rules on each cluster's oriented box drop obvious non-cars.</a:t>
            </a:r>
          </a:p>
        </p:txBody>
      </p:sp>
      <p:pic>
        <p:nvPicPr>
          <p:cNvPr id="4" name="Picture 3" descr="thesis_geo_filter.png"/>
          <p:cNvPicPr>
            <a:picLocks noChangeAspect="1"/>
          </p:cNvPicPr>
          <p:nvPr/>
        </p:nvPicPr>
        <p:blipFill>
          <a:blip r:embed="rId2"/>
          <a:stretch>
            <a:fillRect/>
          </a:stretch>
        </p:blipFill>
        <p:spPr>
          <a:xfrm>
            <a:off x="1143000" y="3817191"/>
            <a:ext cx="8435340" cy="3605119"/>
          </a:xfrm>
          <a:prstGeom prst="rect">
            <a:avLst/>
          </a:prstGeom>
        </p:spPr>
      </p:pic>
      <p:graphicFrame>
        <p:nvGraphicFramePr>
          <p:cNvPr id="5" name="Table 4"/>
          <p:cNvGraphicFramePr>
            <a:graphicFrameLocks noGrp="1"/>
          </p:cNvGraphicFramePr>
          <p:nvPr/>
        </p:nvGraphicFramePr>
        <p:xfrm>
          <a:off x="9959340" y="2095500"/>
          <a:ext cx="7185660" cy="4724400"/>
        </p:xfrm>
        <a:graphic>
          <a:graphicData uri="http://schemas.openxmlformats.org/drawingml/2006/table">
            <a:tbl>
              <a:tblPr firstRow="1" bandRow="1">
                <a:tableStyleId>{5C22544A-7EE6-4342-B048-85BDC9FD1C3A}</a:tableStyleId>
              </a:tblPr>
              <a:tblGrid>
                <a:gridCol w="2477814"/>
                <a:gridCol w="4707846"/>
              </a:tblGrid>
              <a:tr h="590550">
                <a:tc>
                  <a:txBody>
                    <a:bodyPr/>
                    <a:lstStyle/>
                    <a:p>
                      <a:pPr algn="l"/>
                      <a:r>
                        <a:rPr sz="2100" b="1">
                          <a:solidFill>
                            <a:srgbClr val="FFFFFF"/>
                          </a:solidFill>
                          <a:latin typeface="Be Vietnam Pro"/>
                        </a:rPr>
                        <a:t>Gate</a:t>
                      </a:r>
                    </a:p>
                  </a:txBody>
                  <a:tcPr anchor="ctr" marL="114300" marR="114300">
                    <a:solidFill>
                      <a:srgbClr val="1F2933"/>
                    </a:solidFill>
                  </a:tcPr>
                </a:tc>
                <a:tc>
                  <a:txBody>
                    <a:bodyPr/>
                    <a:lstStyle/>
                    <a:p>
                      <a:pPr algn="l"/>
                      <a:r>
                        <a:rPr sz="2100" b="1">
                          <a:solidFill>
                            <a:srgbClr val="FFFFFF"/>
                          </a:solidFill>
                          <a:latin typeface="Be Vietnam Pro"/>
                        </a:rPr>
                        <a:t>Keep the cluster if</a:t>
                      </a:r>
                    </a:p>
                  </a:txBody>
                  <a:tcPr anchor="ctr" marL="114300" marR="114300">
                    <a:solidFill>
                      <a:srgbClr val="1F2933"/>
                    </a:solidFill>
                  </a:tcPr>
                </a:tc>
              </a:tr>
              <a:tr h="590550">
                <a:tc>
                  <a:txBody>
                    <a:bodyPr/>
                    <a:lstStyle/>
                    <a:p>
                      <a:pPr algn="l"/>
                      <a:r>
                        <a:rPr sz="2100" b="0">
                          <a:solidFill>
                            <a:srgbClr val="1F2933"/>
                          </a:solidFill>
                          <a:latin typeface="Be Vietnam Pro"/>
                        </a:rPr>
                        <a:t>Points</a:t>
                      </a:r>
                    </a:p>
                  </a:txBody>
                  <a:tcPr anchor="ctr" marL="114300" marR="114300">
                    <a:solidFill>
                      <a:srgbClr val="FFFFFF"/>
                    </a:solidFill>
                  </a:tcPr>
                </a:tc>
                <a:tc>
                  <a:txBody>
                    <a:bodyPr/>
                    <a:lstStyle/>
                    <a:p>
                      <a:pPr algn="l"/>
                      <a:r>
                        <a:rPr sz="2100" b="0">
                          <a:solidFill>
                            <a:srgbClr val="1F2933"/>
                          </a:solidFill>
                          <a:latin typeface="Be Vietnam Pro"/>
                        </a:rPr>
                        <a:t>≥ 15</a:t>
                      </a:r>
                    </a:p>
                  </a:txBody>
                  <a:tcPr anchor="ctr" marL="114300" marR="114300">
                    <a:solidFill>
                      <a:srgbClr val="FFFFFF"/>
                    </a:solidFill>
                  </a:tcPr>
                </a:tc>
              </a:tr>
              <a:tr h="590550">
                <a:tc>
                  <a:txBody>
                    <a:bodyPr/>
                    <a:lstStyle/>
                    <a:p>
                      <a:pPr algn="l"/>
                      <a:r>
                        <a:rPr sz="2100" b="0">
                          <a:solidFill>
                            <a:srgbClr val="1F2933"/>
                          </a:solidFill>
                          <a:latin typeface="Be Vietnam Pro"/>
                        </a:rPr>
                        <a:t>Box volume</a:t>
                      </a:r>
                    </a:p>
                  </a:txBody>
                  <a:tcPr anchor="ctr" marL="114300" marR="114300">
                    <a:solidFill>
                      <a:srgbClr val="EEF0F2"/>
                    </a:solidFill>
                  </a:tcPr>
                </a:tc>
                <a:tc>
                  <a:txBody>
                    <a:bodyPr/>
                    <a:lstStyle/>
                    <a:p>
                      <a:pPr algn="l"/>
                      <a:r>
                        <a:rPr sz="2100" b="0">
                          <a:solidFill>
                            <a:srgbClr val="1F2933"/>
                          </a:solidFill>
                          <a:latin typeface="Be Vietnam Pro"/>
                        </a:rPr>
                        <a:t>0.5–50 m³</a:t>
                      </a:r>
                    </a:p>
                  </a:txBody>
                  <a:tcPr anchor="ctr" marL="114300" marR="114300">
                    <a:solidFill>
                      <a:srgbClr val="EEF0F2"/>
                    </a:solidFill>
                  </a:tcPr>
                </a:tc>
              </a:tr>
              <a:tr h="590550">
                <a:tc>
                  <a:txBody>
                    <a:bodyPr/>
                    <a:lstStyle/>
                    <a:p>
                      <a:pPr algn="l"/>
                      <a:r>
                        <a:rPr sz="2100" b="0">
                          <a:solidFill>
                            <a:srgbClr val="1F2933"/>
                          </a:solidFill>
                          <a:latin typeface="Be Vietnam Pro"/>
                        </a:rPr>
                        <a:t>Longest side</a:t>
                      </a:r>
                    </a:p>
                  </a:txBody>
                  <a:tcPr anchor="ctr" marL="114300" marR="114300">
                    <a:solidFill>
                      <a:srgbClr val="FFFFFF"/>
                    </a:solidFill>
                  </a:tcPr>
                </a:tc>
                <a:tc>
                  <a:txBody>
                    <a:bodyPr/>
                    <a:lstStyle/>
                    <a:p>
                      <a:pPr algn="l"/>
                      <a:r>
                        <a:rPr sz="2100" b="0">
                          <a:solidFill>
                            <a:srgbClr val="1F2933"/>
                          </a:solidFill>
                          <a:latin typeface="Be Vietnam Pro"/>
                        </a:rPr>
                        <a:t>≤ 6.0 m</a:t>
                      </a:r>
                    </a:p>
                  </a:txBody>
                  <a:tcPr anchor="ctr" marL="114300" marR="114300">
                    <a:solidFill>
                      <a:srgbClr val="FFFFFF"/>
                    </a:solidFill>
                  </a:tcPr>
                </a:tc>
              </a:tr>
              <a:tr h="590550">
                <a:tc>
                  <a:txBody>
                    <a:bodyPr/>
                    <a:lstStyle/>
                    <a:p>
                      <a:pPr algn="l"/>
                      <a:r>
                        <a:rPr sz="2100" b="0">
                          <a:solidFill>
                            <a:srgbClr val="1F2933"/>
                          </a:solidFill>
                          <a:latin typeface="Be Vietnam Pro"/>
                        </a:rPr>
                        <a:t>Size floors</a:t>
                      </a:r>
                    </a:p>
                  </a:txBody>
                  <a:tcPr anchor="ctr" marL="114300" marR="114300">
                    <a:solidFill>
                      <a:srgbClr val="EEF0F2"/>
                    </a:solidFill>
                  </a:tcPr>
                </a:tc>
                <a:tc>
                  <a:txBody>
                    <a:bodyPr/>
                    <a:lstStyle/>
                    <a:p>
                      <a:pPr algn="l"/>
                      <a:r>
                        <a:rPr sz="2100" b="0">
                          <a:solidFill>
                            <a:srgbClr val="1F2933"/>
                          </a:solidFill>
                          <a:latin typeface="Be Vietnam Pro"/>
                        </a:rPr>
                        <a:t>longest ≥ 0.5 m, middle ≥ 0.4 m</a:t>
                      </a:r>
                    </a:p>
                  </a:txBody>
                  <a:tcPr anchor="ctr" marL="114300" marR="114300">
                    <a:solidFill>
                      <a:srgbClr val="EEF0F2"/>
                    </a:solidFill>
                  </a:tcPr>
                </a:tc>
              </a:tr>
              <a:tr h="590550">
                <a:tc>
                  <a:txBody>
                    <a:bodyPr/>
                    <a:lstStyle/>
                    <a:p>
                      <a:pPr algn="l"/>
                      <a:r>
                        <a:rPr sz="2100" b="0">
                          <a:solidFill>
                            <a:srgbClr val="1F2933"/>
                          </a:solidFill>
                          <a:latin typeface="Be Vietnam Pro"/>
                        </a:rPr>
                        <a:t>Centre height</a:t>
                      </a:r>
                    </a:p>
                  </a:txBody>
                  <a:tcPr anchor="ctr" marL="114300" marR="114300">
                    <a:solidFill>
                      <a:srgbClr val="FFFFFF"/>
                    </a:solidFill>
                  </a:tcPr>
                </a:tc>
                <a:tc>
                  <a:txBody>
                    <a:bodyPr/>
                    <a:lstStyle/>
                    <a:p>
                      <a:pPr algn="l"/>
                      <a:r>
                        <a:rPr sz="2100" b="0">
                          <a:solidFill>
                            <a:srgbClr val="1F2933"/>
                          </a:solidFill>
                          <a:latin typeface="Be Vietnam Pro"/>
                        </a:rPr>
                        <a:t>≤ 1.5 m above the ground plane</a:t>
                      </a:r>
                    </a:p>
                  </a:txBody>
                  <a:tcPr anchor="ctr" marL="114300" marR="114300">
                    <a:solidFill>
                      <a:srgbClr val="FFFFFF"/>
                    </a:solidFill>
                  </a:tcPr>
                </a:tc>
              </a:tr>
              <a:tr h="590550">
                <a:tc>
                  <a:txBody>
                    <a:bodyPr/>
                    <a:lstStyle/>
                    <a:p>
                      <a:pPr algn="l"/>
                      <a:r>
                        <a:rPr sz="2100" b="0">
                          <a:solidFill>
                            <a:srgbClr val="1F2933"/>
                          </a:solidFill>
                          <a:latin typeface="Be Vietnam Pro"/>
                        </a:rPr>
                        <a:t>Vertical span</a:t>
                      </a:r>
                    </a:p>
                  </a:txBody>
                  <a:tcPr anchor="ctr" marL="114300" marR="114300">
                    <a:solidFill>
                      <a:srgbClr val="EEF0F2"/>
                    </a:solidFill>
                  </a:tcPr>
                </a:tc>
                <a:tc>
                  <a:txBody>
                    <a:bodyPr/>
                    <a:lstStyle/>
                    <a:p>
                      <a:pPr algn="l"/>
                      <a:r>
                        <a:rPr sz="2100" b="0">
                          <a:solidFill>
                            <a:srgbClr val="1F2933"/>
                          </a:solidFill>
                          <a:latin typeface="Be Vietnam Pro"/>
                        </a:rPr>
                        <a:t>≤ 1.8 m</a:t>
                      </a:r>
                    </a:p>
                  </a:txBody>
                  <a:tcPr anchor="ctr" marL="114300" marR="114300">
                    <a:solidFill>
                      <a:srgbClr val="EEF0F2"/>
                    </a:solidFill>
                  </a:tcPr>
                </a:tc>
              </a:tr>
              <a:tr h="590550">
                <a:tc>
                  <a:txBody>
                    <a:bodyPr/>
                    <a:lstStyle/>
                    <a:p>
                      <a:pPr algn="l"/>
                      <a:r>
                        <a:rPr sz="2100" b="0">
                          <a:solidFill>
                            <a:srgbClr val="1F2933"/>
                          </a:solidFill>
                          <a:latin typeface="Be Vietnam Pro"/>
                        </a:rPr>
                        <a:t>Aspect ratio</a:t>
                      </a:r>
                    </a:p>
                  </a:txBody>
                  <a:tcPr anchor="ctr" marL="114300" marR="114300">
                    <a:solidFill>
                      <a:srgbClr val="FFFFFF"/>
                    </a:solidFill>
                  </a:tcPr>
                </a:tc>
                <a:tc>
                  <a:txBody>
                    <a:bodyPr/>
                    <a:lstStyle/>
                    <a:p>
                      <a:pPr algn="l"/>
                      <a:r>
                        <a:rPr sz="2100" b="0">
                          <a:solidFill>
                            <a:srgbClr val="1F2933"/>
                          </a:solidFill>
                          <a:latin typeface="Be Vietnam Pro"/>
                        </a:rPr>
                        <a:t>longest / shortest ≤ 6.0</a:t>
                      </a:r>
                    </a:p>
                  </a:txBody>
                  <a:tcPr anchor="ctr" marL="114300" marR="114300">
                    <a:solidFill>
                      <a:srgbClr val="FFFFFF"/>
                    </a:solidFill>
                  </a:tcPr>
                </a:tc>
              </a:tr>
            </a:tbl>
          </a:graphicData>
        </a:graphic>
      </p:graphicFrame>
      <p:sp>
        <p:nvSpPr>
          <p:cNvPr id="6" name="TextBox 5"/>
          <p:cNvSpPr txBox="1"/>
          <p:nvPr/>
        </p:nvSpPr>
        <p:spPr>
          <a:xfrm>
            <a:off x="9959340" y="7010400"/>
            <a:ext cx="7185660" cy="1143000"/>
          </a:xfrm>
          <a:prstGeom prst="rect">
            <a:avLst/>
          </a:prstGeom>
          <a:noFill/>
        </p:spPr>
        <p:txBody>
          <a:bodyPr wrap="square" anchor="t" lIns="0" rIns="0" tIns="0" bIns="0">
            <a:spAutoFit/>
          </a:bodyPr>
          <a:lstStyle/>
          <a:p>
            <a:pPr algn="l">
              <a:spcAft>
                <a:spcPts val="800"/>
              </a:spcAft>
            </a:pPr>
            <a:r>
              <a:rPr sz="2100" b="0" i="0">
                <a:solidFill>
                  <a:srgbClr val="1F2933"/>
                </a:solidFill>
                <a:latin typeface="Be Vietnam Pro"/>
              </a:rPr>
              <a:t>After this filter alone: precision 0.199, recall 0.773.</a:t>
            </a:r>
          </a:p>
          <a:p>
            <a:pPr algn="l">
              <a:spcAft>
                <a:spcPts val="800"/>
              </a:spcAft>
            </a:pPr>
            <a:r>
              <a:rPr sz="2100" b="0" i="0">
                <a:solidFill>
                  <a:srgbClr val="1F2933"/>
                </a:solidFill>
                <a:latin typeface="Be Vietnam Pro"/>
              </a:rPr>
              <a:t>Loose by design: the classifier makes the fine decision.</a:t>
            </a:r>
          </a:p>
        </p:txBody>
      </p:sp>
      <p:sp>
        <p:nvSpPr>
          <p:cNvPr id="7" name="Rectangle 6"/>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 PROPOSED METHODOLOGY</a:t>
            </a:r>
          </a:p>
        </p:txBody>
      </p:sp>
      <p:sp>
        <p:nvSpPr>
          <p:cNvPr id="9" name="TextBox 8"/>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2.2.4 CAR / NOT-CAR CLASSIFIER</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A small PointNet decides car or not-car, trained on labels mined automatically from SemanticKITTI.</a:t>
            </a:r>
          </a:p>
        </p:txBody>
      </p:sp>
      <p:pic>
        <p:nvPicPr>
          <p:cNvPr id="4" name="Picture 3" descr="d67_classifier_training.drawio.png"/>
          <p:cNvPicPr>
            <a:picLocks noChangeAspect="1"/>
          </p:cNvPicPr>
          <p:nvPr/>
        </p:nvPicPr>
        <p:blipFill>
          <a:blip r:embed="rId2"/>
          <a:stretch>
            <a:fillRect/>
          </a:stretch>
        </p:blipFill>
        <p:spPr>
          <a:xfrm>
            <a:off x="1318893" y="2095500"/>
            <a:ext cx="15650213" cy="7048500"/>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 PROPOSED METHODOLOGY</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2.2.5 TRACKING AND TRACK FILTER</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Detections are linked into tracks across frames; a track is kept only if at least half of its frames vote car.</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D8 tracking timeline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 PROPOSED METHODOLOGY</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2.3 COMPLETION PIPELINE</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Each detected car is gated, normalised, given a length, and completed by PCN.</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thesis fig:completion-pipeline (crop from main.pdf)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 PROPOSED METHODOLOGY</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2.3.1 COMPLETION NETWORK (PCN)</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The completion network trains only on synthetic cars and must work on real scans it has never seen.</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D11 PCN training and inference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 PROPOSED METHODOLOGY</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2.3.2 SYNTHETIC TRAINING PARTIALS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Training inputs are simulated LiDAR-style partial views of synthetic ShapeNet cars.</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thesis fig:kitti-like-partial (fig61_partials PNG)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 PROPOSED METHODOLOGY</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2.3.3 L-SHAPE GATE, NORMALISATION AND LENGTH</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Each real cluster passes an L-shape gate, then is rotated and scaled into the network's training frame using an estimated car length.</a:t>
            </a:r>
          </a:p>
        </p:txBody>
      </p:sp>
      <p:sp>
        <p:nvSpPr>
          <p:cNvPr id="4" name="Rectangle 3"/>
          <p:cNvSpPr/>
          <p:nvPr/>
        </p:nvSpPr>
        <p:spPr>
          <a:xfrm>
            <a:off x="1143000" y="2095500"/>
            <a:ext cx="78105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74295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thesis fig:lshape-gate (crop from main.pdf) ]</a:t>
            </a:r>
          </a:p>
        </p:txBody>
      </p:sp>
      <p:sp>
        <p:nvSpPr>
          <p:cNvPr id="6" name="Rectangle 5"/>
          <p:cNvSpPr/>
          <p:nvPr/>
        </p:nvSpPr>
        <p:spPr>
          <a:xfrm>
            <a:off x="9334500" y="2095500"/>
            <a:ext cx="78105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525000" y="2095500"/>
            <a:ext cx="74295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table: tab:completion-config ]</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 PROPOSED METHODOLOGY</a:t>
            </a:r>
          </a:p>
        </p:txBody>
      </p:sp>
      <p:sp>
        <p:nvSpPr>
          <p:cNvPr id="10" name="TextBox 9"/>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43000" y="2857500"/>
            <a:ext cx="16002000" cy="3810000"/>
          </a:xfrm>
          <a:prstGeom prst="rect">
            <a:avLst/>
          </a:prstGeom>
          <a:noFill/>
        </p:spPr>
        <p:txBody>
          <a:bodyPr wrap="square" anchor="ctr" lIns="0" rIns="0" tIns="0" bIns="0">
            <a:spAutoFit/>
          </a:bodyPr>
          <a:lstStyle/>
          <a:p>
            <a:pPr algn="ctr">
              <a:spcAft>
                <a:spcPts val="1200"/>
              </a:spcAft>
            </a:pPr>
            <a:r>
              <a:rPr sz="5600" b="1" i="0">
                <a:solidFill>
                  <a:srgbClr val="1F2933"/>
                </a:solidFill>
                <a:latin typeface="Be Vietnam Pro"/>
              </a:rPr>
              <a:t>III. EXPERIMENTAL EVALUATION</a:t>
            </a:r>
          </a:p>
          <a:p>
            <a:pPr algn="ctr">
              <a:spcAft>
                <a:spcPts val="1200"/>
              </a:spcAft>
            </a:pPr>
            <a:r>
              <a:rPr sz="4400" b="1" i="0">
                <a:solidFill>
                  <a:srgbClr val="1F2933"/>
                </a:solidFill>
                <a:latin typeface="Be Vietnam Pro"/>
              </a:rPr>
              <a:t>3.1 DATASET AND PROTOCOL</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3.1.1 DATASETS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Real SemanticKITTI scans for detection; synthetic ShapeNet cars for completion.</a:t>
            </a:r>
          </a:p>
        </p:txBody>
      </p:sp>
      <p:graphicFrame>
        <p:nvGraphicFramePr>
          <p:cNvPr id="4" name="Table 3"/>
          <p:cNvGraphicFramePr>
            <a:graphicFrameLocks noGrp="1"/>
          </p:cNvGraphicFramePr>
          <p:nvPr/>
        </p:nvGraphicFramePr>
        <p:xfrm>
          <a:off x="1143000" y="2095500"/>
          <a:ext cx="9372600" cy="2762250"/>
        </p:xfrm>
        <a:graphic>
          <a:graphicData uri="http://schemas.openxmlformats.org/drawingml/2006/table">
            <a:tbl>
              <a:tblPr firstRow="1" bandRow="1">
                <a:tableStyleId>{5C22544A-7EE6-4342-B048-85BDC9FD1C3A}</a:tableStyleId>
              </a:tblPr>
              <a:tblGrid>
                <a:gridCol w="2454729"/>
                <a:gridCol w="3570514"/>
                <a:gridCol w="3347357"/>
              </a:tblGrid>
              <a:tr h="552450">
                <a:tc>
                  <a:txBody>
                    <a:bodyPr/>
                    <a:lstStyle/>
                    <a:p>
                      <a:pPr algn="l"/>
                      <a:r>
                        <a:rPr sz="2000" b="1">
                          <a:solidFill>
                            <a:srgbClr val="FFFFFF"/>
                          </a:solidFill>
                          <a:latin typeface="Be Vietnam Pro"/>
                        </a:rPr>
                        <a:t/>
                      </a:r>
                    </a:p>
                  </a:txBody>
                  <a:tcPr anchor="ctr" marL="114300" marR="114300">
                    <a:solidFill>
                      <a:srgbClr val="1F2933"/>
                    </a:solidFill>
                  </a:tcPr>
                </a:tc>
                <a:tc>
                  <a:txBody>
                    <a:bodyPr/>
                    <a:lstStyle/>
                    <a:p>
                      <a:pPr algn="ctr"/>
                      <a:r>
                        <a:rPr sz="2000" b="1">
                          <a:solidFill>
                            <a:srgbClr val="FFFFFF"/>
                          </a:solidFill>
                          <a:latin typeface="Be Vietnam Pro"/>
                        </a:rPr>
                        <a:t>SemanticKITTI</a:t>
                      </a:r>
                    </a:p>
                  </a:txBody>
                  <a:tcPr anchor="ctr" marL="114300" marR="114300">
                    <a:solidFill>
                      <a:srgbClr val="1F2933"/>
                    </a:solidFill>
                  </a:tcPr>
                </a:tc>
                <a:tc>
                  <a:txBody>
                    <a:bodyPr/>
                    <a:lstStyle/>
                    <a:p>
                      <a:pPr algn="ctr"/>
                      <a:r>
                        <a:rPr sz="2000" b="1">
                          <a:solidFill>
                            <a:srgbClr val="FFFFFF"/>
                          </a:solidFill>
                          <a:latin typeface="Be Vietnam Pro"/>
                        </a:rPr>
                        <a:t>ShapeNetCore v2</a:t>
                      </a:r>
                    </a:p>
                  </a:txBody>
                  <a:tcPr anchor="ctr" marL="114300" marR="114300">
                    <a:solidFill>
                      <a:srgbClr val="1F2933"/>
                    </a:solidFill>
                  </a:tcPr>
                </a:tc>
              </a:tr>
              <a:tr h="552450">
                <a:tc>
                  <a:txBody>
                    <a:bodyPr/>
                    <a:lstStyle/>
                    <a:p>
                      <a:pPr algn="l"/>
                      <a:r>
                        <a:rPr sz="2000" b="0">
                          <a:solidFill>
                            <a:srgbClr val="1F2933"/>
                          </a:solidFill>
                          <a:latin typeface="Be Vietnam Pro"/>
                        </a:rPr>
                        <a:t>Data</a:t>
                      </a:r>
                    </a:p>
                  </a:txBody>
                  <a:tcPr anchor="ctr" marL="114300" marR="114300">
                    <a:solidFill>
                      <a:srgbClr val="FFFFFF"/>
                    </a:solidFill>
                  </a:tcPr>
                </a:tc>
                <a:tc>
                  <a:txBody>
                    <a:bodyPr/>
                    <a:lstStyle/>
                    <a:p>
                      <a:pPr algn="ctr"/>
                      <a:r>
                        <a:rPr sz="2000" b="0">
                          <a:solidFill>
                            <a:srgbClr val="1F2933"/>
                          </a:solidFill>
                          <a:latin typeface="Be Vietnam Pro"/>
                        </a:rPr>
                        <a:t>Real LiDAR scans</a:t>
                      </a:r>
                    </a:p>
                  </a:txBody>
                  <a:tcPr anchor="ctr" marL="114300" marR="114300">
                    <a:solidFill>
                      <a:srgbClr val="FFFFFF"/>
                    </a:solidFill>
                  </a:tcPr>
                </a:tc>
                <a:tc>
                  <a:txBody>
                    <a:bodyPr/>
                    <a:lstStyle/>
                    <a:p>
                      <a:pPr algn="ctr"/>
                      <a:r>
                        <a:rPr sz="2000" b="0">
                          <a:solidFill>
                            <a:srgbClr val="1F2933"/>
                          </a:solidFill>
                          <a:latin typeface="Be Vietnam Pro"/>
                        </a:rPr>
                        <a:t>Synthetic CAD meshes</a:t>
                      </a:r>
                    </a:p>
                  </a:txBody>
                  <a:tcPr anchor="ctr" marL="114300" marR="114300">
                    <a:solidFill>
                      <a:srgbClr val="FFFFFF"/>
                    </a:solidFill>
                  </a:tcPr>
                </a:tc>
              </a:tr>
              <a:tr h="552450">
                <a:tc>
                  <a:txBody>
                    <a:bodyPr/>
                    <a:lstStyle/>
                    <a:p>
                      <a:pPr algn="l"/>
                      <a:r>
                        <a:rPr sz="2000" b="0">
                          <a:solidFill>
                            <a:srgbClr val="1F2933"/>
                          </a:solidFill>
                          <a:latin typeface="Be Vietnam Pro"/>
                        </a:rPr>
                        <a:t>Role</a:t>
                      </a:r>
                    </a:p>
                  </a:txBody>
                  <a:tcPr anchor="ctr" marL="114300" marR="114300">
                    <a:solidFill>
                      <a:srgbClr val="EEF0F2"/>
                    </a:solidFill>
                  </a:tcPr>
                </a:tc>
                <a:tc>
                  <a:txBody>
                    <a:bodyPr/>
                    <a:lstStyle/>
                    <a:p>
                      <a:pPr algn="ctr"/>
                      <a:r>
                        <a:rPr sz="2000" b="0">
                          <a:solidFill>
                            <a:srgbClr val="1F2933"/>
                          </a:solidFill>
                          <a:latin typeface="Be Vietnam Pro"/>
                        </a:rPr>
                        <a:t>Detection, mining, evaluation</a:t>
                      </a:r>
                    </a:p>
                  </a:txBody>
                  <a:tcPr anchor="ctr" marL="114300" marR="114300">
                    <a:solidFill>
                      <a:srgbClr val="EEF0F2"/>
                    </a:solidFill>
                  </a:tcPr>
                </a:tc>
                <a:tc>
                  <a:txBody>
                    <a:bodyPr/>
                    <a:lstStyle/>
                    <a:p>
                      <a:pPr algn="ctr"/>
                      <a:r>
                        <a:rPr sz="2000" b="0">
                          <a:solidFill>
                            <a:srgbClr val="1F2933"/>
                          </a:solidFill>
                          <a:latin typeface="Be Vietnam Pro"/>
                        </a:rPr>
                        <a:t>Completion network training</a:t>
                      </a:r>
                    </a:p>
                  </a:txBody>
                  <a:tcPr anchor="ctr" marL="114300" marR="114300">
                    <a:solidFill>
                      <a:srgbClr val="EEF0F2"/>
                    </a:solidFill>
                  </a:tcPr>
                </a:tc>
              </a:tr>
              <a:tr h="552450">
                <a:tc>
                  <a:txBody>
                    <a:bodyPr/>
                    <a:lstStyle/>
                    <a:p>
                      <a:pPr algn="l"/>
                      <a:r>
                        <a:rPr sz="2000" b="0">
                          <a:solidFill>
                            <a:srgbClr val="1F2933"/>
                          </a:solidFill>
                          <a:latin typeface="Be Vietnam Pro"/>
                        </a:rPr>
                        <a:t>Volume</a:t>
                      </a:r>
                    </a:p>
                  </a:txBody>
                  <a:tcPr anchor="ctr" marL="114300" marR="114300">
                    <a:solidFill>
                      <a:srgbClr val="FFFFFF"/>
                    </a:solidFill>
                  </a:tcPr>
                </a:tc>
                <a:tc>
                  <a:txBody>
                    <a:bodyPr/>
                    <a:lstStyle/>
                    <a:p>
                      <a:pPr algn="ctr"/>
                      <a:r>
                        <a:rPr sz="2000" b="0">
                          <a:solidFill>
                            <a:srgbClr val="1F2933"/>
                          </a:solidFill>
                          <a:latin typeface="Be Vietnam Pro"/>
                        </a:rPr>
                        <a:t>23,201 frames (11 sequences)</a:t>
                      </a:r>
                    </a:p>
                  </a:txBody>
                  <a:tcPr anchor="ctr" marL="114300" marR="114300">
                    <a:solidFill>
                      <a:srgbClr val="FFFFFF"/>
                    </a:solidFill>
                  </a:tcPr>
                </a:tc>
                <a:tc>
                  <a:txBody>
                    <a:bodyPr/>
                    <a:lstStyle/>
                    <a:p>
                      <a:pPr algn="ctr"/>
                      <a:r>
                        <a:rPr sz="2000" b="0">
                          <a:solidFill>
                            <a:srgbClr val="1F2933"/>
                          </a:solidFill>
                          <a:latin typeface="Be Vietnam Pro"/>
                        </a:rPr>
                        <a:t>~3,150 car models</a:t>
                      </a:r>
                    </a:p>
                  </a:txBody>
                  <a:tcPr anchor="ctr" marL="114300" marR="114300">
                    <a:solidFill>
                      <a:srgbClr val="FFFFFF"/>
                    </a:solidFill>
                  </a:tcPr>
                </a:tc>
              </a:tr>
              <a:tr h="552450">
                <a:tc>
                  <a:txBody>
                    <a:bodyPr/>
                    <a:lstStyle/>
                    <a:p>
                      <a:pPr algn="l"/>
                      <a:r>
                        <a:rPr sz="2000" b="0">
                          <a:solidFill>
                            <a:srgbClr val="1F2933"/>
                          </a:solidFill>
                          <a:latin typeface="Be Vietnam Pro"/>
                        </a:rPr>
                        <a:t>Annotations used</a:t>
                      </a:r>
                    </a:p>
                  </a:txBody>
                  <a:tcPr anchor="ctr" marL="114300" marR="114300">
                    <a:solidFill>
                      <a:srgbClr val="EEF0F2"/>
                    </a:solidFill>
                  </a:tcPr>
                </a:tc>
                <a:tc>
                  <a:txBody>
                    <a:bodyPr/>
                    <a:lstStyle/>
                    <a:p>
                      <a:pPr algn="ctr"/>
                      <a:r>
                        <a:rPr sz="2000" b="0">
                          <a:solidFill>
                            <a:srgbClr val="1F2933"/>
                          </a:solidFill>
                          <a:latin typeface="Be Vietnam Pro"/>
                        </a:rPr>
                        <a:t>Point-wise semantic + instance</a:t>
                      </a:r>
                    </a:p>
                  </a:txBody>
                  <a:tcPr anchor="ctr" marL="114300" marR="114300">
                    <a:solidFill>
                      <a:srgbClr val="EEF0F2"/>
                    </a:solidFill>
                  </a:tcPr>
                </a:tc>
                <a:tc>
                  <a:txBody>
                    <a:bodyPr/>
                    <a:lstStyle/>
                    <a:p>
                      <a:pPr algn="ctr"/>
                      <a:r>
                        <a:rPr sz="2000" b="0">
                          <a:solidFill>
                            <a:srgbClr val="1F2933"/>
                          </a:solidFill>
                          <a:latin typeface="Be Vietnam Pro"/>
                        </a:rPr>
                        <a:t>None (synthetic partials)</a:t>
                      </a:r>
                    </a:p>
                  </a:txBody>
                  <a:tcPr anchor="ctr" marL="114300" marR="114300">
                    <a:solidFill>
                      <a:srgbClr val="EEF0F2"/>
                    </a:solidFill>
                  </a:tcPr>
                </a:tc>
              </a:tr>
            </a:tbl>
          </a:graphicData>
        </a:graphic>
      </p:graphicFrame>
      <p:graphicFrame>
        <p:nvGraphicFramePr>
          <p:cNvPr id="5" name="Table 4"/>
          <p:cNvGraphicFramePr>
            <a:graphicFrameLocks noGrp="1"/>
          </p:cNvGraphicFramePr>
          <p:nvPr/>
        </p:nvGraphicFramePr>
        <p:xfrm>
          <a:off x="10896600" y="2095500"/>
          <a:ext cx="6248400" cy="2743200"/>
        </p:xfrm>
        <a:graphic>
          <a:graphicData uri="http://schemas.openxmlformats.org/drawingml/2006/table">
            <a:tbl>
              <a:tblPr firstRow="1" bandRow="1">
                <a:tableStyleId>{5C22544A-7EE6-4342-B048-85BDC9FD1C3A}</a:tableStyleId>
              </a:tblPr>
              <a:tblGrid>
                <a:gridCol w="3239911"/>
                <a:gridCol w="3008489"/>
              </a:tblGrid>
              <a:tr h="457200">
                <a:tc>
                  <a:txBody>
                    <a:bodyPr/>
                    <a:lstStyle/>
                    <a:p>
                      <a:pPr algn="l"/>
                      <a:r>
                        <a:rPr sz="2000" b="1">
                          <a:solidFill>
                            <a:srgbClr val="FFFFFF"/>
                          </a:solidFill>
                          <a:latin typeface="Be Vietnam Pro"/>
                        </a:rPr>
                        <a:t>Sensor</a:t>
                      </a:r>
                    </a:p>
                  </a:txBody>
                  <a:tcPr anchor="ctr" marL="114300" marR="114300">
                    <a:solidFill>
                      <a:srgbClr val="1F2933"/>
                    </a:solidFill>
                  </a:tcPr>
                </a:tc>
                <a:tc>
                  <a:txBody>
                    <a:bodyPr/>
                    <a:lstStyle/>
                    <a:p>
                      <a:pPr algn="ctr"/>
                      <a:r>
                        <a:rPr sz="2000" b="1">
                          <a:solidFill>
                            <a:srgbClr val="FFFFFF"/>
                          </a:solidFill>
                          <a:latin typeface="Be Vietnam Pro"/>
                        </a:rPr>
                        <a:t>Velodyne HDL-64E</a:t>
                      </a:r>
                    </a:p>
                  </a:txBody>
                  <a:tcPr anchor="ctr" marL="114300" marR="114300">
                    <a:solidFill>
                      <a:srgbClr val="1F2933"/>
                    </a:solidFill>
                  </a:tcPr>
                </a:tc>
              </a:tr>
              <a:tr h="457200">
                <a:tc>
                  <a:txBody>
                    <a:bodyPr/>
                    <a:lstStyle/>
                    <a:p>
                      <a:pPr algn="l"/>
                      <a:r>
                        <a:rPr sz="2000" b="0">
                          <a:solidFill>
                            <a:srgbClr val="1F2933"/>
                          </a:solidFill>
                          <a:latin typeface="Be Vietnam Pro"/>
                        </a:rPr>
                        <a:t>Beams</a:t>
                      </a:r>
                    </a:p>
                  </a:txBody>
                  <a:tcPr anchor="ctr" marL="114300" marR="114300">
                    <a:solidFill>
                      <a:srgbClr val="FFFFFF"/>
                    </a:solidFill>
                  </a:tcPr>
                </a:tc>
                <a:tc>
                  <a:txBody>
                    <a:bodyPr/>
                    <a:lstStyle/>
                    <a:p>
                      <a:pPr algn="ctr"/>
                      <a:r>
                        <a:rPr sz="2000" b="0">
                          <a:solidFill>
                            <a:srgbClr val="1F2933"/>
                          </a:solidFill>
                          <a:latin typeface="Be Vietnam Pro"/>
                        </a:rPr>
                        <a:t>64</a:t>
                      </a:r>
                    </a:p>
                  </a:txBody>
                  <a:tcPr anchor="ctr" marL="114300" marR="114300">
                    <a:solidFill>
                      <a:srgbClr val="FFFFFF"/>
                    </a:solidFill>
                  </a:tcPr>
                </a:tc>
              </a:tr>
              <a:tr h="457200">
                <a:tc>
                  <a:txBody>
                    <a:bodyPr/>
                    <a:lstStyle/>
                    <a:p>
                      <a:pPr algn="l"/>
                      <a:r>
                        <a:rPr sz="2000" b="0">
                          <a:solidFill>
                            <a:srgbClr val="1F2933"/>
                          </a:solidFill>
                          <a:latin typeface="Be Vietnam Pro"/>
                        </a:rPr>
                        <a:t>Frame rate</a:t>
                      </a:r>
                    </a:p>
                  </a:txBody>
                  <a:tcPr anchor="ctr" marL="114300" marR="114300">
                    <a:solidFill>
                      <a:srgbClr val="EEF0F2"/>
                    </a:solidFill>
                  </a:tcPr>
                </a:tc>
                <a:tc>
                  <a:txBody>
                    <a:bodyPr/>
                    <a:lstStyle/>
                    <a:p>
                      <a:pPr algn="ctr"/>
                      <a:r>
                        <a:rPr sz="2000" b="0">
                          <a:solidFill>
                            <a:srgbClr val="1F2933"/>
                          </a:solidFill>
                          <a:latin typeface="Be Vietnam Pro"/>
                        </a:rPr>
                        <a:t>10 Hz</a:t>
                      </a:r>
                    </a:p>
                  </a:txBody>
                  <a:tcPr anchor="ctr" marL="114300" marR="114300">
                    <a:solidFill>
                      <a:srgbClr val="EEF0F2"/>
                    </a:solidFill>
                  </a:tcPr>
                </a:tc>
              </a:tr>
              <a:tr h="457200">
                <a:tc>
                  <a:txBody>
                    <a:bodyPr/>
                    <a:lstStyle/>
                    <a:p>
                      <a:pPr algn="l"/>
                      <a:r>
                        <a:rPr sz="2000" b="0">
                          <a:solidFill>
                            <a:srgbClr val="1F2933"/>
                          </a:solidFill>
                          <a:latin typeface="Be Vietnam Pro"/>
                        </a:rPr>
                        <a:t>Horizontal resolution</a:t>
                      </a:r>
                    </a:p>
                  </a:txBody>
                  <a:tcPr anchor="ctr" marL="114300" marR="114300">
                    <a:solidFill>
                      <a:srgbClr val="FFFFFF"/>
                    </a:solidFill>
                  </a:tcPr>
                </a:tc>
                <a:tc>
                  <a:txBody>
                    <a:bodyPr/>
                    <a:lstStyle/>
                    <a:p>
                      <a:pPr algn="ctr"/>
                      <a:r>
                        <a:rPr sz="2000" b="0">
                          <a:solidFill>
                            <a:srgbClr val="1F2933"/>
                          </a:solidFill>
                          <a:latin typeface="Be Vietnam Pro"/>
                        </a:rPr>
                        <a:t>~0.09°</a:t>
                      </a:r>
                    </a:p>
                  </a:txBody>
                  <a:tcPr anchor="ctr" marL="114300" marR="114300">
                    <a:solidFill>
                      <a:srgbClr val="FFFFFF"/>
                    </a:solidFill>
                  </a:tcPr>
                </a:tc>
              </a:tr>
              <a:tr h="457200">
                <a:tc>
                  <a:txBody>
                    <a:bodyPr/>
                    <a:lstStyle/>
                    <a:p>
                      <a:pPr algn="l"/>
                      <a:r>
                        <a:rPr sz="2000" b="0">
                          <a:solidFill>
                            <a:srgbClr val="1F2933"/>
                          </a:solidFill>
                          <a:latin typeface="Be Vietnam Pro"/>
                        </a:rPr>
                        <a:t>Max range</a:t>
                      </a:r>
                    </a:p>
                  </a:txBody>
                  <a:tcPr anchor="ctr" marL="114300" marR="114300">
                    <a:solidFill>
                      <a:srgbClr val="EEF0F2"/>
                    </a:solidFill>
                  </a:tcPr>
                </a:tc>
                <a:tc>
                  <a:txBody>
                    <a:bodyPr/>
                    <a:lstStyle/>
                    <a:p>
                      <a:pPr algn="ctr"/>
                      <a:r>
                        <a:rPr sz="2000" b="0">
                          <a:solidFill>
                            <a:srgbClr val="1F2933"/>
                          </a:solidFill>
                          <a:latin typeface="Be Vietnam Pro"/>
                        </a:rPr>
                        <a:t>120 m</a:t>
                      </a:r>
                    </a:p>
                  </a:txBody>
                  <a:tcPr anchor="ctr" marL="114300" marR="114300">
                    <a:solidFill>
                      <a:srgbClr val="EEF0F2"/>
                    </a:solidFill>
                  </a:tcPr>
                </a:tc>
              </a:tr>
              <a:tr h="457200">
                <a:tc>
                  <a:txBody>
                    <a:bodyPr/>
                    <a:lstStyle/>
                    <a:p>
                      <a:pPr algn="l"/>
                      <a:r>
                        <a:rPr sz="2000" b="0">
                          <a:solidFill>
                            <a:srgbClr val="1F2933"/>
                          </a:solidFill>
                          <a:latin typeface="Be Vietnam Pro"/>
                        </a:rPr>
                        <a:t>Points per frame</a:t>
                      </a:r>
                    </a:p>
                  </a:txBody>
                  <a:tcPr anchor="ctr" marL="114300" marR="114300">
                    <a:solidFill>
                      <a:srgbClr val="FFFFFF"/>
                    </a:solidFill>
                  </a:tcPr>
                </a:tc>
                <a:tc>
                  <a:txBody>
                    <a:bodyPr/>
                    <a:lstStyle/>
                    <a:p>
                      <a:pPr algn="ctr"/>
                      <a:r>
                        <a:rPr sz="2000" b="0">
                          <a:solidFill>
                            <a:srgbClr val="1F2933"/>
                          </a:solidFill>
                          <a:latin typeface="Be Vietnam Pro"/>
                        </a:rPr>
                        <a:t>~100,000–120,000</a:t>
                      </a:r>
                    </a:p>
                  </a:txBody>
                  <a:tcPr anchor="ctr" marL="114300" marR="114300">
                    <a:solidFill>
                      <a:srgbClr val="FFFFFF"/>
                    </a:solidFill>
                  </a:tcPr>
                </a:tc>
              </a:tr>
            </a:tbl>
          </a:graphicData>
        </a:graphic>
      </p:graphicFrame>
      <p:graphicFrame>
        <p:nvGraphicFramePr>
          <p:cNvPr id="6" name="Table 5"/>
          <p:cNvGraphicFramePr>
            <a:graphicFrameLocks noGrp="1"/>
          </p:cNvGraphicFramePr>
          <p:nvPr/>
        </p:nvGraphicFramePr>
        <p:xfrm>
          <a:off x="1143000" y="5619750"/>
          <a:ext cx="16002000" cy="1600200"/>
        </p:xfrm>
        <a:graphic>
          <a:graphicData uri="http://schemas.openxmlformats.org/drawingml/2006/table">
            <a:tbl>
              <a:tblPr firstRow="1" bandRow="1">
                <a:tableStyleId>{5C22544A-7EE6-4342-B048-85BDC9FD1C3A}</a:tableStyleId>
              </a:tblPr>
              <a:tblGrid>
                <a:gridCol w="2032000"/>
                <a:gridCol w="1270000"/>
                <a:gridCol w="1270000"/>
                <a:gridCol w="1270000"/>
                <a:gridCol w="1270000"/>
                <a:gridCol w="1270000"/>
                <a:gridCol w="1270000"/>
                <a:gridCol w="1270000"/>
                <a:gridCol w="1270000"/>
                <a:gridCol w="1270000"/>
                <a:gridCol w="1270000"/>
                <a:gridCol w="1270000"/>
              </a:tblGrid>
              <a:tr h="533400">
                <a:tc>
                  <a:txBody>
                    <a:bodyPr/>
                    <a:lstStyle/>
                    <a:p>
                      <a:pPr algn="l"/>
                      <a:r>
                        <a:rPr sz="2000" b="1">
                          <a:solidFill>
                            <a:srgbClr val="FFFFFF"/>
                          </a:solidFill>
                          <a:latin typeface="Be Vietnam Pro"/>
                        </a:rPr>
                        <a:t>Seq</a:t>
                      </a:r>
                    </a:p>
                  </a:txBody>
                  <a:tcPr anchor="ctr" marL="114300" marR="114300">
                    <a:solidFill>
                      <a:srgbClr val="1F2933"/>
                    </a:solidFill>
                  </a:tcPr>
                </a:tc>
                <a:tc>
                  <a:txBody>
                    <a:bodyPr/>
                    <a:lstStyle/>
                    <a:p>
                      <a:pPr algn="ctr"/>
                      <a:r>
                        <a:rPr sz="2000" b="1">
                          <a:solidFill>
                            <a:srgbClr val="FFFFFF"/>
                          </a:solidFill>
                          <a:latin typeface="Be Vietnam Pro"/>
                        </a:rPr>
                        <a:t>00</a:t>
                      </a:r>
                    </a:p>
                  </a:txBody>
                  <a:tcPr anchor="ctr" marL="114300" marR="114300">
                    <a:solidFill>
                      <a:srgbClr val="1F2933"/>
                    </a:solidFill>
                  </a:tcPr>
                </a:tc>
                <a:tc>
                  <a:txBody>
                    <a:bodyPr/>
                    <a:lstStyle/>
                    <a:p>
                      <a:pPr algn="ctr"/>
                      <a:r>
                        <a:rPr sz="2000" b="1">
                          <a:solidFill>
                            <a:srgbClr val="FFFFFF"/>
                          </a:solidFill>
                          <a:latin typeface="Be Vietnam Pro"/>
                        </a:rPr>
                        <a:t>01</a:t>
                      </a:r>
                    </a:p>
                  </a:txBody>
                  <a:tcPr anchor="ctr" marL="114300" marR="114300">
                    <a:solidFill>
                      <a:srgbClr val="1F2933"/>
                    </a:solidFill>
                  </a:tcPr>
                </a:tc>
                <a:tc>
                  <a:txBody>
                    <a:bodyPr/>
                    <a:lstStyle/>
                    <a:p>
                      <a:pPr algn="ctr"/>
                      <a:r>
                        <a:rPr sz="2000" b="1">
                          <a:solidFill>
                            <a:srgbClr val="FFFFFF"/>
                          </a:solidFill>
                          <a:latin typeface="Be Vietnam Pro"/>
                        </a:rPr>
                        <a:t>02</a:t>
                      </a:r>
                    </a:p>
                  </a:txBody>
                  <a:tcPr anchor="ctr" marL="114300" marR="114300">
                    <a:solidFill>
                      <a:srgbClr val="1F2933"/>
                    </a:solidFill>
                  </a:tcPr>
                </a:tc>
                <a:tc>
                  <a:txBody>
                    <a:bodyPr/>
                    <a:lstStyle/>
                    <a:p>
                      <a:pPr algn="ctr"/>
                      <a:r>
                        <a:rPr sz="2000" b="1">
                          <a:solidFill>
                            <a:srgbClr val="FFFFFF"/>
                          </a:solidFill>
                          <a:latin typeface="Be Vietnam Pro"/>
                        </a:rPr>
                        <a:t>03</a:t>
                      </a:r>
                    </a:p>
                  </a:txBody>
                  <a:tcPr anchor="ctr" marL="114300" marR="114300">
                    <a:solidFill>
                      <a:srgbClr val="1F2933"/>
                    </a:solidFill>
                  </a:tcPr>
                </a:tc>
                <a:tc>
                  <a:txBody>
                    <a:bodyPr/>
                    <a:lstStyle/>
                    <a:p>
                      <a:pPr algn="ctr"/>
                      <a:r>
                        <a:rPr sz="2000" b="1">
                          <a:solidFill>
                            <a:srgbClr val="FFFFFF"/>
                          </a:solidFill>
                          <a:latin typeface="Be Vietnam Pro"/>
                        </a:rPr>
                        <a:t>04</a:t>
                      </a:r>
                    </a:p>
                  </a:txBody>
                  <a:tcPr anchor="ctr" marL="114300" marR="114300">
                    <a:solidFill>
                      <a:srgbClr val="1F2933"/>
                    </a:solidFill>
                  </a:tcPr>
                </a:tc>
                <a:tc>
                  <a:txBody>
                    <a:bodyPr/>
                    <a:lstStyle/>
                    <a:p>
                      <a:pPr algn="ctr"/>
                      <a:r>
                        <a:rPr sz="2000" b="1">
                          <a:solidFill>
                            <a:srgbClr val="FFFFFF"/>
                          </a:solidFill>
                          <a:latin typeface="Be Vietnam Pro"/>
                        </a:rPr>
                        <a:t>05</a:t>
                      </a:r>
                    </a:p>
                  </a:txBody>
                  <a:tcPr anchor="ctr" marL="114300" marR="114300">
                    <a:solidFill>
                      <a:srgbClr val="1F2933"/>
                    </a:solidFill>
                  </a:tcPr>
                </a:tc>
                <a:tc>
                  <a:txBody>
                    <a:bodyPr/>
                    <a:lstStyle/>
                    <a:p>
                      <a:pPr algn="ctr"/>
                      <a:r>
                        <a:rPr sz="2000" b="1">
                          <a:solidFill>
                            <a:srgbClr val="FFFFFF"/>
                          </a:solidFill>
                          <a:latin typeface="Be Vietnam Pro"/>
                        </a:rPr>
                        <a:t>06</a:t>
                      </a:r>
                    </a:p>
                  </a:txBody>
                  <a:tcPr anchor="ctr" marL="114300" marR="114300">
                    <a:solidFill>
                      <a:srgbClr val="1F2933"/>
                    </a:solidFill>
                  </a:tcPr>
                </a:tc>
                <a:tc>
                  <a:txBody>
                    <a:bodyPr/>
                    <a:lstStyle/>
                    <a:p>
                      <a:pPr algn="ctr"/>
                      <a:r>
                        <a:rPr sz="2000" b="1">
                          <a:solidFill>
                            <a:srgbClr val="FFFFFF"/>
                          </a:solidFill>
                          <a:latin typeface="Be Vietnam Pro"/>
                        </a:rPr>
                        <a:t>07</a:t>
                      </a:r>
                    </a:p>
                  </a:txBody>
                  <a:tcPr anchor="ctr" marL="114300" marR="114300">
                    <a:solidFill>
                      <a:srgbClr val="1F2933"/>
                    </a:solidFill>
                  </a:tcPr>
                </a:tc>
                <a:tc>
                  <a:txBody>
                    <a:bodyPr/>
                    <a:lstStyle/>
                    <a:p>
                      <a:pPr algn="ctr"/>
                      <a:r>
                        <a:rPr sz="2000" b="1">
                          <a:solidFill>
                            <a:srgbClr val="FFFFFF"/>
                          </a:solidFill>
                          <a:latin typeface="Be Vietnam Pro"/>
                        </a:rPr>
                        <a:t>08</a:t>
                      </a:r>
                    </a:p>
                  </a:txBody>
                  <a:tcPr anchor="ctr" marL="114300" marR="114300">
                    <a:solidFill>
                      <a:srgbClr val="1F2933"/>
                    </a:solidFill>
                  </a:tcPr>
                </a:tc>
                <a:tc>
                  <a:txBody>
                    <a:bodyPr/>
                    <a:lstStyle/>
                    <a:p>
                      <a:pPr algn="ctr"/>
                      <a:r>
                        <a:rPr sz="2000" b="1">
                          <a:solidFill>
                            <a:srgbClr val="FFFFFF"/>
                          </a:solidFill>
                          <a:latin typeface="Be Vietnam Pro"/>
                        </a:rPr>
                        <a:t>09</a:t>
                      </a:r>
                    </a:p>
                  </a:txBody>
                  <a:tcPr anchor="ctr" marL="114300" marR="114300">
                    <a:solidFill>
                      <a:srgbClr val="1F2933"/>
                    </a:solidFill>
                  </a:tcPr>
                </a:tc>
                <a:tc>
                  <a:txBody>
                    <a:bodyPr/>
                    <a:lstStyle/>
                    <a:p>
                      <a:pPr algn="ctr"/>
                      <a:r>
                        <a:rPr sz="2000" b="1">
                          <a:solidFill>
                            <a:srgbClr val="FFFFFF"/>
                          </a:solidFill>
                          <a:latin typeface="Be Vietnam Pro"/>
                        </a:rPr>
                        <a:t>10</a:t>
                      </a:r>
                    </a:p>
                  </a:txBody>
                  <a:tcPr anchor="ctr" marL="114300" marR="114300">
                    <a:solidFill>
                      <a:srgbClr val="1F2933"/>
                    </a:solidFill>
                  </a:tcPr>
                </a:tc>
              </a:tr>
              <a:tr h="533400">
                <a:tc>
                  <a:txBody>
                    <a:bodyPr/>
                    <a:lstStyle/>
                    <a:p>
                      <a:pPr algn="l"/>
                      <a:r>
                        <a:rPr sz="2000" b="0">
                          <a:solidFill>
                            <a:srgbClr val="1F2933"/>
                          </a:solidFill>
                          <a:latin typeface="Be Vietnam Pro"/>
                        </a:rPr>
                        <a:t>Frames</a:t>
                      </a:r>
                    </a:p>
                  </a:txBody>
                  <a:tcPr anchor="ctr" marL="114300" marR="114300">
                    <a:solidFill>
                      <a:srgbClr val="FFFFFF"/>
                    </a:solidFill>
                  </a:tcPr>
                </a:tc>
                <a:tc>
                  <a:txBody>
                    <a:bodyPr/>
                    <a:lstStyle/>
                    <a:p>
                      <a:pPr algn="ctr"/>
                      <a:r>
                        <a:rPr sz="2000" b="0">
                          <a:solidFill>
                            <a:srgbClr val="1F2933"/>
                          </a:solidFill>
                          <a:latin typeface="Be Vietnam Pro"/>
                        </a:rPr>
                        <a:t>4541</a:t>
                      </a:r>
                    </a:p>
                  </a:txBody>
                  <a:tcPr anchor="ctr" marL="114300" marR="114300">
                    <a:solidFill>
                      <a:srgbClr val="FFFFFF"/>
                    </a:solidFill>
                  </a:tcPr>
                </a:tc>
                <a:tc>
                  <a:txBody>
                    <a:bodyPr/>
                    <a:lstStyle/>
                    <a:p>
                      <a:pPr algn="ctr"/>
                      <a:r>
                        <a:rPr sz="2000" b="0">
                          <a:solidFill>
                            <a:srgbClr val="1F2933"/>
                          </a:solidFill>
                          <a:latin typeface="Be Vietnam Pro"/>
                        </a:rPr>
                        <a:t>1101</a:t>
                      </a:r>
                    </a:p>
                  </a:txBody>
                  <a:tcPr anchor="ctr" marL="114300" marR="114300">
                    <a:solidFill>
                      <a:srgbClr val="FFFFFF"/>
                    </a:solidFill>
                  </a:tcPr>
                </a:tc>
                <a:tc>
                  <a:txBody>
                    <a:bodyPr/>
                    <a:lstStyle/>
                    <a:p>
                      <a:pPr algn="ctr"/>
                      <a:r>
                        <a:rPr sz="2000" b="0">
                          <a:solidFill>
                            <a:srgbClr val="1F2933"/>
                          </a:solidFill>
                          <a:latin typeface="Be Vietnam Pro"/>
                        </a:rPr>
                        <a:t>4661</a:t>
                      </a:r>
                    </a:p>
                  </a:txBody>
                  <a:tcPr anchor="ctr" marL="114300" marR="114300">
                    <a:solidFill>
                      <a:srgbClr val="FFFFFF"/>
                    </a:solidFill>
                  </a:tcPr>
                </a:tc>
                <a:tc>
                  <a:txBody>
                    <a:bodyPr/>
                    <a:lstStyle/>
                    <a:p>
                      <a:pPr algn="ctr"/>
                      <a:r>
                        <a:rPr sz="2000" b="0">
                          <a:solidFill>
                            <a:srgbClr val="1F2933"/>
                          </a:solidFill>
                          <a:latin typeface="Be Vietnam Pro"/>
                        </a:rPr>
                        <a:t>801</a:t>
                      </a:r>
                    </a:p>
                  </a:txBody>
                  <a:tcPr anchor="ctr" marL="114300" marR="114300">
                    <a:solidFill>
                      <a:srgbClr val="FFFFFF"/>
                    </a:solidFill>
                  </a:tcPr>
                </a:tc>
                <a:tc>
                  <a:txBody>
                    <a:bodyPr/>
                    <a:lstStyle/>
                    <a:p>
                      <a:pPr algn="ctr"/>
                      <a:r>
                        <a:rPr sz="2000" b="0">
                          <a:solidFill>
                            <a:srgbClr val="1F2933"/>
                          </a:solidFill>
                          <a:latin typeface="Be Vietnam Pro"/>
                        </a:rPr>
                        <a:t>271</a:t>
                      </a:r>
                    </a:p>
                  </a:txBody>
                  <a:tcPr anchor="ctr" marL="114300" marR="114300">
                    <a:solidFill>
                      <a:srgbClr val="FFFFFF"/>
                    </a:solidFill>
                  </a:tcPr>
                </a:tc>
                <a:tc>
                  <a:txBody>
                    <a:bodyPr/>
                    <a:lstStyle/>
                    <a:p>
                      <a:pPr algn="ctr"/>
                      <a:r>
                        <a:rPr sz="2000" b="0">
                          <a:solidFill>
                            <a:srgbClr val="1F2933"/>
                          </a:solidFill>
                          <a:latin typeface="Be Vietnam Pro"/>
                        </a:rPr>
                        <a:t>2761</a:t>
                      </a:r>
                    </a:p>
                  </a:txBody>
                  <a:tcPr anchor="ctr" marL="114300" marR="114300">
                    <a:solidFill>
                      <a:srgbClr val="FFFFFF"/>
                    </a:solidFill>
                  </a:tcPr>
                </a:tc>
                <a:tc>
                  <a:txBody>
                    <a:bodyPr/>
                    <a:lstStyle/>
                    <a:p>
                      <a:pPr algn="ctr"/>
                      <a:r>
                        <a:rPr sz="2000" b="0">
                          <a:solidFill>
                            <a:srgbClr val="1F2933"/>
                          </a:solidFill>
                          <a:latin typeface="Be Vietnam Pro"/>
                        </a:rPr>
                        <a:t>1101</a:t>
                      </a:r>
                    </a:p>
                  </a:txBody>
                  <a:tcPr anchor="ctr" marL="114300" marR="114300">
                    <a:solidFill>
                      <a:srgbClr val="FFFFFF"/>
                    </a:solidFill>
                  </a:tcPr>
                </a:tc>
                <a:tc>
                  <a:txBody>
                    <a:bodyPr/>
                    <a:lstStyle/>
                    <a:p>
                      <a:pPr algn="ctr"/>
                      <a:r>
                        <a:rPr sz="2000" b="0">
                          <a:solidFill>
                            <a:srgbClr val="1F2933"/>
                          </a:solidFill>
                          <a:latin typeface="Be Vietnam Pro"/>
                        </a:rPr>
                        <a:t>1101</a:t>
                      </a:r>
                    </a:p>
                  </a:txBody>
                  <a:tcPr anchor="ctr" marL="114300" marR="114300">
                    <a:solidFill>
                      <a:srgbClr val="FFFFFF"/>
                    </a:solidFill>
                  </a:tcPr>
                </a:tc>
                <a:tc>
                  <a:txBody>
                    <a:bodyPr/>
                    <a:lstStyle/>
                    <a:p>
                      <a:pPr algn="ctr"/>
                      <a:r>
                        <a:rPr sz="2000" b="1">
                          <a:solidFill>
                            <a:srgbClr val="1F2933"/>
                          </a:solidFill>
                          <a:latin typeface="Be Vietnam Pro"/>
                        </a:rPr>
                        <a:t>4071</a:t>
                      </a:r>
                    </a:p>
                  </a:txBody>
                  <a:tcPr anchor="ctr" marL="114300" marR="114300">
                    <a:solidFill>
                      <a:srgbClr val="FFFFFF"/>
                    </a:solidFill>
                  </a:tcPr>
                </a:tc>
                <a:tc>
                  <a:txBody>
                    <a:bodyPr/>
                    <a:lstStyle/>
                    <a:p>
                      <a:pPr algn="ctr"/>
                      <a:r>
                        <a:rPr sz="2000" b="0">
                          <a:solidFill>
                            <a:srgbClr val="1F2933"/>
                          </a:solidFill>
                          <a:latin typeface="Be Vietnam Pro"/>
                        </a:rPr>
                        <a:t>1591</a:t>
                      </a:r>
                    </a:p>
                  </a:txBody>
                  <a:tcPr anchor="ctr" marL="114300" marR="114300">
                    <a:solidFill>
                      <a:srgbClr val="FFFFFF"/>
                    </a:solidFill>
                  </a:tcPr>
                </a:tc>
                <a:tc>
                  <a:txBody>
                    <a:bodyPr/>
                    <a:lstStyle/>
                    <a:p>
                      <a:pPr algn="ctr"/>
                      <a:r>
                        <a:rPr sz="2000" b="0">
                          <a:solidFill>
                            <a:srgbClr val="1F2933"/>
                          </a:solidFill>
                          <a:latin typeface="Be Vietnam Pro"/>
                        </a:rPr>
                        <a:t>1201</a:t>
                      </a:r>
                    </a:p>
                  </a:txBody>
                  <a:tcPr anchor="ctr" marL="114300" marR="114300">
                    <a:solidFill>
                      <a:srgbClr val="FFFFFF"/>
                    </a:solidFill>
                  </a:tcPr>
                </a:tc>
              </a:tr>
              <a:tr h="533400">
                <a:tc>
                  <a:txBody>
                    <a:bodyPr/>
                    <a:lstStyle/>
                    <a:p>
                      <a:pPr algn="l"/>
                      <a:r>
                        <a:rPr sz="2000" b="0">
                          <a:solidFill>
                            <a:srgbClr val="1F2933"/>
                          </a:solidFill>
                          <a:latin typeface="Be Vietnam Pro"/>
                        </a:rPr>
                        <a:t>Classifier</a:t>
                      </a:r>
                    </a:p>
                  </a:txBody>
                  <a:tcPr anchor="ctr" marL="114300" marR="114300">
                    <a:solidFill>
                      <a:srgbClr val="EEF0F2"/>
                    </a:solidFill>
                  </a:tcPr>
                </a:tc>
                <a:tc>
                  <a:txBody>
                    <a:bodyPr/>
                    <a:lstStyle/>
                    <a:p>
                      <a:pPr algn="ctr"/>
                      <a:r>
                        <a:rPr sz="2000" b="0">
                          <a:solidFill>
                            <a:srgbClr val="1F2933"/>
                          </a:solidFill>
                          <a:latin typeface="Be Vietnam Pro"/>
                        </a:rPr>
                        <a:t>train</a:t>
                      </a:r>
                    </a:p>
                  </a:txBody>
                  <a:tcPr anchor="ctr" marL="114300" marR="114300">
                    <a:solidFill>
                      <a:srgbClr val="EEF0F2"/>
                    </a:solidFill>
                  </a:tcPr>
                </a:tc>
                <a:tc>
                  <a:txBody>
                    <a:bodyPr/>
                    <a:lstStyle/>
                    <a:p>
                      <a:pPr algn="ctr"/>
                      <a:r>
                        <a:rPr sz="2000" b="0">
                          <a:solidFill>
                            <a:srgbClr val="1F2933"/>
                          </a:solidFill>
                          <a:latin typeface="Be Vietnam Pro"/>
                        </a:rPr>
                        <a:t>train</a:t>
                      </a:r>
                    </a:p>
                  </a:txBody>
                  <a:tcPr anchor="ctr" marL="114300" marR="114300">
                    <a:solidFill>
                      <a:srgbClr val="EEF0F2"/>
                    </a:solidFill>
                  </a:tcPr>
                </a:tc>
                <a:tc>
                  <a:txBody>
                    <a:bodyPr/>
                    <a:lstStyle/>
                    <a:p>
                      <a:pPr algn="ctr"/>
                      <a:r>
                        <a:rPr sz="2000" b="0">
                          <a:solidFill>
                            <a:srgbClr val="1F2933"/>
                          </a:solidFill>
                          <a:latin typeface="Be Vietnam Pro"/>
                        </a:rPr>
                        <a:t>train</a:t>
                      </a:r>
                    </a:p>
                  </a:txBody>
                  <a:tcPr anchor="ctr" marL="114300" marR="114300">
                    <a:solidFill>
                      <a:srgbClr val="EEF0F2"/>
                    </a:solidFill>
                  </a:tcPr>
                </a:tc>
                <a:tc>
                  <a:txBody>
                    <a:bodyPr/>
                    <a:lstStyle/>
                    <a:p>
                      <a:pPr algn="ctr"/>
                      <a:r>
                        <a:rPr sz="2000" b="0">
                          <a:solidFill>
                            <a:srgbClr val="1F2933"/>
                          </a:solidFill>
                          <a:latin typeface="Be Vietnam Pro"/>
                        </a:rPr>
                        <a:t>train</a:t>
                      </a:r>
                    </a:p>
                  </a:txBody>
                  <a:tcPr anchor="ctr" marL="114300" marR="114300">
                    <a:solidFill>
                      <a:srgbClr val="EEF0F2"/>
                    </a:solidFill>
                  </a:tcPr>
                </a:tc>
                <a:tc>
                  <a:txBody>
                    <a:bodyPr/>
                    <a:lstStyle/>
                    <a:p>
                      <a:pPr algn="ctr"/>
                      <a:r>
                        <a:rPr sz="2000" b="0">
                          <a:solidFill>
                            <a:srgbClr val="1F2933"/>
                          </a:solidFill>
                          <a:latin typeface="Be Vietnam Pro"/>
                        </a:rPr>
                        <a:t>train</a:t>
                      </a:r>
                    </a:p>
                  </a:txBody>
                  <a:tcPr anchor="ctr" marL="114300" marR="114300">
                    <a:solidFill>
                      <a:srgbClr val="EEF0F2"/>
                    </a:solidFill>
                  </a:tcPr>
                </a:tc>
                <a:tc>
                  <a:txBody>
                    <a:bodyPr/>
                    <a:lstStyle/>
                    <a:p>
                      <a:pPr algn="ctr"/>
                      <a:r>
                        <a:rPr sz="2000" b="0">
                          <a:solidFill>
                            <a:srgbClr val="1F2933"/>
                          </a:solidFill>
                          <a:latin typeface="Be Vietnam Pro"/>
                        </a:rPr>
                        <a:t>train</a:t>
                      </a:r>
                    </a:p>
                  </a:txBody>
                  <a:tcPr anchor="ctr" marL="114300" marR="114300">
                    <a:solidFill>
                      <a:srgbClr val="EEF0F2"/>
                    </a:solidFill>
                  </a:tcPr>
                </a:tc>
                <a:tc>
                  <a:txBody>
                    <a:bodyPr/>
                    <a:lstStyle/>
                    <a:p>
                      <a:pPr algn="ctr"/>
                      <a:r>
                        <a:rPr sz="2000" b="0">
                          <a:solidFill>
                            <a:srgbClr val="1F2933"/>
                          </a:solidFill>
                          <a:latin typeface="Be Vietnam Pro"/>
                        </a:rPr>
                        <a:t>train</a:t>
                      </a:r>
                    </a:p>
                  </a:txBody>
                  <a:tcPr anchor="ctr" marL="114300" marR="114300">
                    <a:solidFill>
                      <a:srgbClr val="EEF0F2"/>
                    </a:solidFill>
                  </a:tcPr>
                </a:tc>
                <a:tc>
                  <a:txBody>
                    <a:bodyPr/>
                    <a:lstStyle/>
                    <a:p>
                      <a:pPr algn="ctr"/>
                      <a:r>
                        <a:rPr sz="2000" b="0">
                          <a:solidFill>
                            <a:srgbClr val="1F2933"/>
                          </a:solidFill>
                          <a:latin typeface="Be Vietnam Pro"/>
                        </a:rPr>
                        <a:t>train</a:t>
                      </a:r>
                    </a:p>
                  </a:txBody>
                  <a:tcPr anchor="ctr" marL="114300" marR="114300">
                    <a:solidFill>
                      <a:srgbClr val="EEF0F2"/>
                    </a:solidFill>
                  </a:tcPr>
                </a:tc>
                <a:tc>
                  <a:txBody>
                    <a:bodyPr/>
                    <a:lstStyle/>
                    <a:p>
                      <a:pPr algn="ctr"/>
                      <a:r>
                        <a:rPr sz="2000" b="1">
                          <a:solidFill>
                            <a:srgbClr val="1F2933"/>
                          </a:solidFill>
                          <a:latin typeface="Be Vietnam Pro"/>
                        </a:rPr>
                        <a:t>val</a:t>
                      </a:r>
                    </a:p>
                  </a:txBody>
                  <a:tcPr anchor="ctr" marL="114300" marR="114300">
                    <a:solidFill>
                      <a:srgbClr val="EEF0F2"/>
                    </a:solidFill>
                  </a:tcPr>
                </a:tc>
                <a:tc>
                  <a:txBody>
                    <a:bodyPr/>
                    <a:lstStyle/>
                    <a:p>
                      <a:pPr algn="ctr"/>
                      <a:r>
                        <a:rPr sz="2000" b="0">
                          <a:solidFill>
                            <a:srgbClr val="1F2933"/>
                          </a:solidFill>
                          <a:latin typeface="Be Vietnam Pro"/>
                        </a:rPr>
                        <a:t>train</a:t>
                      </a:r>
                    </a:p>
                  </a:txBody>
                  <a:tcPr anchor="ctr" marL="114300" marR="114300">
                    <a:solidFill>
                      <a:srgbClr val="EEF0F2"/>
                    </a:solidFill>
                  </a:tcPr>
                </a:tc>
                <a:tc>
                  <a:txBody>
                    <a:bodyPr/>
                    <a:lstStyle/>
                    <a:p>
                      <a:pPr algn="ctr"/>
                      <a:r>
                        <a:rPr sz="2000" b="0">
                          <a:solidFill>
                            <a:srgbClr val="1F2933"/>
                          </a:solidFill>
                          <a:latin typeface="Be Vietnam Pro"/>
                        </a:rPr>
                        <a:t>train</a:t>
                      </a:r>
                    </a:p>
                  </a:txBody>
                  <a:tcPr anchor="ctr" marL="114300" marR="114300">
                    <a:solidFill>
                      <a:srgbClr val="EEF0F2"/>
                    </a:solidFill>
                  </a:tcPr>
                </a:tc>
              </a:tr>
            </a:tbl>
          </a:graphicData>
        </a:graphic>
      </p:graphicFrame>
      <p:sp>
        <p:nvSpPr>
          <p:cNvPr id="7" name="TextBox 6"/>
          <p:cNvSpPr txBox="1"/>
          <p:nvPr/>
        </p:nvSpPr>
        <p:spPr>
          <a:xfrm>
            <a:off x="1143000" y="7391400"/>
            <a:ext cx="16002000" cy="952500"/>
          </a:xfrm>
          <a:prstGeom prst="rect">
            <a:avLst/>
          </a:prstGeom>
          <a:noFill/>
        </p:spPr>
        <p:txBody>
          <a:bodyPr wrap="square" anchor="t" lIns="0" rIns="0" tIns="0" bIns="0">
            <a:spAutoFit/>
          </a:bodyPr>
          <a:lstStyle/>
          <a:p>
            <a:pPr algn="l">
              <a:spcAft>
                <a:spcPts val="0"/>
              </a:spcAft>
            </a:pPr>
            <a:r>
              <a:rPr sz="2000" b="0" i="0">
                <a:solidFill>
                  <a:srgbClr val="1F2933"/>
                </a:solidFill>
                <a:latin typeface="Be Vietnam Pro"/>
              </a:rPr>
              <a:t>Sequences 11–21 have no public labels, so no labelled sequence is left as a separate test set. For completion, every sequence is evaluation only: PCN trains on synthetic ShapeNet.</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10" name="TextBox 9"/>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3.1.2 TARGET ELIGIBILITY AND GROUND TRUTH</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A car is scored only if enough of its points survive preprocessing.</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eligibility rule + example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43000" y="2857500"/>
            <a:ext cx="16002000" cy="3810000"/>
          </a:xfrm>
          <a:prstGeom prst="rect">
            <a:avLst/>
          </a:prstGeom>
          <a:noFill/>
        </p:spPr>
        <p:txBody>
          <a:bodyPr wrap="square" anchor="ctr" lIns="0" rIns="0" tIns="0" bIns="0">
            <a:spAutoFit/>
          </a:bodyPr>
          <a:lstStyle/>
          <a:p>
            <a:pPr algn="ctr">
              <a:spcAft>
                <a:spcPts val="1200"/>
              </a:spcAft>
            </a:pPr>
            <a:r>
              <a:rPr sz="4400" b="1" i="0">
                <a:solidFill>
                  <a:srgbClr val="1F2933"/>
                </a:solidFill>
                <a:latin typeface="Be Vietnam Pro"/>
              </a:rPr>
              <a:t>3.2 EXPERIMENTAL SETUP</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3.2.1 BASELINES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Detection stages are compared by ablation, not against supervised detectors; completion is compared with the raw partial, a dense reference, and PoinTr.</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table: tab:positioning (why no head-to-head) + completion references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3.2.2 METRICS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Detections are matched to real cars by point overlap (IoU); completions are scored by an independent car classifier.</a:t>
            </a:r>
          </a:p>
        </p:txBody>
      </p:sp>
      <p:sp>
        <p:nvSpPr>
          <p:cNvPr id="4" name="Rectangle 3"/>
          <p:cNvSpPr/>
          <p:nvPr/>
        </p:nvSpPr>
        <p:spPr>
          <a:xfrm>
            <a:off x="1143000" y="2095500"/>
            <a:ext cx="78105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74295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detection metrics: IoU matching ]</a:t>
            </a:r>
          </a:p>
        </p:txBody>
      </p:sp>
      <p:sp>
        <p:nvSpPr>
          <p:cNvPr id="6" name="Rectangle 5"/>
          <p:cNvSpPr/>
          <p:nvPr/>
        </p:nvSpPr>
        <p:spPr>
          <a:xfrm>
            <a:off x="9334500" y="2095500"/>
            <a:ext cx="78105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525000" y="2095500"/>
            <a:ext cx="74295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completion metric: plausibility ]</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10" name="TextBox 9"/>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3.2.3 DATA SPLIT: LEAVE-ONE-SEQUENCE-OUT</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Train on ten sequences, test on the eleventh, and repeat for every sequence.</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LOSO diagram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43000" y="2857500"/>
            <a:ext cx="16002000" cy="3810000"/>
          </a:xfrm>
          <a:prstGeom prst="rect">
            <a:avLst/>
          </a:prstGeom>
          <a:noFill/>
        </p:spPr>
        <p:txBody>
          <a:bodyPr wrap="square" anchor="ctr" lIns="0" rIns="0" tIns="0" bIns="0">
            <a:spAutoFit/>
          </a:bodyPr>
          <a:lstStyle/>
          <a:p>
            <a:pPr algn="ctr">
              <a:spcAft>
                <a:spcPts val="1200"/>
              </a:spcAft>
            </a:pPr>
            <a:r>
              <a:rPr sz="4400" b="1" i="0">
                <a:solidFill>
                  <a:srgbClr val="1F2933"/>
                </a:solidFill>
                <a:latin typeface="Be Vietnam Pro"/>
              </a:rPr>
              <a:t>3.3 DETECTION RESULTS</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3.3.1 OVERALL DETECTION RESULTS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F1 0.812 on seq 08 (0.793 cross-validated), and each stage has a measurable job.</a:t>
            </a:r>
          </a:p>
        </p:txBody>
      </p:sp>
      <p:pic>
        <p:nvPicPr>
          <p:cNvPr id="4" name="Picture 3" descr="d9_stage_funnel.png"/>
          <p:cNvPicPr>
            <a:picLocks noChangeAspect="1"/>
          </p:cNvPicPr>
          <p:nvPr/>
        </p:nvPicPr>
        <p:blipFill>
          <a:blip r:embed="rId2"/>
          <a:stretch>
            <a:fillRect/>
          </a:stretch>
        </p:blipFill>
        <p:spPr>
          <a:xfrm>
            <a:off x="1143000" y="2199070"/>
            <a:ext cx="9060180" cy="6841360"/>
          </a:xfrm>
          <a:prstGeom prst="rect">
            <a:avLst/>
          </a:prstGeom>
        </p:spPr>
      </p:pic>
      <p:sp>
        <p:nvSpPr>
          <p:cNvPr id="5" name="TextBox 4"/>
          <p:cNvSpPr txBox="1"/>
          <p:nvPr/>
        </p:nvSpPr>
        <p:spPr>
          <a:xfrm>
            <a:off x="10584180" y="2476500"/>
            <a:ext cx="6560820" cy="476250"/>
          </a:xfrm>
          <a:prstGeom prst="rect">
            <a:avLst/>
          </a:prstGeom>
          <a:noFill/>
        </p:spPr>
        <p:txBody>
          <a:bodyPr wrap="square" anchor="t" lIns="0" rIns="0" tIns="0" bIns="0">
            <a:spAutoFit/>
          </a:bodyPr>
          <a:lstStyle/>
          <a:p>
            <a:pPr algn="l">
              <a:spcAft>
                <a:spcPts val="0"/>
              </a:spcAft>
            </a:pPr>
            <a:r>
              <a:rPr sz="2400" b="1" i="0">
                <a:solidFill>
                  <a:srgbClr val="1F2933"/>
                </a:solidFill>
                <a:latin typeface="Be Vietnam Pro"/>
              </a:rPr>
              <a:t>Detection results</a:t>
            </a:r>
          </a:p>
        </p:txBody>
      </p:sp>
      <p:graphicFrame>
        <p:nvGraphicFramePr>
          <p:cNvPr id="6" name="Table 5"/>
          <p:cNvGraphicFramePr>
            <a:graphicFrameLocks noGrp="1"/>
          </p:cNvGraphicFramePr>
          <p:nvPr/>
        </p:nvGraphicFramePr>
        <p:xfrm>
          <a:off x="10584180" y="3143250"/>
          <a:ext cx="6560820" cy="2228850"/>
        </p:xfrm>
        <a:graphic>
          <a:graphicData uri="http://schemas.openxmlformats.org/drawingml/2006/table">
            <a:tbl>
              <a:tblPr firstRow="1" bandRow="1">
                <a:tableStyleId>{5C22544A-7EE6-4342-B048-85BDC9FD1C3A}</a:tableStyleId>
              </a:tblPr>
              <a:tblGrid>
                <a:gridCol w="2862903"/>
                <a:gridCol w="1431452"/>
                <a:gridCol w="1192876"/>
                <a:gridCol w="1073589"/>
              </a:tblGrid>
              <a:tr h="742950">
                <a:tc>
                  <a:txBody>
                    <a:bodyPr/>
                    <a:lstStyle/>
                    <a:p>
                      <a:pPr algn="l"/>
                      <a:r>
                        <a:rPr sz="2100" b="1">
                          <a:solidFill>
                            <a:srgbClr val="FFFFFF"/>
                          </a:solidFill>
                          <a:latin typeface="Be Vietnam Pro"/>
                        </a:rPr>
                        <a:t/>
                      </a:r>
                    </a:p>
                  </a:txBody>
                  <a:tcPr anchor="ctr" marL="114300" marR="114300">
                    <a:solidFill>
                      <a:srgbClr val="1F2933"/>
                    </a:solidFill>
                  </a:tcPr>
                </a:tc>
                <a:tc>
                  <a:txBody>
                    <a:bodyPr/>
                    <a:lstStyle/>
                    <a:p>
                      <a:pPr algn="ctr"/>
                      <a:r>
                        <a:rPr sz="2100" b="1">
                          <a:solidFill>
                            <a:srgbClr val="FFFFFF"/>
                          </a:solidFill>
                          <a:latin typeface="Be Vietnam Pro"/>
                        </a:rPr>
                        <a:t>Precision</a:t>
                      </a:r>
                    </a:p>
                  </a:txBody>
                  <a:tcPr anchor="ctr" marL="114300" marR="114300">
                    <a:solidFill>
                      <a:srgbClr val="1F2933"/>
                    </a:solidFill>
                  </a:tcPr>
                </a:tc>
                <a:tc>
                  <a:txBody>
                    <a:bodyPr/>
                    <a:lstStyle/>
                    <a:p>
                      <a:pPr algn="ctr"/>
                      <a:r>
                        <a:rPr sz="2100" b="1">
                          <a:solidFill>
                            <a:srgbClr val="FFFFFF"/>
                          </a:solidFill>
                          <a:latin typeface="Be Vietnam Pro"/>
                        </a:rPr>
                        <a:t>Recall</a:t>
                      </a:r>
                    </a:p>
                  </a:txBody>
                  <a:tcPr anchor="ctr" marL="114300" marR="114300">
                    <a:solidFill>
                      <a:srgbClr val="1F2933"/>
                    </a:solidFill>
                  </a:tcPr>
                </a:tc>
                <a:tc>
                  <a:txBody>
                    <a:bodyPr/>
                    <a:lstStyle/>
                    <a:p>
                      <a:pPr algn="ctr"/>
                      <a:r>
                        <a:rPr sz="2100" b="1">
                          <a:solidFill>
                            <a:srgbClr val="FFFFFF"/>
                          </a:solidFill>
                          <a:latin typeface="Be Vietnam Pro"/>
                        </a:rPr>
                        <a:t>F1</a:t>
                      </a:r>
                    </a:p>
                  </a:txBody>
                  <a:tcPr anchor="ctr" marL="114300" marR="114300">
                    <a:solidFill>
                      <a:srgbClr val="1F2933"/>
                    </a:solidFill>
                  </a:tcPr>
                </a:tc>
              </a:tr>
              <a:tr h="742950">
                <a:tc>
                  <a:txBody>
                    <a:bodyPr/>
                    <a:lstStyle/>
                    <a:p>
                      <a:pPr algn="l"/>
                      <a:r>
                        <a:rPr sz="2100" b="1">
                          <a:solidFill>
                            <a:srgbClr val="1F2933"/>
                          </a:solidFill>
                          <a:latin typeface="Be Vietnam Pro"/>
                        </a:rPr>
                        <a:t>Seq 08</a:t>
                      </a:r>
                    </a:p>
                  </a:txBody>
                  <a:tcPr anchor="ctr" marL="114300" marR="114300">
                    <a:solidFill>
                      <a:srgbClr val="FFFFFF"/>
                    </a:solidFill>
                  </a:tcPr>
                </a:tc>
                <a:tc>
                  <a:txBody>
                    <a:bodyPr/>
                    <a:lstStyle/>
                    <a:p>
                      <a:pPr algn="ctr"/>
                      <a:r>
                        <a:rPr sz="2100" b="1">
                          <a:solidFill>
                            <a:srgbClr val="1F2933"/>
                          </a:solidFill>
                          <a:latin typeface="Be Vietnam Pro"/>
                        </a:rPr>
                        <a:t>0.911</a:t>
                      </a:r>
                    </a:p>
                  </a:txBody>
                  <a:tcPr anchor="ctr" marL="114300" marR="114300">
                    <a:solidFill>
                      <a:srgbClr val="FFFFFF"/>
                    </a:solidFill>
                  </a:tcPr>
                </a:tc>
                <a:tc>
                  <a:txBody>
                    <a:bodyPr/>
                    <a:lstStyle/>
                    <a:p>
                      <a:pPr algn="ctr"/>
                      <a:r>
                        <a:rPr sz="2100" b="1">
                          <a:solidFill>
                            <a:srgbClr val="1F2933"/>
                          </a:solidFill>
                          <a:latin typeface="Be Vietnam Pro"/>
                        </a:rPr>
                        <a:t>0.732</a:t>
                      </a:r>
                    </a:p>
                  </a:txBody>
                  <a:tcPr anchor="ctr" marL="114300" marR="114300">
                    <a:solidFill>
                      <a:srgbClr val="FFFFFF"/>
                    </a:solidFill>
                  </a:tcPr>
                </a:tc>
                <a:tc>
                  <a:txBody>
                    <a:bodyPr/>
                    <a:lstStyle/>
                    <a:p>
                      <a:pPr algn="ctr"/>
                      <a:r>
                        <a:rPr sz="2100" b="1">
                          <a:solidFill>
                            <a:srgbClr val="1F2933"/>
                          </a:solidFill>
                          <a:latin typeface="Be Vietnam Pro"/>
                        </a:rPr>
                        <a:t>0.812</a:t>
                      </a:r>
                    </a:p>
                  </a:txBody>
                  <a:tcPr anchor="ctr" marL="114300" marR="114300">
                    <a:solidFill>
                      <a:srgbClr val="FFFFFF"/>
                    </a:solidFill>
                  </a:tcPr>
                </a:tc>
              </a:tr>
              <a:tr h="742950">
                <a:tc>
                  <a:txBody>
                    <a:bodyPr/>
                    <a:lstStyle/>
                    <a:p>
                      <a:pPr algn="l"/>
                      <a:r>
                        <a:rPr sz="2100" b="0">
                          <a:solidFill>
                            <a:srgbClr val="1F2933"/>
                          </a:solidFill>
                          <a:latin typeface="Be Vietnam Pro"/>
                        </a:rPr>
                        <a:t>All 11 sequences</a:t>
                      </a:r>
                    </a:p>
                  </a:txBody>
                  <a:tcPr anchor="ctr" marL="114300" marR="114300">
                    <a:solidFill>
                      <a:srgbClr val="EEF0F2"/>
                    </a:solidFill>
                  </a:tcPr>
                </a:tc>
                <a:tc>
                  <a:txBody>
                    <a:bodyPr/>
                    <a:lstStyle/>
                    <a:p>
                      <a:pPr algn="ctr"/>
                      <a:r>
                        <a:rPr sz="2100" b="0">
                          <a:solidFill>
                            <a:srgbClr val="1F2933"/>
                          </a:solidFill>
                          <a:latin typeface="Be Vietnam Pro"/>
                        </a:rPr>
                        <a:t>0.888</a:t>
                      </a:r>
                    </a:p>
                  </a:txBody>
                  <a:tcPr anchor="ctr" marL="114300" marR="114300">
                    <a:solidFill>
                      <a:srgbClr val="EEF0F2"/>
                    </a:solidFill>
                  </a:tcPr>
                </a:tc>
                <a:tc>
                  <a:txBody>
                    <a:bodyPr/>
                    <a:lstStyle/>
                    <a:p>
                      <a:pPr algn="ctr"/>
                      <a:r>
                        <a:rPr sz="2100" b="0">
                          <a:solidFill>
                            <a:srgbClr val="1F2933"/>
                          </a:solidFill>
                          <a:latin typeface="Be Vietnam Pro"/>
                        </a:rPr>
                        <a:t>0.717</a:t>
                      </a:r>
                    </a:p>
                  </a:txBody>
                  <a:tcPr anchor="ctr" marL="114300" marR="114300">
                    <a:solidFill>
                      <a:srgbClr val="EEF0F2"/>
                    </a:solidFill>
                  </a:tcPr>
                </a:tc>
                <a:tc>
                  <a:txBody>
                    <a:bodyPr/>
                    <a:lstStyle/>
                    <a:p>
                      <a:pPr algn="ctr"/>
                      <a:r>
                        <a:rPr sz="2100" b="0">
                          <a:solidFill>
                            <a:srgbClr val="1F2933"/>
                          </a:solidFill>
                          <a:latin typeface="Be Vietnam Pro"/>
                        </a:rPr>
                        <a:t>0.793</a:t>
                      </a:r>
                    </a:p>
                  </a:txBody>
                  <a:tcPr anchor="ctr" marL="114300" marR="114300">
                    <a:solidFill>
                      <a:srgbClr val="EEF0F2"/>
                    </a:solidFill>
                  </a:tcPr>
                </a:tc>
              </a:tr>
            </a:tbl>
          </a:graphicData>
        </a:graphic>
      </p:graphicFrame>
      <p:sp>
        <p:nvSpPr>
          <p:cNvPr id="7" name="TextBox 6"/>
          <p:cNvSpPr txBox="1"/>
          <p:nvPr/>
        </p:nvSpPr>
        <p:spPr>
          <a:xfrm>
            <a:off x="10584180" y="5600700"/>
            <a:ext cx="6560820" cy="1905000"/>
          </a:xfrm>
          <a:prstGeom prst="rect">
            <a:avLst/>
          </a:prstGeom>
          <a:noFill/>
        </p:spPr>
        <p:txBody>
          <a:bodyPr wrap="square" anchor="t" lIns="0" rIns="0" tIns="0" bIns="0">
            <a:spAutoFit/>
          </a:bodyPr>
          <a:lstStyle/>
          <a:p>
            <a:pPr algn="l">
              <a:spcAft>
                <a:spcPts val="1000"/>
              </a:spcAft>
            </a:pPr>
            <a:r>
              <a:rPr sz="2100" b="0" i="0">
                <a:solidFill>
                  <a:srgbClr val="1F2933"/>
                </a:solidFill>
                <a:latin typeface="Be Vietnam Pro"/>
              </a:rPr>
              <a:t>All 11 sequences are cross-validated: each is scored by a classifier trained without it.</a:t>
            </a:r>
          </a:p>
          <a:p>
            <a:pPr algn="l">
              <a:spcAft>
                <a:spcPts val="1000"/>
              </a:spcAft>
            </a:pPr>
            <a:r>
              <a:rPr sz="2100" b="0" i="0">
                <a:solidFill>
                  <a:srgbClr val="1F2933"/>
                </a:solidFill>
                <a:latin typeface="Be Vietnam Pro"/>
              </a:rPr>
              <a:t>Within about 2 points of seq 08 on every metric.</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10" name="TextBox 9"/>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3.3.2 DETECTIONS ON A REAL FRAME</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One seq-08 frame: found cars, false detections and missed cars.</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thesis seq08_bev_detections.png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3.3.3 WHAT LIMITS RECALL</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Clustering splits cars into fragments; the classifier is not the limit.</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D10 = thesis seq08_failure_zooms.png, frame-250 row (split car)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3.3.4 ACCURACY VS RANGE</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Recall falls with distance as cars get sparser.</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table: accuracy by distance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3.3.5 DETECTION RESULT ANALYSIS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What each detection stage contributes, and where it fails.</a:t>
            </a:r>
          </a:p>
        </p:txBody>
      </p:sp>
      <p:sp>
        <p:nvSpPr>
          <p:cNvPr id="4" name="Rectangle 3"/>
          <p:cNvSpPr/>
          <p:nvPr/>
        </p:nvSpPr>
        <p:spPr>
          <a:xfrm>
            <a:off x="1143000" y="2095500"/>
            <a:ext cx="5080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4699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geometric filter ]</a:t>
            </a:r>
          </a:p>
        </p:txBody>
      </p:sp>
      <p:sp>
        <p:nvSpPr>
          <p:cNvPr id="6" name="Rectangle 5"/>
          <p:cNvSpPr/>
          <p:nvPr/>
        </p:nvSpPr>
        <p:spPr>
          <a:xfrm>
            <a:off x="6604000" y="2095500"/>
            <a:ext cx="5080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794500" y="2095500"/>
            <a:ext cx="4699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classifier ]</a:t>
            </a:r>
          </a:p>
        </p:txBody>
      </p:sp>
      <p:sp>
        <p:nvSpPr>
          <p:cNvPr id="8" name="Rectangle 7"/>
          <p:cNvSpPr/>
          <p:nvPr/>
        </p:nvSpPr>
        <p:spPr>
          <a:xfrm>
            <a:off x="12065000" y="2095500"/>
            <a:ext cx="5080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255500" y="2095500"/>
            <a:ext cx="4699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track filter ]</a:t>
            </a:r>
          </a:p>
        </p:txBody>
      </p:sp>
      <p:sp>
        <p:nvSpPr>
          <p:cNvPr id="10" name="Rectangle 9"/>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12" name="TextBox 11"/>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43000" y="2857500"/>
            <a:ext cx="16002000" cy="3810000"/>
          </a:xfrm>
          <a:prstGeom prst="rect">
            <a:avLst/>
          </a:prstGeom>
          <a:noFill/>
        </p:spPr>
        <p:txBody>
          <a:bodyPr wrap="square" anchor="ctr" lIns="0" rIns="0" tIns="0" bIns="0">
            <a:spAutoFit/>
          </a:bodyPr>
          <a:lstStyle/>
          <a:p>
            <a:pPr algn="ctr">
              <a:spcAft>
                <a:spcPts val="1200"/>
              </a:spcAft>
            </a:pPr>
            <a:r>
              <a:rPr sz="4400" b="1" i="0">
                <a:solidFill>
                  <a:srgbClr val="1F2933"/>
                </a:solidFill>
                <a:latin typeface="Be Vietnam Pro"/>
              </a:rPr>
              <a:t>3.4 COMPLETION RESULTS</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3.4.1 JUDGING COMPLETION WITHOUT GROUND TRUTH</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Distance metrics reward doing nothing, so an independent judge decides whether each output looks like a car.</a:t>
            </a:r>
          </a:p>
        </p:txBody>
      </p:sp>
      <p:sp>
        <p:nvSpPr>
          <p:cNvPr id="4" name="Rectangle 3"/>
          <p:cNvSpPr/>
          <p:nvPr/>
        </p:nvSpPr>
        <p:spPr>
          <a:xfrm>
            <a:off x="1143000" y="2095500"/>
            <a:ext cx="78105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74295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D12 judge schematic ]</a:t>
            </a:r>
          </a:p>
        </p:txBody>
      </p:sp>
      <p:sp>
        <p:nvSpPr>
          <p:cNvPr id="6" name="Rectangle 5"/>
          <p:cNvSpPr/>
          <p:nvPr/>
        </p:nvSpPr>
        <p:spPr>
          <a:xfrm>
            <a:off x="9334500" y="2095500"/>
            <a:ext cx="78105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525000" y="2095500"/>
            <a:ext cx="74295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acceptance bar chart ]</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10" name="TextBox 9"/>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3.4.2 COMPLETION EXAMPLES: RAW VS COMPLETED</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The same real cars before and after completion.</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thesis completion_shape_08.png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3.4.3 SYNTHETIC FIDELITY</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On held-out synthetic cars, the network reproduces the complete shape.</a:t>
            </a:r>
          </a:p>
        </p:txBody>
      </p:sp>
      <p:sp>
        <p:nvSpPr>
          <p:cNvPr id="4" name="Rectangle 3"/>
          <p:cNvSpPr/>
          <p:nvPr/>
        </p:nvSpPr>
        <p:spPr>
          <a:xfrm>
            <a:off x="1143000" y="2095500"/>
            <a:ext cx="78105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74295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synthetic examples ]</a:t>
            </a:r>
          </a:p>
        </p:txBody>
      </p:sp>
      <p:sp>
        <p:nvSpPr>
          <p:cNvPr id="6" name="Rectangle 5"/>
          <p:cNvSpPr/>
          <p:nvPr/>
        </p:nvSpPr>
        <p:spPr>
          <a:xfrm>
            <a:off x="9334500" y="2095500"/>
            <a:ext cx="78105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525000" y="2095500"/>
            <a:ext cx="74295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CD and F-score ]</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10" name="TextBox 9"/>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3.4.4 PLAUSIBILITY ROBUSTNESS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The plausibility gain holds on every sequence, for moving cars, and under a heading flip.</a:t>
            </a:r>
          </a:p>
        </p:txBody>
      </p:sp>
      <p:sp>
        <p:nvSpPr>
          <p:cNvPr id="4" name="Rectangle 3"/>
          <p:cNvSpPr/>
          <p:nvPr/>
        </p:nvSpPr>
        <p:spPr>
          <a:xfrm>
            <a:off x="1143000" y="2095500"/>
            <a:ext cx="78105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74295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table: per-sequence plausibility ]</a:t>
            </a:r>
          </a:p>
        </p:txBody>
      </p:sp>
      <p:sp>
        <p:nvSpPr>
          <p:cNvPr id="6" name="Rectangle 5"/>
          <p:cNvSpPr/>
          <p:nvPr/>
        </p:nvSpPr>
        <p:spPr>
          <a:xfrm>
            <a:off x="9334500" y="2095500"/>
            <a:ext cx="78105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525000" y="2095500"/>
            <a:ext cx="74295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movers / flip / McNemar ]</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10" name="TextBox 9"/>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3.4.5 COMPLETION RESULT ANALYSIS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Where completion helps, and where it stays flat.</a:t>
            </a:r>
          </a:p>
        </p:txBody>
      </p:sp>
      <p:sp>
        <p:nvSpPr>
          <p:cNvPr id="4" name="Rectangle 3"/>
          <p:cNvSpPr/>
          <p:nvPr/>
        </p:nvSpPr>
        <p:spPr>
          <a:xfrm>
            <a:off x="1143000" y="2095500"/>
            <a:ext cx="5080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4699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strengths ]</a:t>
            </a:r>
          </a:p>
        </p:txBody>
      </p:sp>
      <p:sp>
        <p:nvSpPr>
          <p:cNvPr id="6" name="Rectangle 5"/>
          <p:cNvSpPr/>
          <p:nvPr/>
        </p:nvSpPr>
        <p:spPr>
          <a:xfrm>
            <a:off x="6604000" y="2095500"/>
            <a:ext cx="5080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794500" y="2095500"/>
            <a:ext cx="4699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limitations ]</a:t>
            </a:r>
          </a:p>
        </p:txBody>
      </p:sp>
      <p:sp>
        <p:nvSpPr>
          <p:cNvPr id="8" name="Rectangle 7"/>
          <p:cNvSpPr/>
          <p:nvPr/>
        </p:nvSpPr>
        <p:spPr>
          <a:xfrm>
            <a:off x="12065000" y="2095500"/>
            <a:ext cx="5080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255500" y="2095500"/>
            <a:ext cx="4699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vs dense reference ]</a:t>
            </a:r>
          </a:p>
        </p:txBody>
      </p:sp>
      <p:sp>
        <p:nvSpPr>
          <p:cNvPr id="10" name="Rectangle 9"/>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12" name="TextBox 11"/>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43000" y="2857500"/>
            <a:ext cx="16002000" cy="3810000"/>
          </a:xfrm>
          <a:prstGeom prst="rect">
            <a:avLst/>
          </a:prstGeom>
          <a:noFill/>
        </p:spPr>
        <p:txBody>
          <a:bodyPr wrap="square" anchor="ctr" lIns="0" rIns="0" tIns="0" bIns="0">
            <a:spAutoFit/>
          </a:bodyPr>
          <a:lstStyle/>
          <a:p>
            <a:pPr algn="ctr">
              <a:spcAft>
                <a:spcPts val="1200"/>
              </a:spcAft>
            </a:pPr>
            <a:r>
              <a:rPr sz="4400" b="1" i="0">
                <a:solidFill>
                  <a:srgbClr val="1F2933"/>
                </a:solidFill>
                <a:latin typeface="Be Vietnam Pro"/>
              </a:rPr>
              <a:t>3.5 RUNTIME EVALUATION</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3.5.1 RUNTIME BY STAGE</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The pipeline runs offline; the classical CPU stages dominate the time per scan.</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table: runtime per stage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3.5.2 RUNTIME OPTIMISATION</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Fewer RANSAC iterations and a coarser clustering voxel cut the time per scan by about a third.</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before vs after optimisation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43000" y="2857500"/>
            <a:ext cx="16002000" cy="3810000"/>
          </a:xfrm>
          <a:prstGeom prst="rect">
            <a:avLst/>
          </a:prstGeom>
          <a:noFill/>
        </p:spPr>
        <p:txBody>
          <a:bodyPr wrap="square" anchor="ctr" lIns="0" rIns="0" tIns="0" bIns="0">
            <a:spAutoFit/>
          </a:bodyPr>
          <a:lstStyle/>
          <a:p>
            <a:pPr algn="ctr">
              <a:spcAft>
                <a:spcPts val="1200"/>
              </a:spcAft>
            </a:pPr>
            <a:r>
              <a:rPr sz="4400" b="1" i="0">
                <a:solidFill>
                  <a:srgbClr val="1F2933"/>
                </a:solidFill>
                <a:latin typeface="Be Vietnam Pro"/>
              </a:rPr>
              <a:t>3.6 ABLATION STUDY</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3.6.1 STAGE ABLATION</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Adding one filtering stage at a time shows what each contributes.</a:t>
            </a:r>
          </a:p>
        </p:txBody>
      </p:sp>
      <p:graphicFrame>
        <p:nvGraphicFramePr>
          <p:cNvPr id="4" name="Table 3"/>
          <p:cNvGraphicFramePr>
            <a:graphicFrameLocks noGrp="1"/>
          </p:cNvGraphicFramePr>
          <p:nvPr/>
        </p:nvGraphicFramePr>
        <p:xfrm>
          <a:off x="1143000" y="2476500"/>
          <a:ext cx="16002000" cy="3048000"/>
        </p:xfrm>
        <a:graphic>
          <a:graphicData uri="http://schemas.openxmlformats.org/drawingml/2006/table">
            <a:tbl>
              <a:tblPr firstRow="1" bandRow="1">
                <a:tableStyleId>{5C22544A-7EE6-4342-B048-85BDC9FD1C3A}</a:tableStyleId>
              </a:tblPr>
              <a:tblGrid>
                <a:gridCol w="4089400"/>
                <a:gridCol w="1955800"/>
                <a:gridCol w="1778000"/>
                <a:gridCol w="1600200"/>
                <a:gridCol w="1955800"/>
                <a:gridCol w="4622800"/>
              </a:tblGrid>
              <a:tr h="762000">
                <a:tc>
                  <a:txBody>
                    <a:bodyPr/>
                    <a:lstStyle/>
                    <a:p>
                      <a:pPr algn="l"/>
                      <a:r>
                        <a:rPr sz="2400" b="1">
                          <a:solidFill>
                            <a:srgbClr val="FFFFFF"/>
                          </a:solidFill>
                          <a:latin typeface="Be Vietnam Pro"/>
                        </a:rPr>
                        <a:t>Configuration</a:t>
                      </a:r>
                    </a:p>
                  </a:txBody>
                  <a:tcPr anchor="ctr" marL="114300" marR="114300">
                    <a:solidFill>
                      <a:srgbClr val="1F2933"/>
                    </a:solidFill>
                  </a:tcPr>
                </a:tc>
                <a:tc>
                  <a:txBody>
                    <a:bodyPr/>
                    <a:lstStyle/>
                    <a:p>
                      <a:pPr algn="ctr"/>
                      <a:r>
                        <a:rPr sz="2400" b="1">
                          <a:solidFill>
                            <a:srgbClr val="FFFFFF"/>
                          </a:solidFill>
                          <a:latin typeface="Be Vietnam Pro"/>
                        </a:rPr>
                        <a:t>Precision</a:t>
                      </a:r>
                    </a:p>
                  </a:txBody>
                  <a:tcPr anchor="ctr" marL="114300" marR="114300">
                    <a:solidFill>
                      <a:srgbClr val="1F2933"/>
                    </a:solidFill>
                  </a:tcPr>
                </a:tc>
                <a:tc>
                  <a:txBody>
                    <a:bodyPr/>
                    <a:lstStyle/>
                    <a:p>
                      <a:pPr algn="ctr"/>
                      <a:r>
                        <a:rPr sz="2400" b="1">
                          <a:solidFill>
                            <a:srgbClr val="FFFFFF"/>
                          </a:solidFill>
                          <a:latin typeface="Be Vietnam Pro"/>
                        </a:rPr>
                        <a:t>Recall</a:t>
                      </a:r>
                    </a:p>
                  </a:txBody>
                  <a:tcPr anchor="ctr" marL="114300" marR="114300">
                    <a:solidFill>
                      <a:srgbClr val="1F2933"/>
                    </a:solidFill>
                  </a:tcPr>
                </a:tc>
                <a:tc>
                  <a:txBody>
                    <a:bodyPr/>
                    <a:lstStyle/>
                    <a:p>
                      <a:pPr algn="ctr"/>
                      <a:r>
                        <a:rPr sz="2400" b="1">
                          <a:solidFill>
                            <a:srgbClr val="FFFFFF"/>
                          </a:solidFill>
                          <a:latin typeface="Be Vietnam Pro"/>
                        </a:rPr>
                        <a:t>F1</a:t>
                      </a:r>
                    </a:p>
                  </a:txBody>
                  <a:tcPr anchor="ctr" marL="114300" marR="114300">
                    <a:solidFill>
                      <a:srgbClr val="1F2933"/>
                    </a:solidFill>
                  </a:tcPr>
                </a:tc>
                <a:tc>
                  <a:txBody>
                    <a:bodyPr/>
                    <a:lstStyle/>
                    <a:p>
                      <a:pPr algn="ctr"/>
                      <a:r>
                        <a:rPr sz="2400" b="1">
                          <a:solidFill>
                            <a:srgbClr val="FFFFFF"/>
                          </a:solidFill>
                          <a:latin typeface="Be Vietnam Pro"/>
                        </a:rPr>
                        <a:t>Mean IoU</a:t>
                      </a:r>
                    </a:p>
                  </a:txBody>
                  <a:tcPr anchor="ctr" marL="114300" marR="114300">
                    <a:solidFill>
                      <a:srgbClr val="1F2933"/>
                    </a:solidFill>
                  </a:tcPr>
                </a:tc>
                <a:tc>
                  <a:txBody>
                    <a:bodyPr/>
                    <a:lstStyle/>
                    <a:p>
                      <a:pPr algn="ctr"/>
                      <a:r>
                        <a:rPr sz="2400" b="1">
                          <a:solidFill>
                            <a:srgbClr val="FFFFFF"/>
                          </a:solidFill>
                          <a:latin typeface="Be Vietnam Pro"/>
                        </a:rPr>
                        <a:t>TP / FP / FN</a:t>
                      </a:r>
                    </a:p>
                  </a:txBody>
                  <a:tcPr anchor="ctr" marL="114300" marR="114300">
                    <a:solidFill>
                      <a:srgbClr val="1F2933"/>
                    </a:solidFill>
                  </a:tcPr>
                </a:tc>
              </a:tr>
              <a:tr h="762000">
                <a:tc>
                  <a:txBody>
                    <a:bodyPr/>
                    <a:lstStyle/>
                    <a:p>
                      <a:pPr algn="l"/>
                      <a:r>
                        <a:rPr sz="2400" b="0">
                          <a:solidFill>
                            <a:srgbClr val="1F2933"/>
                          </a:solidFill>
                          <a:latin typeface="Be Vietnam Pro"/>
                        </a:rPr>
                        <a:t>Geometric only</a:t>
                      </a:r>
                    </a:p>
                  </a:txBody>
                  <a:tcPr anchor="ctr" marL="114300" marR="114300">
                    <a:solidFill>
                      <a:srgbClr val="FFFFFF"/>
                    </a:solidFill>
                  </a:tcPr>
                </a:tc>
                <a:tc>
                  <a:txBody>
                    <a:bodyPr/>
                    <a:lstStyle/>
                    <a:p>
                      <a:pPr algn="ctr"/>
                      <a:r>
                        <a:rPr sz="2400" b="0">
                          <a:solidFill>
                            <a:srgbClr val="1F2933"/>
                          </a:solidFill>
                          <a:latin typeface="Be Vietnam Pro"/>
                        </a:rPr>
                        <a:t>0.199</a:t>
                      </a:r>
                    </a:p>
                  </a:txBody>
                  <a:tcPr anchor="ctr" marL="114300" marR="114300">
                    <a:solidFill>
                      <a:srgbClr val="FFFFFF"/>
                    </a:solidFill>
                  </a:tcPr>
                </a:tc>
                <a:tc>
                  <a:txBody>
                    <a:bodyPr/>
                    <a:lstStyle/>
                    <a:p>
                      <a:pPr algn="ctr"/>
                      <a:r>
                        <a:rPr sz="2400" b="0">
                          <a:solidFill>
                            <a:srgbClr val="1F2933"/>
                          </a:solidFill>
                          <a:latin typeface="Be Vietnam Pro"/>
                        </a:rPr>
                        <a:t>0.773</a:t>
                      </a:r>
                    </a:p>
                  </a:txBody>
                  <a:tcPr anchor="ctr" marL="114300" marR="114300">
                    <a:solidFill>
                      <a:srgbClr val="FFFFFF"/>
                    </a:solidFill>
                  </a:tcPr>
                </a:tc>
                <a:tc>
                  <a:txBody>
                    <a:bodyPr/>
                    <a:lstStyle/>
                    <a:p>
                      <a:pPr algn="ctr"/>
                      <a:r>
                        <a:rPr sz="2400" b="0">
                          <a:solidFill>
                            <a:srgbClr val="1F2933"/>
                          </a:solidFill>
                          <a:latin typeface="Be Vietnam Pro"/>
                        </a:rPr>
                        <a:t>0.316</a:t>
                      </a:r>
                    </a:p>
                  </a:txBody>
                  <a:tcPr anchor="ctr" marL="114300" marR="114300">
                    <a:solidFill>
                      <a:srgbClr val="FFFFFF"/>
                    </a:solidFill>
                  </a:tcPr>
                </a:tc>
                <a:tc>
                  <a:txBody>
                    <a:bodyPr/>
                    <a:lstStyle/>
                    <a:p>
                      <a:pPr algn="ctr"/>
                      <a:r>
                        <a:rPr sz="2400" b="0">
                          <a:solidFill>
                            <a:srgbClr val="1F2933"/>
                          </a:solidFill>
                          <a:latin typeface="Be Vietnam Pro"/>
                        </a:rPr>
                        <a:t>0.907</a:t>
                      </a:r>
                    </a:p>
                  </a:txBody>
                  <a:tcPr anchor="ctr" marL="114300" marR="114300">
                    <a:solidFill>
                      <a:srgbClr val="FFFFFF"/>
                    </a:solidFill>
                  </a:tcPr>
                </a:tc>
                <a:tc>
                  <a:txBody>
                    <a:bodyPr/>
                    <a:lstStyle/>
                    <a:p>
                      <a:pPr algn="ctr"/>
                      <a:r>
                        <a:rPr sz="2400" b="0">
                          <a:solidFill>
                            <a:srgbClr val="1F2933"/>
                          </a:solidFill>
                          <a:latin typeface="Be Vietnam Pro"/>
                        </a:rPr>
                        <a:t>27,002 / 108,831 / 7,920</a:t>
                      </a:r>
                    </a:p>
                  </a:txBody>
                  <a:tcPr anchor="ctr" marL="114300" marR="114300">
                    <a:solidFill>
                      <a:srgbClr val="FFFFFF"/>
                    </a:solidFill>
                  </a:tcPr>
                </a:tc>
              </a:tr>
              <a:tr h="762000">
                <a:tc>
                  <a:txBody>
                    <a:bodyPr/>
                    <a:lstStyle/>
                    <a:p>
                      <a:pPr algn="l"/>
                      <a:r>
                        <a:rPr sz="2400" b="0">
                          <a:solidFill>
                            <a:srgbClr val="1F2933"/>
                          </a:solidFill>
                          <a:latin typeface="Be Vietnam Pro"/>
                        </a:rPr>
                        <a:t>+ classifier</a:t>
                      </a:r>
                    </a:p>
                  </a:txBody>
                  <a:tcPr anchor="ctr" marL="114300" marR="114300">
                    <a:solidFill>
                      <a:srgbClr val="EEF0F2"/>
                    </a:solidFill>
                  </a:tcPr>
                </a:tc>
                <a:tc>
                  <a:txBody>
                    <a:bodyPr/>
                    <a:lstStyle/>
                    <a:p>
                      <a:pPr algn="ctr"/>
                      <a:r>
                        <a:rPr sz="2400" b="0">
                          <a:solidFill>
                            <a:srgbClr val="1F2933"/>
                          </a:solidFill>
                          <a:latin typeface="Be Vietnam Pro"/>
                        </a:rPr>
                        <a:t>0.846</a:t>
                      </a:r>
                    </a:p>
                  </a:txBody>
                  <a:tcPr anchor="ctr" marL="114300" marR="114300">
                    <a:solidFill>
                      <a:srgbClr val="EEF0F2"/>
                    </a:solidFill>
                  </a:tcPr>
                </a:tc>
                <a:tc>
                  <a:txBody>
                    <a:bodyPr/>
                    <a:lstStyle/>
                    <a:p>
                      <a:pPr algn="ctr"/>
                      <a:r>
                        <a:rPr sz="2400" b="0">
                          <a:solidFill>
                            <a:srgbClr val="1F2933"/>
                          </a:solidFill>
                          <a:latin typeface="Be Vietnam Pro"/>
                        </a:rPr>
                        <a:t>0.676</a:t>
                      </a:r>
                    </a:p>
                  </a:txBody>
                  <a:tcPr anchor="ctr" marL="114300" marR="114300">
                    <a:solidFill>
                      <a:srgbClr val="EEF0F2"/>
                    </a:solidFill>
                  </a:tcPr>
                </a:tc>
                <a:tc>
                  <a:txBody>
                    <a:bodyPr/>
                    <a:lstStyle/>
                    <a:p>
                      <a:pPr algn="ctr"/>
                      <a:r>
                        <a:rPr sz="2400" b="0">
                          <a:solidFill>
                            <a:srgbClr val="1F2933"/>
                          </a:solidFill>
                          <a:latin typeface="Be Vietnam Pro"/>
                        </a:rPr>
                        <a:t>0.751</a:t>
                      </a:r>
                    </a:p>
                  </a:txBody>
                  <a:tcPr anchor="ctr" marL="114300" marR="114300">
                    <a:solidFill>
                      <a:srgbClr val="EEF0F2"/>
                    </a:solidFill>
                  </a:tcPr>
                </a:tc>
                <a:tc>
                  <a:txBody>
                    <a:bodyPr/>
                    <a:lstStyle/>
                    <a:p>
                      <a:pPr algn="ctr"/>
                      <a:r>
                        <a:rPr sz="2400" b="0">
                          <a:solidFill>
                            <a:srgbClr val="1F2933"/>
                          </a:solidFill>
                          <a:latin typeface="Be Vietnam Pro"/>
                        </a:rPr>
                        <a:t>0.922</a:t>
                      </a:r>
                    </a:p>
                  </a:txBody>
                  <a:tcPr anchor="ctr" marL="114300" marR="114300">
                    <a:solidFill>
                      <a:srgbClr val="EEF0F2"/>
                    </a:solidFill>
                  </a:tcPr>
                </a:tc>
                <a:tc>
                  <a:txBody>
                    <a:bodyPr/>
                    <a:lstStyle/>
                    <a:p>
                      <a:pPr algn="ctr"/>
                      <a:r>
                        <a:rPr sz="2400" b="0">
                          <a:solidFill>
                            <a:srgbClr val="1F2933"/>
                          </a:solidFill>
                          <a:latin typeface="Be Vietnam Pro"/>
                        </a:rPr>
                        <a:t>23,600 / 4,303 / 11,322</a:t>
                      </a:r>
                    </a:p>
                  </a:txBody>
                  <a:tcPr anchor="ctr" marL="114300" marR="114300">
                    <a:solidFill>
                      <a:srgbClr val="EEF0F2"/>
                    </a:solidFill>
                  </a:tcPr>
                </a:tc>
              </a:tr>
              <a:tr h="762000">
                <a:tc>
                  <a:txBody>
                    <a:bodyPr/>
                    <a:lstStyle/>
                    <a:p>
                      <a:pPr algn="l"/>
                      <a:r>
                        <a:rPr sz="2400" b="1">
                          <a:solidFill>
                            <a:srgbClr val="1F2933"/>
                          </a:solidFill>
                          <a:latin typeface="Be Vietnam Pro"/>
                        </a:rPr>
                        <a:t>+ classifier, track filter</a:t>
                      </a:r>
                    </a:p>
                  </a:txBody>
                  <a:tcPr anchor="ctr" marL="114300" marR="114300">
                    <a:solidFill>
                      <a:srgbClr val="FFFFFF"/>
                    </a:solidFill>
                  </a:tcPr>
                </a:tc>
                <a:tc>
                  <a:txBody>
                    <a:bodyPr/>
                    <a:lstStyle/>
                    <a:p>
                      <a:pPr algn="ctr"/>
                      <a:r>
                        <a:rPr sz="2400" b="1">
                          <a:solidFill>
                            <a:srgbClr val="1F2933"/>
                          </a:solidFill>
                          <a:latin typeface="Be Vietnam Pro"/>
                        </a:rPr>
                        <a:t>0.911</a:t>
                      </a:r>
                    </a:p>
                  </a:txBody>
                  <a:tcPr anchor="ctr" marL="114300" marR="114300">
                    <a:solidFill>
                      <a:srgbClr val="FFFFFF"/>
                    </a:solidFill>
                  </a:tcPr>
                </a:tc>
                <a:tc>
                  <a:txBody>
                    <a:bodyPr/>
                    <a:lstStyle/>
                    <a:p>
                      <a:pPr algn="ctr"/>
                      <a:r>
                        <a:rPr sz="2400" b="1">
                          <a:solidFill>
                            <a:srgbClr val="1F2933"/>
                          </a:solidFill>
                          <a:latin typeface="Be Vietnam Pro"/>
                        </a:rPr>
                        <a:t>0.732</a:t>
                      </a:r>
                    </a:p>
                  </a:txBody>
                  <a:tcPr anchor="ctr" marL="114300" marR="114300">
                    <a:solidFill>
                      <a:srgbClr val="FFFFFF"/>
                    </a:solidFill>
                  </a:tcPr>
                </a:tc>
                <a:tc>
                  <a:txBody>
                    <a:bodyPr/>
                    <a:lstStyle/>
                    <a:p>
                      <a:pPr algn="ctr"/>
                      <a:r>
                        <a:rPr sz="2400" b="1">
                          <a:solidFill>
                            <a:srgbClr val="1F2933"/>
                          </a:solidFill>
                          <a:latin typeface="Be Vietnam Pro"/>
                        </a:rPr>
                        <a:t>0.812</a:t>
                      </a:r>
                    </a:p>
                  </a:txBody>
                  <a:tcPr anchor="ctr" marL="114300" marR="114300">
                    <a:solidFill>
                      <a:srgbClr val="FFFFFF"/>
                    </a:solidFill>
                  </a:tcPr>
                </a:tc>
                <a:tc>
                  <a:txBody>
                    <a:bodyPr/>
                    <a:lstStyle/>
                    <a:p>
                      <a:pPr algn="ctr"/>
                      <a:r>
                        <a:rPr sz="2400" b="0">
                          <a:solidFill>
                            <a:srgbClr val="1F2933"/>
                          </a:solidFill>
                          <a:latin typeface="Be Vietnam Pro"/>
                        </a:rPr>
                        <a:t>0.913</a:t>
                      </a:r>
                    </a:p>
                  </a:txBody>
                  <a:tcPr anchor="ctr" marL="114300" marR="114300">
                    <a:solidFill>
                      <a:srgbClr val="FFFFFF"/>
                    </a:solidFill>
                  </a:tcPr>
                </a:tc>
                <a:tc>
                  <a:txBody>
                    <a:bodyPr/>
                    <a:lstStyle/>
                    <a:p>
                      <a:pPr algn="ctr"/>
                      <a:r>
                        <a:rPr sz="2400" b="0">
                          <a:solidFill>
                            <a:srgbClr val="1F2933"/>
                          </a:solidFill>
                          <a:latin typeface="Be Vietnam Pro"/>
                        </a:rPr>
                        <a:t>25,568 / 2,513 / 9,354</a:t>
                      </a:r>
                    </a:p>
                  </a:txBody>
                  <a:tcPr anchor="ctr" marL="114300" marR="114300">
                    <a:solidFill>
                      <a:srgbClr val="FFFFFF"/>
                    </a:solidFill>
                  </a:tcPr>
                </a:tc>
              </a:tr>
            </a:tbl>
          </a:graphicData>
        </a:graphic>
      </p:graphicFrame>
      <p:sp>
        <p:nvSpPr>
          <p:cNvPr id="5" name="TextBox 4"/>
          <p:cNvSpPr txBox="1"/>
          <p:nvPr/>
        </p:nvSpPr>
        <p:spPr>
          <a:xfrm>
            <a:off x="1143000" y="5810250"/>
            <a:ext cx="16002000" cy="1905000"/>
          </a:xfrm>
          <a:prstGeom prst="rect">
            <a:avLst/>
          </a:prstGeom>
          <a:noFill/>
        </p:spPr>
        <p:txBody>
          <a:bodyPr wrap="square" anchor="t" lIns="0" rIns="0" tIns="0" bIns="0">
            <a:spAutoFit/>
          </a:bodyPr>
          <a:lstStyle/>
          <a:p>
            <a:pPr algn="l">
              <a:spcAft>
                <a:spcPts val="1000"/>
              </a:spcAft>
            </a:pPr>
            <a:r>
              <a:rPr sz="2400" b="0" i="0">
                <a:solidFill>
                  <a:srgbClr val="1F2933"/>
                </a:solidFill>
                <a:latin typeface="Be Vietnam Pro"/>
              </a:rPr>
              <a:t>The classifier is the precision step: false positives 108,831 → 4,303, at a recall cost.</a:t>
            </a:r>
          </a:p>
          <a:p>
            <a:pPr algn="l">
              <a:spcAft>
                <a:spcPts val="1000"/>
              </a:spcAft>
            </a:pPr>
            <a:r>
              <a:rPr sz="2400" b="0" i="0">
                <a:solidFill>
                  <a:srgbClr val="1F2933"/>
                </a:solidFill>
                <a:latin typeface="Be Vietnam Pro"/>
              </a:rPr>
              <a:t>The track filter wins recall back: true positives 23,600 → 25,568.</a:t>
            </a:r>
          </a:p>
          <a:p>
            <a:pPr algn="l">
              <a:spcAft>
                <a:spcPts val="1000"/>
              </a:spcAft>
            </a:pPr>
            <a:r>
              <a:rPr sz="2400" b="0" i="0">
                <a:solidFill>
                  <a:srgbClr val="1F2933"/>
                </a:solidFill>
                <a:latin typeface="Be Vietnam Pro"/>
              </a:rPr>
              <a:t>First two rows are per frame; the last row uses the offline track filter. Mean IoU is over matched detections only.</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3.6.2 CLUSTERING ALTERNATIVES AND RESOLUTION</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No faster clusterer matches HDBSCAN's recall; a coarser resolution reduces fragmentation.</a:t>
            </a:r>
          </a:p>
        </p:txBody>
      </p:sp>
      <p:sp>
        <p:nvSpPr>
          <p:cNvPr id="4" name="TextBox 3"/>
          <p:cNvSpPr txBox="1"/>
          <p:nvPr/>
        </p:nvSpPr>
        <p:spPr>
          <a:xfrm>
            <a:off x="1143000" y="2095500"/>
            <a:ext cx="8747760" cy="476250"/>
          </a:xfrm>
          <a:prstGeom prst="rect">
            <a:avLst/>
          </a:prstGeom>
          <a:noFill/>
        </p:spPr>
        <p:txBody>
          <a:bodyPr wrap="square" anchor="t" lIns="0" rIns="0" tIns="0" bIns="0">
            <a:spAutoFit/>
          </a:bodyPr>
          <a:lstStyle/>
          <a:p>
            <a:pPr algn="l">
              <a:spcAft>
                <a:spcPts val="0"/>
              </a:spcAft>
            </a:pPr>
            <a:r>
              <a:rPr sz="2400" b="1" i="0">
                <a:solidFill>
                  <a:srgbClr val="1F2933"/>
                </a:solidFill>
                <a:latin typeface="Be Vietnam Pro"/>
              </a:rPr>
              <a:t>Clustering method (0.10 m grid, per frame, track filter off)</a:t>
            </a:r>
          </a:p>
        </p:txBody>
      </p:sp>
      <p:graphicFrame>
        <p:nvGraphicFramePr>
          <p:cNvPr id="5" name="Table 4"/>
          <p:cNvGraphicFramePr>
            <a:graphicFrameLocks noGrp="1"/>
          </p:cNvGraphicFramePr>
          <p:nvPr/>
        </p:nvGraphicFramePr>
        <p:xfrm>
          <a:off x="1143000" y="2762250"/>
          <a:ext cx="8747760" cy="4267200"/>
        </p:xfrm>
        <a:graphic>
          <a:graphicData uri="http://schemas.openxmlformats.org/drawingml/2006/table">
            <a:tbl>
              <a:tblPr firstRow="1" bandRow="1">
                <a:tableStyleId>{5C22544A-7EE6-4342-B048-85BDC9FD1C3A}</a:tableStyleId>
              </a:tblPr>
              <a:tblGrid>
                <a:gridCol w="887454"/>
                <a:gridCol w="1901687"/>
                <a:gridCol w="1648129"/>
                <a:gridCol w="1394570"/>
                <a:gridCol w="1267791"/>
                <a:gridCol w="1648129"/>
              </a:tblGrid>
              <a:tr h="609600">
                <a:tc>
                  <a:txBody>
                    <a:bodyPr/>
                    <a:lstStyle/>
                    <a:p>
                      <a:pPr algn="l"/>
                      <a:r>
                        <a:rPr sz="2200" b="1">
                          <a:solidFill>
                            <a:srgbClr val="FFFFFF"/>
                          </a:solidFill>
                          <a:latin typeface="Be Vietnam Pro"/>
                        </a:rPr>
                        <a:t>Seq</a:t>
                      </a:r>
                    </a:p>
                  </a:txBody>
                  <a:tcPr anchor="ctr" marL="114300" marR="114300">
                    <a:solidFill>
                      <a:srgbClr val="1F2933"/>
                    </a:solidFill>
                  </a:tcPr>
                </a:tc>
                <a:tc>
                  <a:txBody>
                    <a:bodyPr/>
                    <a:lstStyle/>
                    <a:p>
                      <a:pPr algn="l"/>
                      <a:r>
                        <a:rPr sz="2200" b="1">
                          <a:solidFill>
                            <a:srgbClr val="FFFFFF"/>
                          </a:solidFill>
                          <a:latin typeface="Be Vietnam Pro"/>
                        </a:rPr>
                        <a:t>Method</a:t>
                      </a:r>
                    </a:p>
                  </a:txBody>
                  <a:tcPr anchor="ctr" marL="114300" marR="114300">
                    <a:solidFill>
                      <a:srgbClr val="1F2933"/>
                    </a:solidFill>
                  </a:tcPr>
                </a:tc>
                <a:tc>
                  <a:txBody>
                    <a:bodyPr/>
                    <a:lstStyle/>
                    <a:p>
                      <a:pPr algn="ctr"/>
                      <a:r>
                        <a:rPr sz="2200" b="1">
                          <a:solidFill>
                            <a:srgbClr val="FFFFFF"/>
                          </a:solidFill>
                          <a:latin typeface="Be Vietnam Pro"/>
                        </a:rPr>
                        <a:t>Precision</a:t>
                      </a:r>
                    </a:p>
                  </a:txBody>
                  <a:tcPr anchor="ctr" marL="114300" marR="114300">
                    <a:solidFill>
                      <a:srgbClr val="1F2933"/>
                    </a:solidFill>
                  </a:tcPr>
                </a:tc>
                <a:tc>
                  <a:txBody>
                    <a:bodyPr/>
                    <a:lstStyle/>
                    <a:p>
                      <a:pPr algn="ctr"/>
                      <a:r>
                        <a:rPr sz="2200" b="1">
                          <a:solidFill>
                            <a:srgbClr val="FFFFFF"/>
                          </a:solidFill>
                          <a:latin typeface="Be Vietnam Pro"/>
                        </a:rPr>
                        <a:t>Recall</a:t>
                      </a:r>
                    </a:p>
                  </a:txBody>
                  <a:tcPr anchor="ctr" marL="114300" marR="114300">
                    <a:solidFill>
                      <a:srgbClr val="1F2933"/>
                    </a:solidFill>
                  </a:tcPr>
                </a:tc>
                <a:tc>
                  <a:txBody>
                    <a:bodyPr/>
                    <a:lstStyle/>
                    <a:p>
                      <a:pPr algn="ctr"/>
                      <a:r>
                        <a:rPr sz="2200" b="1">
                          <a:solidFill>
                            <a:srgbClr val="FFFFFF"/>
                          </a:solidFill>
                          <a:latin typeface="Be Vietnam Pro"/>
                        </a:rPr>
                        <a:t>F1</a:t>
                      </a:r>
                    </a:p>
                  </a:txBody>
                  <a:tcPr anchor="ctr" marL="114300" marR="114300">
                    <a:solidFill>
                      <a:srgbClr val="1F2933"/>
                    </a:solidFill>
                  </a:tcPr>
                </a:tc>
                <a:tc>
                  <a:txBody>
                    <a:bodyPr/>
                    <a:lstStyle/>
                    <a:p>
                      <a:pPr algn="ctr"/>
                      <a:r>
                        <a:rPr sz="2200" b="1">
                          <a:solidFill>
                            <a:srgbClr val="FFFFFF"/>
                          </a:solidFill>
                          <a:latin typeface="Be Vietnam Pro"/>
                        </a:rPr>
                        <a:t>Time (ms)</a:t>
                      </a:r>
                    </a:p>
                  </a:txBody>
                  <a:tcPr anchor="ctr" marL="114300" marR="114300">
                    <a:solidFill>
                      <a:srgbClr val="1F2933"/>
                    </a:solidFill>
                  </a:tcPr>
                </a:tc>
              </a:tr>
              <a:tr h="609600">
                <a:tc>
                  <a:txBody>
                    <a:bodyPr/>
                    <a:lstStyle/>
                    <a:p>
                      <a:pPr algn="l"/>
                      <a:r>
                        <a:rPr sz="2200" b="0">
                          <a:solidFill>
                            <a:srgbClr val="1F2933"/>
                          </a:solidFill>
                          <a:latin typeface="Be Vietnam Pro"/>
                        </a:rPr>
                        <a:t>00</a:t>
                      </a:r>
                    </a:p>
                  </a:txBody>
                  <a:tcPr anchor="ctr" marL="114300" marR="114300">
                    <a:solidFill>
                      <a:srgbClr val="FFFFFF"/>
                    </a:solidFill>
                  </a:tcPr>
                </a:tc>
                <a:tc>
                  <a:txBody>
                    <a:bodyPr/>
                    <a:lstStyle/>
                    <a:p>
                      <a:pPr algn="l"/>
                      <a:r>
                        <a:rPr sz="2200" b="1">
                          <a:solidFill>
                            <a:srgbClr val="1F2933"/>
                          </a:solidFill>
                          <a:latin typeface="Be Vietnam Pro"/>
                        </a:rPr>
                        <a:t>HDBSCAN</a:t>
                      </a:r>
                    </a:p>
                  </a:txBody>
                  <a:tcPr anchor="ctr" marL="114300" marR="114300">
                    <a:solidFill>
                      <a:srgbClr val="FFFFFF"/>
                    </a:solidFill>
                  </a:tcPr>
                </a:tc>
                <a:tc>
                  <a:txBody>
                    <a:bodyPr/>
                    <a:lstStyle/>
                    <a:p>
                      <a:pPr algn="ctr"/>
                      <a:r>
                        <a:rPr sz="2200" b="0">
                          <a:solidFill>
                            <a:srgbClr val="1F2933"/>
                          </a:solidFill>
                          <a:latin typeface="Be Vietnam Pro"/>
                        </a:rPr>
                        <a:t>0.972</a:t>
                      </a:r>
                    </a:p>
                  </a:txBody>
                  <a:tcPr anchor="ctr" marL="114300" marR="114300">
                    <a:solidFill>
                      <a:srgbClr val="FFFFFF"/>
                    </a:solidFill>
                  </a:tcPr>
                </a:tc>
                <a:tc>
                  <a:txBody>
                    <a:bodyPr/>
                    <a:lstStyle/>
                    <a:p>
                      <a:pPr algn="ctr"/>
                      <a:r>
                        <a:rPr sz="2200" b="1">
                          <a:solidFill>
                            <a:srgbClr val="1F2933"/>
                          </a:solidFill>
                          <a:latin typeface="Be Vietnam Pro"/>
                        </a:rPr>
                        <a:t>0.731</a:t>
                      </a:r>
                    </a:p>
                  </a:txBody>
                  <a:tcPr anchor="ctr" marL="114300" marR="114300">
                    <a:solidFill>
                      <a:srgbClr val="FFFFFF"/>
                    </a:solidFill>
                  </a:tcPr>
                </a:tc>
                <a:tc>
                  <a:txBody>
                    <a:bodyPr/>
                    <a:lstStyle/>
                    <a:p>
                      <a:pPr algn="ctr"/>
                      <a:r>
                        <a:rPr sz="2200" b="1">
                          <a:solidFill>
                            <a:srgbClr val="1F2933"/>
                          </a:solidFill>
                          <a:latin typeface="Be Vietnam Pro"/>
                        </a:rPr>
                        <a:t>0.835</a:t>
                      </a:r>
                    </a:p>
                  </a:txBody>
                  <a:tcPr anchor="ctr" marL="114300" marR="114300">
                    <a:solidFill>
                      <a:srgbClr val="FFFFFF"/>
                    </a:solidFill>
                  </a:tcPr>
                </a:tc>
                <a:tc>
                  <a:txBody>
                    <a:bodyPr/>
                    <a:lstStyle/>
                    <a:p>
                      <a:pPr algn="ctr"/>
                      <a:r>
                        <a:rPr sz="2200" b="0">
                          <a:solidFill>
                            <a:srgbClr val="1F2933"/>
                          </a:solidFill>
                          <a:latin typeface="Be Vietnam Pro"/>
                        </a:rPr>
                        <a:t>306</a:t>
                      </a:r>
                    </a:p>
                  </a:txBody>
                  <a:tcPr anchor="ctr" marL="114300" marR="114300">
                    <a:solidFill>
                      <a:srgbClr val="FFFFFF"/>
                    </a:solidFill>
                  </a:tcPr>
                </a:tc>
              </a:tr>
              <a:tr h="609600">
                <a:tc>
                  <a:txBody>
                    <a:bodyPr/>
                    <a:lstStyle/>
                    <a:p>
                      <a:pPr algn="l"/>
                      <a:r>
                        <a:rPr sz="2200" b="0">
                          <a:solidFill>
                            <a:srgbClr val="1F2933"/>
                          </a:solidFill>
                          <a:latin typeface="Be Vietnam Pro"/>
                        </a:rPr>
                        <a:t>00</a:t>
                      </a:r>
                    </a:p>
                  </a:txBody>
                  <a:tcPr anchor="ctr" marL="114300" marR="114300">
                    <a:solidFill>
                      <a:srgbClr val="EEF0F2"/>
                    </a:solidFill>
                  </a:tcPr>
                </a:tc>
                <a:tc>
                  <a:txBody>
                    <a:bodyPr/>
                    <a:lstStyle/>
                    <a:p>
                      <a:pPr algn="l"/>
                      <a:r>
                        <a:rPr sz="2200" b="0">
                          <a:solidFill>
                            <a:srgbClr val="1F2933"/>
                          </a:solidFill>
                          <a:latin typeface="Be Vietnam Pro"/>
                        </a:rPr>
                        <a:t>DBSCAN</a:t>
                      </a:r>
                    </a:p>
                  </a:txBody>
                  <a:tcPr anchor="ctr" marL="114300" marR="114300">
                    <a:solidFill>
                      <a:srgbClr val="EEF0F2"/>
                    </a:solidFill>
                  </a:tcPr>
                </a:tc>
                <a:tc>
                  <a:txBody>
                    <a:bodyPr/>
                    <a:lstStyle/>
                    <a:p>
                      <a:pPr algn="ctr"/>
                      <a:r>
                        <a:rPr sz="2200" b="0">
                          <a:solidFill>
                            <a:srgbClr val="1F2933"/>
                          </a:solidFill>
                          <a:latin typeface="Be Vietnam Pro"/>
                        </a:rPr>
                        <a:t>0.975</a:t>
                      </a:r>
                    </a:p>
                  </a:txBody>
                  <a:tcPr anchor="ctr" marL="114300" marR="114300">
                    <a:solidFill>
                      <a:srgbClr val="EEF0F2"/>
                    </a:solidFill>
                  </a:tcPr>
                </a:tc>
                <a:tc>
                  <a:txBody>
                    <a:bodyPr/>
                    <a:lstStyle/>
                    <a:p>
                      <a:pPr algn="ctr"/>
                      <a:r>
                        <a:rPr sz="2200" b="0">
                          <a:solidFill>
                            <a:srgbClr val="1F2933"/>
                          </a:solidFill>
                          <a:latin typeface="Be Vietnam Pro"/>
                        </a:rPr>
                        <a:t>0.637</a:t>
                      </a:r>
                    </a:p>
                  </a:txBody>
                  <a:tcPr anchor="ctr" marL="114300" marR="114300">
                    <a:solidFill>
                      <a:srgbClr val="EEF0F2"/>
                    </a:solidFill>
                  </a:tcPr>
                </a:tc>
                <a:tc>
                  <a:txBody>
                    <a:bodyPr/>
                    <a:lstStyle/>
                    <a:p>
                      <a:pPr algn="ctr"/>
                      <a:r>
                        <a:rPr sz="2200" b="0">
                          <a:solidFill>
                            <a:srgbClr val="1F2933"/>
                          </a:solidFill>
                          <a:latin typeface="Be Vietnam Pro"/>
                        </a:rPr>
                        <a:t>0.771</a:t>
                      </a:r>
                    </a:p>
                  </a:txBody>
                  <a:tcPr anchor="ctr" marL="114300" marR="114300">
                    <a:solidFill>
                      <a:srgbClr val="EEF0F2"/>
                    </a:solidFill>
                  </a:tcPr>
                </a:tc>
                <a:tc>
                  <a:txBody>
                    <a:bodyPr/>
                    <a:lstStyle/>
                    <a:p>
                      <a:pPr algn="ctr"/>
                      <a:r>
                        <a:rPr sz="2200" b="0">
                          <a:solidFill>
                            <a:srgbClr val="1F2933"/>
                          </a:solidFill>
                          <a:latin typeface="Be Vietnam Pro"/>
                        </a:rPr>
                        <a:t>54</a:t>
                      </a:r>
                    </a:p>
                  </a:txBody>
                  <a:tcPr anchor="ctr" marL="114300" marR="114300">
                    <a:solidFill>
                      <a:srgbClr val="EEF0F2"/>
                    </a:solidFill>
                  </a:tcPr>
                </a:tc>
              </a:tr>
              <a:tr h="609600">
                <a:tc>
                  <a:txBody>
                    <a:bodyPr/>
                    <a:lstStyle/>
                    <a:p>
                      <a:pPr algn="l"/>
                      <a:r>
                        <a:rPr sz="2200" b="0">
                          <a:solidFill>
                            <a:srgbClr val="1F2933"/>
                          </a:solidFill>
                          <a:latin typeface="Be Vietnam Pro"/>
                        </a:rPr>
                        <a:t>00</a:t>
                      </a:r>
                    </a:p>
                  </a:txBody>
                  <a:tcPr anchor="ctr" marL="114300" marR="114300">
                    <a:solidFill>
                      <a:srgbClr val="FFFFFF"/>
                    </a:solidFill>
                  </a:tcPr>
                </a:tc>
                <a:tc>
                  <a:txBody>
                    <a:bodyPr/>
                    <a:lstStyle/>
                    <a:p>
                      <a:pPr algn="l"/>
                      <a:r>
                        <a:rPr sz="2200" b="0">
                          <a:solidFill>
                            <a:srgbClr val="1F2933"/>
                          </a:solidFill>
                          <a:latin typeface="Be Vietnam Pro"/>
                        </a:rPr>
                        <a:t>Euclidean</a:t>
                      </a:r>
                    </a:p>
                  </a:txBody>
                  <a:tcPr anchor="ctr" marL="114300" marR="114300">
                    <a:solidFill>
                      <a:srgbClr val="FFFFFF"/>
                    </a:solidFill>
                  </a:tcPr>
                </a:tc>
                <a:tc>
                  <a:txBody>
                    <a:bodyPr/>
                    <a:lstStyle/>
                    <a:p>
                      <a:pPr algn="ctr"/>
                      <a:r>
                        <a:rPr sz="2200" b="0">
                          <a:solidFill>
                            <a:srgbClr val="1F2933"/>
                          </a:solidFill>
                          <a:latin typeface="Be Vietnam Pro"/>
                        </a:rPr>
                        <a:t>0.979</a:t>
                      </a:r>
                    </a:p>
                  </a:txBody>
                  <a:tcPr anchor="ctr" marL="114300" marR="114300">
                    <a:solidFill>
                      <a:srgbClr val="FFFFFF"/>
                    </a:solidFill>
                  </a:tcPr>
                </a:tc>
                <a:tc>
                  <a:txBody>
                    <a:bodyPr/>
                    <a:lstStyle/>
                    <a:p>
                      <a:pPr algn="ctr"/>
                      <a:r>
                        <a:rPr sz="2200" b="0">
                          <a:solidFill>
                            <a:srgbClr val="1F2933"/>
                          </a:solidFill>
                          <a:latin typeface="Be Vietnam Pro"/>
                        </a:rPr>
                        <a:t>0.636</a:t>
                      </a:r>
                    </a:p>
                  </a:txBody>
                  <a:tcPr anchor="ctr" marL="114300" marR="114300">
                    <a:solidFill>
                      <a:srgbClr val="FFFFFF"/>
                    </a:solidFill>
                  </a:tcPr>
                </a:tc>
                <a:tc>
                  <a:txBody>
                    <a:bodyPr/>
                    <a:lstStyle/>
                    <a:p>
                      <a:pPr algn="ctr"/>
                      <a:r>
                        <a:rPr sz="2200" b="0">
                          <a:solidFill>
                            <a:srgbClr val="1F2933"/>
                          </a:solidFill>
                          <a:latin typeface="Be Vietnam Pro"/>
                        </a:rPr>
                        <a:t>0.771</a:t>
                      </a:r>
                    </a:p>
                  </a:txBody>
                  <a:tcPr anchor="ctr" marL="114300" marR="114300">
                    <a:solidFill>
                      <a:srgbClr val="FFFFFF"/>
                    </a:solidFill>
                  </a:tcPr>
                </a:tc>
                <a:tc>
                  <a:txBody>
                    <a:bodyPr/>
                    <a:lstStyle/>
                    <a:p>
                      <a:pPr algn="ctr"/>
                      <a:r>
                        <a:rPr sz="2200" b="0">
                          <a:solidFill>
                            <a:srgbClr val="1F2933"/>
                          </a:solidFill>
                          <a:latin typeface="Be Vietnam Pro"/>
                        </a:rPr>
                        <a:t>76</a:t>
                      </a:r>
                    </a:p>
                  </a:txBody>
                  <a:tcPr anchor="ctr" marL="114300" marR="114300">
                    <a:solidFill>
                      <a:srgbClr val="FFFFFF"/>
                    </a:solidFill>
                  </a:tcPr>
                </a:tc>
              </a:tr>
              <a:tr h="609600">
                <a:tc>
                  <a:txBody>
                    <a:bodyPr/>
                    <a:lstStyle/>
                    <a:p>
                      <a:pPr algn="l"/>
                      <a:r>
                        <a:rPr sz="2200" b="0">
                          <a:solidFill>
                            <a:srgbClr val="1F2933"/>
                          </a:solidFill>
                          <a:latin typeface="Be Vietnam Pro"/>
                        </a:rPr>
                        <a:t>08</a:t>
                      </a:r>
                    </a:p>
                  </a:txBody>
                  <a:tcPr anchor="ctr" marL="114300" marR="114300">
                    <a:solidFill>
                      <a:srgbClr val="EEF0F2"/>
                    </a:solidFill>
                  </a:tcPr>
                </a:tc>
                <a:tc>
                  <a:txBody>
                    <a:bodyPr/>
                    <a:lstStyle/>
                    <a:p>
                      <a:pPr algn="l"/>
                      <a:r>
                        <a:rPr sz="2200" b="1">
                          <a:solidFill>
                            <a:srgbClr val="1F2933"/>
                          </a:solidFill>
                          <a:latin typeface="Be Vietnam Pro"/>
                        </a:rPr>
                        <a:t>HDBSCAN</a:t>
                      </a:r>
                    </a:p>
                  </a:txBody>
                  <a:tcPr anchor="ctr" marL="114300" marR="114300">
                    <a:solidFill>
                      <a:srgbClr val="EEF0F2"/>
                    </a:solidFill>
                  </a:tcPr>
                </a:tc>
                <a:tc>
                  <a:txBody>
                    <a:bodyPr/>
                    <a:lstStyle/>
                    <a:p>
                      <a:pPr algn="ctr"/>
                      <a:r>
                        <a:rPr sz="2200" b="0">
                          <a:solidFill>
                            <a:srgbClr val="1F2933"/>
                          </a:solidFill>
                          <a:latin typeface="Be Vietnam Pro"/>
                        </a:rPr>
                        <a:t>0.840</a:t>
                      </a:r>
                    </a:p>
                  </a:txBody>
                  <a:tcPr anchor="ctr" marL="114300" marR="114300">
                    <a:solidFill>
                      <a:srgbClr val="EEF0F2"/>
                    </a:solidFill>
                  </a:tcPr>
                </a:tc>
                <a:tc>
                  <a:txBody>
                    <a:bodyPr/>
                    <a:lstStyle/>
                    <a:p>
                      <a:pPr algn="ctr"/>
                      <a:r>
                        <a:rPr sz="2200" b="1">
                          <a:solidFill>
                            <a:srgbClr val="1F2933"/>
                          </a:solidFill>
                          <a:latin typeface="Be Vietnam Pro"/>
                        </a:rPr>
                        <a:t>0.671</a:t>
                      </a:r>
                    </a:p>
                  </a:txBody>
                  <a:tcPr anchor="ctr" marL="114300" marR="114300">
                    <a:solidFill>
                      <a:srgbClr val="EEF0F2"/>
                    </a:solidFill>
                  </a:tcPr>
                </a:tc>
                <a:tc>
                  <a:txBody>
                    <a:bodyPr/>
                    <a:lstStyle/>
                    <a:p>
                      <a:pPr algn="ctr"/>
                      <a:r>
                        <a:rPr sz="2200" b="1">
                          <a:solidFill>
                            <a:srgbClr val="1F2933"/>
                          </a:solidFill>
                          <a:latin typeface="Be Vietnam Pro"/>
                        </a:rPr>
                        <a:t>0.746</a:t>
                      </a:r>
                    </a:p>
                  </a:txBody>
                  <a:tcPr anchor="ctr" marL="114300" marR="114300">
                    <a:solidFill>
                      <a:srgbClr val="EEF0F2"/>
                    </a:solidFill>
                  </a:tcPr>
                </a:tc>
                <a:tc>
                  <a:txBody>
                    <a:bodyPr/>
                    <a:lstStyle/>
                    <a:p>
                      <a:pPr algn="ctr"/>
                      <a:r>
                        <a:rPr sz="2200" b="0">
                          <a:solidFill>
                            <a:srgbClr val="1F2933"/>
                          </a:solidFill>
                          <a:latin typeface="Be Vietnam Pro"/>
                        </a:rPr>
                        <a:t>320</a:t>
                      </a:r>
                    </a:p>
                  </a:txBody>
                  <a:tcPr anchor="ctr" marL="114300" marR="114300">
                    <a:solidFill>
                      <a:srgbClr val="EEF0F2"/>
                    </a:solidFill>
                  </a:tcPr>
                </a:tc>
              </a:tr>
              <a:tr h="609600">
                <a:tc>
                  <a:txBody>
                    <a:bodyPr/>
                    <a:lstStyle/>
                    <a:p>
                      <a:pPr algn="l"/>
                      <a:r>
                        <a:rPr sz="2200" b="0">
                          <a:solidFill>
                            <a:srgbClr val="1F2933"/>
                          </a:solidFill>
                          <a:latin typeface="Be Vietnam Pro"/>
                        </a:rPr>
                        <a:t>08</a:t>
                      </a:r>
                    </a:p>
                  </a:txBody>
                  <a:tcPr anchor="ctr" marL="114300" marR="114300">
                    <a:solidFill>
                      <a:srgbClr val="FFFFFF"/>
                    </a:solidFill>
                  </a:tcPr>
                </a:tc>
                <a:tc>
                  <a:txBody>
                    <a:bodyPr/>
                    <a:lstStyle/>
                    <a:p>
                      <a:pPr algn="l"/>
                      <a:r>
                        <a:rPr sz="2200" b="0">
                          <a:solidFill>
                            <a:srgbClr val="1F2933"/>
                          </a:solidFill>
                          <a:latin typeface="Be Vietnam Pro"/>
                        </a:rPr>
                        <a:t>DBSCAN</a:t>
                      </a:r>
                    </a:p>
                  </a:txBody>
                  <a:tcPr anchor="ctr" marL="114300" marR="114300">
                    <a:solidFill>
                      <a:srgbClr val="FFFFFF"/>
                    </a:solidFill>
                  </a:tcPr>
                </a:tc>
                <a:tc>
                  <a:txBody>
                    <a:bodyPr/>
                    <a:lstStyle/>
                    <a:p>
                      <a:pPr algn="ctr"/>
                      <a:r>
                        <a:rPr sz="2200" b="0">
                          <a:solidFill>
                            <a:srgbClr val="1F2933"/>
                          </a:solidFill>
                          <a:latin typeface="Be Vietnam Pro"/>
                        </a:rPr>
                        <a:t>0.870</a:t>
                      </a:r>
                    </a:p>
                  </a:txBody>
                  <a:tcPr anchor="ctr" marL="114300" marR="114300">
                    <a:solidFill>
                      <a:srgbClr val="FFFFFF"/>
                    </a:solidFill>
                  </a:tcPr>
                </a:tc>
                <a:tc>
                  <a:txBody>
                    <a:bodyPr/>
                    <a:lstStyle/>
                    <a:p>
                      <a:pPr algn="ctr"/>
                      <a:r>
                        <a:rPr sz="2200" b="0">
                          <a:solidFill>
                            <a:srgbClr val="1F2933"/>
                          </a:solidFill>
                          <a:latin typeface="Be Vietnam Pro"/>
                        </a:rPr>
                        <a:t>0.565</a:t>
                      </a:r>
                    </a:p>
                  </a:txBody>
                  <a:tcPr anchor="ctr" marL="114300" marR="114300">
                    <a:solidFill>
                      <a:srgbClr val="FFFFFF"/>
                    </a:solidFill>
                  </a:tcPr>
                </a:tc>
                <a:tc>
                  <a:txBody>
                    <a:bodyPr/>
                    <a:lstStyle/>
                    <a:p>
                      <a:pPr algn="ctr"/>
                      <a:r>
                        <a:rPr sz="2200" b="0">
                          <a:solidFill>
                            <a:srgbClr val="1F2933"/>
                          </a:solidFill>
                          <a:latin typeface="Be Vietnam Pro"/>
                        </a:rPr>
                        <a:t>0.685</a:t>
                      </a:r>
                    </a:p>
                  </a:txBody>
                  <a:tcPr anchor="ctr" marL="114300" marR="114300">
                    <a:solidFill>
                      <a:srgbClr val="FFFFFF"/>
                    </a:solidFill>
                  </a:tcPr>
                </a:tc>
                <a:tc>
                  <a:txBody>
                    <a:bodyPr/>
                    <a:lstStyle/>
                    <a:p>
                      <a:pPr algn="ctr"/>
                      <a:r>
                        <a:rPr sz="2200" b="0">
                          <a:solidFill>
                            <a:srgbClr val="1F2933"/>
                          </a:solidFill>
                          <a:latin typeface="Be Vietnam Pro"/>
                        </a:rPr>
                        <a:t>57</a:t>
                      </a:r>
                    </a:p>
                  </a:txBody>
                  <a:tcPr anchor="ctr" marL="114300" marR="114300">
                    <a:solidFill>
                      <a:srgbClr val="FFFFFF"/>
                    </a:solidFill>
                  </a:tcPr>
                </a:tc>
              </a:tr>
              <a:tr h="609600">
                <a:tc>
                  <a:txBody>
                    <a:bodyPr/>
                    <a:lstStyle/>
                    <a:p>
                      <a:pPr algn="l"/>
                      <a:r>
                        <a:rPr sz="2200" b="0">
                          <a:solidFill>
                            <a:srgbClr val="1F2933"/>
                          </a:solidFill>
                          <a:latin typeface="Be Vietnam Pro"/>
                        </a:rPr>
                        <a:t>08</a:t>
                      </a:r>
                    </a:p>
                  </a:txBody>
                  <a:tcPr anchor="ctr" marL="114300" marR="114300">
                    <a:solidFill>
                      <a:srgbClr val="EEF0F2"/>
                    </a:solidFill>
                  </a:tcPr>
                </a:tc>
                <a:tc>
                  <a:txBody>
                    <a:bodyPr/>
                    <a:lstStyle/>
                    <a:p>
                      <a:pPr algn="l"/>
                      <a:r>
                        <a:rPr sz="2200" b="0">
                          <a:solidFill>
                            <a:srgbClr val="1F2933"/>
                          </a:solidFill>
                          <a:latin typeface="Be Vietnam Pro"/>
                        </a:rPr>
                        <a:t>Euclidean</a:t>
                      </a:r>
                    </a:p>
                  </a:txBody>
                  <a:tcPr anchor="ctr" marL="114300" marR="114300">
                    <a:solidFill>
                      <a:srgbClr val="EEF0F2"/>
                    </a:solidFill>
                  </a:tcPr>
                </a:tc>
                <a:tc>
                  <a:txBody>
                    <a:bodyPr/>
                    <a:lstStyle/>
                    <a:p>
                      <a:pPr algn="ctr"/>
                      <a:r>
                        <a:rPr sz="2200" b="0">
                          <a:solidFill>
                            <a:srgbClr val="1F2933"/>
                          </a:solidFill>
                          <a:latin typeface="Be Vietnam Pro"/>
                        </a:rPr>
                        <a:t>0.869</a:t>
                      </a:r>
                    </a:p>
                  </a:txBody>
                  <a:tcPr anchor="ctr" marL="114300" marR="114300">
                    <a:solidFill>
                      <a:srgbClr val="EEF0F2"/>
                    </a:solidFill>
                  </a:tcPr>
                </a:tc>
                <a:tc>
                  <a:txBody>
                    <a:bodyPr/>
                    <a:lstStyle/>
                    <a:p>
                      <a:pPr algn="ctr"/>
                      <a:r>
                        <a:rPr sz="2200" b="0">
                          <a:solidFill>
                            <a:srgbClr val="1F2933"/>
                          </a:solidFill>
                          <a:latin typeface="Be Vietnam Pro"/>
                        </a:rPr>
                        <a:t>0.576</a:t>
                      </a:r>
                    </a:p>
                  </a:txBody>
                  <a:tcPr anchor="ctr" marL="114300" marR="114300">
                    <a:solidFill>
                      <a:srgbClr val="EEF0F2"/>
                    </a:solidFill>
                  </a:tcPr>
                </a:tc>
                <a:tc>
                  <a:txBody>
                    <a:bodyPr/>
                    <a:lstStyle/>
                    <a:p>
                      <a:pPr algn="ctr"/>
                      <a:r>
                        <a:rPr sz="2200" b="0">
                          <a:solidFill>
                            <a:srgbClr val="1F2933"/>
                          </a:solidFill>
                          <a:latin typeface="Be Vietnam Pro"/>
                        </a:rPr>
                        <a:t>0.693</a:t>
                      </a:r>
                    </a:p>
                  </a:txBody>
                  <a:tcPr anchor="ctr" marL="114300" marR="114300">
                    <a:solidFill>
                      <a:srgbClr val="EEF0F2"/>
                    </a:solidFill>
                  </a:tcPr>
                </a:tc>
                <a:tc>
                  <a:txBody>
                    <a:bodyPr/>
                    <a:lstStyle/>
                    <a:p>
                      <a:pPr algn="ctr"/>
                      <a:r>
                        <a:rPr sz="2200" b="0">
                          <a:solidFill>
                            <a:srgbClr val="1F2933"/>
                          </a:solidFill>
                          <a:latin typeface="Be Vietnam Pro"/>
                        </a:rPr>
                        <a:t>75</a:t>
                      </a:r>
                    </a:p>
                  </a:txBody>
                  <a:tcPr anchor="ctr" marL="114300" marR="114300">
                    <a:solidFill>
                      <a:srgbClr val="EEF0F2"/>
                    </a:solidFill>
                  </a:tcPr>
                </a:tc>
              </a:tr>
            </a:tbl>
          </a:graphicData>
        </a:graphic>
      </p:graphicFrame>
      <p:sp>
        <p:nvSpPr>
          <p:cNvPr id="6" name="TextBox 5"/>
          <p:cNvSpPr txBox="1"/>
          <p:nvPr/>
        </p:nvSpPr>
        <p:spPr>
          <a:xfrm>
            <a:off x="1143000" y="7258050"/>
            <a:ext cx="8747760" cy="1143000"/>
          </a:xfrm>
          <a:prstGeom prst="rect">
            <a:avLst/>
          </a:prstGeom>
          <a:noFill/>
        </p:spPr>
        <p:txBody>
          <a:bodyPr wrap="square" anchor="t" lIns="0" rIns="0" tIns="0" bIns="0">
            <a:spAutoFit/>
          </a:bodyPr>
          <a:lstStyle/>
          <a:p>
            <a:pPr algn="l">
              <a:spcAft>
                <a:spcPts val="0"/>
              </a:spcAft>
            </a:pPr>
            <a:r>
              <a:rPr sz="2400" b="0" i="0">
                <a:solidFill>
                  <a:srgbClr val="1F2933"/>
                </a:solidFill>
                <a:latin typeface="Be Vietnam Pro"/>
              </a:rPr>
              <a:t>Precision within 0.03; HDBSCAN gains 9–11 recall points for about 6× DBSCAN's clustering time.</a:t>
            </a:r>
          </a:p>
        </p:txBody>
      </p:sp>
      <p:sp>
        <p:nvSpPr>
          <p:cNvPr id="7" name="TextBox 6"/>
          <p:cNvSpPr txBox="1"/>
          <p:nvPr/>
        </p:nvSpPr>
        <p:spPr>
          <a:xfrm>
            <a:off x="10271760" y="2095500"/>
            <a:ext cx="6873240" cy="476250"/>
          </a:xfrm>
          <a:prstGeom prst="rect">
            <a:avLst/>
          </a:prstGeom>
          <a:noFill/>
        </p:spPr>
        <p:txBody>
          <a:bodyPr wrap="square" anchor="t" lIns="0" rIns="0" tIns="0" bIns="0">
            <a:spAutoFit/>
          </a:bodyPr>
          <a:lstStyle/>
          <a:p>
            <a:pPr algn="l">
              <a:spcAft>
                <a:spcPts val="0"/>
              </a:spcAft>
            </a:pPr>
            <a:r>
              <a:rPr sz="2400" b="1" i="0">
                <a:solidFill>
                  <a:srgbClr val="1F2933"/>
                </a:solidFill>
                <a:latin typeface="Be Vietnam Pro"/>
              </a:rPr>
              <a:t>Clustering grid (seq 08, 34,057 cars)</a:t>
            </a:r>
          </a:p>
        </p:txBody>
      </p:sp>
      <p:graphicFrame>
        <p:nvGraphicFramePr>
          <p:cNvPr id="8" name="Table 7"/>
          <p:cNvGraphicFramePr>
            <a:graphicFrameLocks noGrp="1"/>
          </p:cNvGraphicFramePr>
          <p:nvPr/>
        </p:nvGraphicFramePr>
        <p:xfrm>
          <a:off x="10271760" y="2762250"/>
          <a:ext cx="6873240" cy="3048000"/>
        </p:xfrm>
        <a:graphic>
          <a:graphicData uri="http://schemas.openxmlformats.org/drawingml/2006/table">
            <a:tbl>
              <a:tblPr firstRow="1" bandRow="1">
                <a:tableStyleId>{5C22544A-7EE6-4342-B048-85BDC9FD1C3A}</a:tableStyleId>
              </a:tblPr>
              <a:tblGrid>
                <a:gridCol w="3109323"/>
                <a:gridCol w="1800134"/>
                <a:gridCol w="1963783"/>
              </a:tblGrid>
              <a:tr h="609600">
                <a:tc>
                  <a:txBody>
                    <a:bodyPr/>
                    <a:lstStyle/>
                    <a:p>
                      <a:pPr algn="l"/>
                      <a:r>
                        <a:rPr sz="2200" b="1">
                          <a:solidFill>
                            <a:srgbClr val="FFFFFF"/>
                          </a:solidFill>
                          <a:latin typeface="Be Vietnam Pro"/>
                        </a:rPr>
                        <a:t/>
                      </a:r>
                    </a:p>
                  </a:txBody>
                  <a:tcPr anchor="ctr" marL="114300" marR="114300">
                    <a:solidFill>
                      <a:srgbClr val="1F2933"/>
                    </a:solidFill>
                  </a:tcPr>
                </a:tc>
                <a:tc>
                  <a:txBody>
                    <a:bodyPr/>
                    <a:lstStyle/>
                    <a:p>
                      <a:pPr algn="ctr"/>
                      <a:r>
                        <a:rPr sz="2200" b="1">
                          <a:solidFill>
                            <a:srgbClr val="FFFFFF"/>
                          </a:solidFill>
                          <a:latin typeface="Be Vietnam Pro"/>
                        </a:rPr>
                        <a:t>0.05 m</a:t>
                      </a:r>
                    </a:p>
                  </a:txBody>
                  <a:tcPr anchor="ctr" marL="114300" marR="114300">
                    <a:solidFill>
                      <a:srgbClr val="1F2933"/>
                    </a:solidFill>
                  </a:tcPr>
                </a:tc>
                <a:tc>
                  <a:txBody>
                    <a:bodyPr/>
                    <a:lstStyle/>
                    <a:p>
                      <a:pPr algn="ctr"/>
                      <a:r>
                        <a:rPr sz="2200" b="1">
                          <a:solidFill>
                            <a:srgbClr val="FFFFFF"/>
                          </a:solidFill>
                          <a:latin typeface="Be Vietnam Pro"/>
                        </a:rPr>
                        <a:t>0.10 m</a:t>
                      </a:r>
                    </a:p>
                  </a:txBody>
                  <a:tcPr anchor="ctr" marL="114300" marR="114300">
                    <a:solidFill>
                      <a:srgbClr val="1F2933"/>
                    </a:solidFill>
                  </a:tcPr>
                </a:tc>
              </a:tr>
              <a:tr h="609600">
                <a:tc>
                  <a:txBody>
                    <a:bodyPr/>
                    <a:lstStyle/>
                    <a:p>
                      <a:pPr algn="l"/>
                      <a:r>
                        <a:rPr sz="2200" b="0">
                          <a:solidFill>
                            <a:srgbClr val="1F2933"/>
                          </a:solidFill>
                          <a:latin typeface="Be Vietnam Pro"/>
                        </a:rPr>
                        <a:t>Car in one cluster</a:t>
                      </a:r>
                    </a:p>
                  </a:txBody>
                  <a:tcPr anchor="ctr" marL="114300" marR="114300">
                    <a:solidFill>
                      <a:srgbClr val="FFFFFF"/>
                    </a:solidFill>
                  </a:tcPr>
                </a:tc>
                <a:tc>
                  <a:txBody>
                    <a:bodyPr/>
                    <a:lstStyle/>
                    <a:p>
                      <a:pPr algn="ctr"/>
                      <a:r>
                        <a:rPr sz="2200" b="0">
                          <a:solidFill>
                            <a:srgbClr val="1F2933"/>
                          </a:solidFill>
                          <a:latin typeface="Be Vietnam Pro"/>
                        </a:rPr>
                        <a:t>55.1%</a:t>
                      </a:r>
                    </a:p>
                  </a:txBody>
                  <a:tcPr anchor="ctr" marL="114300" marR="114300">
                    <a:solidFill>
                      <a:srgbClr val="FFFFFF"/>
                    </a:solidFill>
                  </a:tcPr>
                </a:tc>
                <a:tc>
                  <a:txBody>
                    <a:bodyPr/>
                    <a:lstStyle/>
                    <a:p>
                      <a:pPr algn="ctr"/>
                      <a:r>
                        <a:rPr sz="2200" b="0">
                          <a:solidFill>
                            <a:srgbClr val="1F2933"/>
                          </a:solidFill>
                          <a:latin typeface="Be Vietnam Pro"/>
                        </a:rPr>
                        <a:t>66.0%</a:t>
                      </a:r>
                    </a:p>
                  </a:txBody>
                  <a:tcPr anchor="ctr" marL="114300" marR="114300">
                    <a:solidFill>
                      <a:srgbClr val="FFFFFF"/>
                    </a:solidFill>
                  </a:tcPr>
                </a:tc>
              </a:tr>
              <a:tr h="609600">
                <a:tc>
                  <a:txBody>
                    <a:bodyPr/>
                    <a:lstStyle/>
                    <a:p>
                      <a:pPr algn="l"/>
                      <a:r>
                        <a:rPr sz="2200" b="0">
                          <a:solidFill>
                            <a:srgbClr val="1F2933"/>
                          </a:solidFill>
                          <a:latin typeface="Be Vietnam Pro"/>
                        </a:rPr>
                        <a:t>Car split</a:t>
                      </a:r>
                    </a:p>
                  </a:txBody>
                  <a:tcPr anchor="ctr" marL="114300" marR="114300">
                    <a:solidFill>
                      <a:srgbClr val="EEF0F2"/>
                    </a:solidFill>
                  </a:tcPr>
                </a:tc>
                <a:tc>
                  <a:txBody>
                    <a:bodyPr/>
                    <a:lstStyle/>
                    <a:p>
                      <a:pPr algn="ctr"/>
                      <a:r>
                        <a:rPr sz="2200" b="0">
                          <a:solidFill>
                            <a:srgbClr val="1F2933"/>
                          </a:solidFill>
                          <a:latin typeface="Be Vietnam Pro"/>
                        </a:rPr>
                        <a:t>44.8%</a:t>
                      </a:r>
                    </a:p>
                  </a:txBody>
                  <a:tcPr anchor="ctr" marL="114300" marR="114300">
                    <a:solidFill>
                      <a:srgbClr val="EEF0F2"/>
                    </a:solidFill>
                  </a:tcPr>
                </a:tc>
                <a:tc>
                  <a:txBody>
                    <a:bodyPr/>
                    <a:lstStyle/>
                    <a:p>
                      <a:pPr algn="ctr"/>
                      <a:r>
                        <a:rPr sz="2200" b="1">
                          <a:solidFill>
                            <a:srgbClr val="1F2933"/>
                          </a:solidFill>
                          <a:latin typeface="Be Vietnam Pro"/>
                        </a:rPr>
                        <a:t>33.7%</a:t>
                      </a:r>
                    </a:p>
                  </a:txBody>
                  <a:tcPr anchor="ctr" marL="114300" marR="114300">
                    <a:solidFill>
                      <a:srgbClr val="EEF0F2"/>
                    </a:solidFill>
                  </a:tcPr>
                </a:tc>
              </a:tr>
              <a:tr h="609600">
                <a:tc>
                  <a:txBody>
                    <a:bodyPr/>
                    <a:lstStyle/>
                    <a:p>
                      <a:pPr algn="l"/>
                      <a:r>
                        <a:rPr sz="2200" b="0">
                          <a:solidFill>
                            <a:srgbClr val="1F2933"/>
                          </a:solidFill>
                          <a:latin typeface="Be Vietnam Pro"/>
                        </a:rPr>
                        <a:t>Car merged</a:t>
                      </a:r>
                    </a:p>
                  </a:txBody>
                  <a:tcPr anchor="ctr" marL="114300" marR="114300">
                    <a:solidFill>
                      <a:srgbClr val="FFFFFF"/>
                    </a:solidFill>
                  </a:tcPr>
                </a:tc>
                <a:tc>
                  <a:txBody>
                    <a:bodyPr/>
                    <a:lstStyle/>
                    <a:p>
                      <a:pPr algn="ctr"/>
                      <a:r>
                        <a:rPr sz="2200" b="0">
                          <a:solidFill>
                            <a:srgbClr val="1F2933"/>
                          </a:solidFill>
                          <a:latin typeface="Be Vietnam Pro"/>
                        </a:rPr>
                        <a:t>0.2% (56)</a:t>
                      </a:r>
                    </a:p>
                  </a:txBody>
                  <a:tcPr anchor="ctr" marL="114300" marR="114300">
                    <a:solidFill>
                      <a:srgbClr val="FFFFFF"/>
                    </a:solidFill>
                  </a:tcPr>
                </a:tc>
                <a:tc>
                  <a:txBody>
                    <a:bodyPr/>
                    <a:lstStyle/>
                    <a:p>
                      <a:pPr algn="ctr"/>
                      <a:r>
                        <a:rPr sz="2200" b="1">
                          <a:solidFill>
                            <a:srgbClr val="1F2933"/>
                          </a:solidFill>
                          <a:latin typeface="Be Vietnam Pro"/>
                        </a:rPr>
                        <a:t>0.8% (284)</a:t>
                      </a:r>
                    </a:p>
                  </a:txBody>
                  <a:tcPr anchor="ctr" marL="114300" marR="114300">
                    <a:solidFill>
                      <a:srgbClr val="FFFFFF"/>
                    </a:solidFill>
                  </a:tcPr>
                </a:tc>
              </a:tr>
              <a:tr h="609600">
                <a:tc>
                  <a:txBody>
                    <a:bodyPr/>
                    <a:lstStyle/>
                    <a:p>
                      <a:pPr algn="l"/>
                      <a:r>
                        <a:rPr sz="2200" b="0">
                          <a:solidFill>
                            <a:srgbClr val="1F2933"/>
                          </a:solidFill>
                          <a:latin typeface="Be Vietnam Pro"/>
                        </a:rPr>
                        <a:t>Clusters per split car</a:t>
                      </a:r>
                    </a:p>
                  </a:txBody>
                  <a:tcPr anchor="ctr" marL="114300" marR="114300">
                    <a:solidFill>
                      <a:srgbClr val="EEF0F2"/>
                    </a:solidFill>
                  </a:tcPr>
                </a:tc>
                <a:tc>
                  <a:txBody>
                    <a:bodyPr/>
                    <a:lstStyle/>
                    <a:p>
                      <a:pPr algn="ctr"/>
                      <a:r>
                        <a:rPr sz="2200" b="0">
                          <a:solidFill>
                            <a:srgbClr val="1F2933"/>
                          </a:solidFill>
                          <a:latin typeface="Be Vietnam Pro"/>
                        </a:rPr>
                        <a:t>4.7</a:t>
                      </a:r>
                    </a:p>
                  </a:txBody>
                  <a:tcPr anchor="ctr" marL="114300" marR="114300">
                    <a:solidFill>
                      <a:srgbClr val="EEF0F2"/>
                    </a:solidFill>
                  </a:tcPr>
                </a:tc>
                <a:tc>
                  <a:txBody>
                    <a:bodyPr/>
                    <a:lstStyle/>
                    <a:p>
                      <a:pPr algn="ctr"/>
                      <a:r>
                        <a:rPr sz="2200" b="0">
                          <a:solidFill>
                            <a:srgbClr val="1F2933"/>
                          </a:solidFill>
                          <a:latin typeface="Be Vietnam Pro"/>
                        </a:rPr>
                        <a:t>3.0</a:t>
                      </a:r>
                    </a:p>
                  </a:txBody>
                  <a:tcPr anchor="ctr" marL="114300" marR="114300">
                    <a:solidFill>
                      <a:srgbClr val="EEF0F2"/>
                    </a:solidFill>
                  </a:tcPr>
                </a:tc>
              </a:tr>
            </a:tbl>
          </a:graphicData>
        </a:graphic>
      </p:graphicFrame>
      <p:sp>
        <p:nvSpPr>
          <p:cNvPr id="9" name="TextBox 8"/>
          <p:cNvSpPr txBox="1"/>
          <p:nvPr/>
        </p:nvSpPr>
        <p:spPr>
          <a:xfrm>
            <a:off x="10271760" y="6038850"/>
            <a:ext cx="6873240" cy="1524000"/>
          </a:xfrm>
          <a:prstGeom prst="rect">
            <a:avLst/>
          </a:prstGeom>
          <a:noFill/>
        </p:spPr>
        <p:txBody>
          <a:bodyPr wrap="square" anchor="t" lIns="0" rIns="0" tIns="0" bIns="0">
            <a:spAutoFit/>
          </a:bodyPr>
          <a:lstStyle/>
          <a:p>
            <a:pPr algn="l">
              <a:spcAft>
                <a:spcPts val="0"/>
              </a:spcAft>
            </a:pPr>
            <a:r>
              <a:rPr sz="2400" b="0" i="0">
                <a:solidFill>
                  <a:srgbClr val="1F2933"/>
                </a:solidFill>
                <a:latin typeface="Be Vietnam Pro"/>
              </a:rPr>
              <a:t>Recall 0.710 → 0.732 (+756 true positives),</a:t>
            </a:r>
          </a:p>
          <a:p>
            <a:pPr algn="l">
              <a:spcAft>
                <a:spcPts val="0"/>
              </a:spcAft>
            </a:pPr>
            <a:r>
              <a:rPr sz="2400" b="0" i="0">
                <a:solidFill>
                  <a:srgbClr val="1F2933"/>
                </a:solidFill>
                <a:latin typeface="Be Vietnam Pro"/>
              </a:rPr>
              <a:t>F1 0.798 → 0.812.</a:t>
            </a:r>
          </a:p>
        </p:txBody>
      </p:sp>
      <p:sp>
        <p:nvSpPr>
          <p:cNvPr id="10" name="Rectangle 9"/>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12" name="TextBox 11"/>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3.6.3 IOU-THRESHOLD SENSITIVITY</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How the results change with the matching threshold.</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table: IoU sensitivity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3.6.4 SYNTHETIC PRETRAINING</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Synthetic pretraining adds nothing once enough real clusters are mined.</a:t>
            </a:r>
          </a:p>
        </p:txBody>
      </p:sp>
      <p:sp>
        <p:nvSpPr>
          <p:cNvPr id="4" name="TextBox 3"/>
          <p:cNvSpPr txBox="1"/>
          <p:nvPr/>
        </p:nvSpPr>
        <p:spPr>
          <a:xfrm>
            <a:off x="1143000" y="2095500"/>
            <a:ext cx="7810500" cy="476250"/>
          </a:xfrm>
          <a:prstGeom prst="rect">
            <a:avLst/>
          </a:prstGeom>
          <a:noFill/>
        </p:spPr>
        <p:txBody>
          <a:bodyPr wrap="square" anchor="t" lIns="0" rIns="0" tIns="0" bIns="0">
            <a:spAutoFit/>
          </a:bodyPr>
          <a:lstStyle/>
          <a:p>
            <a:pPr algn="l">
              <a:spcAft>
                <a:spcPts val="0"/>
              </a:spcAft>
            </a:pPr>
            <a:r>
              <a:rPr sz="2400" b="1" i="0">
                <a:solidFill>
                  <a:srgbClr val="1F2933"/>
                </a:solidFill>
                <a:latin typeface="Be Vietnam Pro"/>
              </a:rPr>
              <a:t>Classifier level (seq 08 validation clusters)</a:t>
            </a:r>
          </a:p>
        </p:txBody>
      </p:sp>
      <p:graphicFrame>
        <p:nvGraphicFramePr>
          <p:cNvPr id="5" name="Table 4"/>
          <p:cNvGraphicFramePr>
            <a:graphicFrameLocks noGrp="1"/>
          </p:cNvGraphicFramePr>
          <p:nvPr/>
        </p:nvGraphicFramePr>
        <p:xfrm>
          <a:off x="1143000" y="2762250"/>
          <a:ext cx="7810500" cy="2057400"/>
        </p:xfrm>
        <a:graphic>
          <a:graphicData uri="http://schemas.openxmlformats.org/drawingml/2006/table">
            <a:tbl>
              <a:tblPr firstRow="1" bandRow="1">
                <a:tableStyleId>{5C22544A-7EE6-4342-B048-85BDC9FD1C3A}</a:tableStyleId>
              </a:tblPr>
              <a:tblGrid>
                <a:gridCol w="5640917"/>
                <a:gridCol w="2169583"/>
              </a:tblGrid>
              <a:tr h="685800">
                <a:tc>
                  <a:txBody>
                    <a:bodyPr/>
                    <a:lstStyle/>
                    <a:p>
                      <a:pPr algn="l"/>
                      <a:r>
                        <a:rPr sz="2200" b="1">
                          <a:solidFill>
                            <a:srgbClr val="FFFFFF"/>
                          </a:solidFill>
                          <a:latin typeface="Be Vietnam Pro"/>
                        </a:rPr>
                        <a:t>Training recipe</a:t>
                      </a:r>
                    </a:p>
                  </a:txBody>
                  <a:tcPr anchor="ctr" marL="114300" marR="114300">
                    <a:solidFill>
                      <a:srgbClr val="1F2933"/>
                    </a:solidFill>
                  </a:tcPr>
                </a:tc>
                <a:tc>
                  <a:txBody>
                    <a:bodyPr/>
                    <a:lstStyle/>
                    <a:p>
                      <a:pPr algn="ctr"/>
                      <a:r>
                        <a:rPr sz="2200" b="1">
                          <a:solidFill>
                            <a:srgbClr val="FFFFFF"/>
                          </a:solidFill>
                          <a:latin typeface="Be Vietnam Pro"/>
                        </a:rPr>
                        <a:t>Macro-F1</a:t>
                      </a:r>
                    </a:p>
                  </a:txBody>
                  <a:tcPr anchor="ctr" marL="114300" marR="114300">
                    <a:solidFill>
                      <a:srgbClr val="1F2933"/>
                    </a:solidFill>
                  </a:tcPr>
                </a:tc>
              </a:tr>
              <a:tr h="685800">
                <a:tc>
                  <a:txBody>
                    <a:bodyPr/>
                    <a:lstStyle/>
                    <a:p>
                      <a:pPr algn="l"/>
                      <a:r>
                        <a:rPr sz="2200" b="1">
                          <a:solidFill>
                            <a:srgbClr val="1F2933"/>
                          </a:solidFill>
                          <a:latin typeface="Be Vietnam Pro"/>
                        </a:rPr>
                        <a:t>Real clusters only, from scratch (final)</a:t>
                      </a:r>
                    </a:p>
                  </a:txBody>
                  <a:tcPr anchor="ctr" marL="114300" marR="114300">
                    <a:solidFill>
                      <a:srgbClr val="FFFFFF"/>
                    </a:solidFill>
                  </a:tcPr>
                </a:tc>
                <a:tc>
                  <a:txBody>
                    <a:bodyPr/>
                    <a:lstStyle/>
                    <a:p>
                      <a:pPr algn="ctr"/>
                      <a:r>
                        <a:rPr sz="2200" b="1">
                          <a:solidFill>
                            <a:srgbClr val="1F2933"/>
                          </a:solidFill>
                          <a:latin typeface="Be Vietnam Pro"/>
                        </a:rPr>
                        <a:t>0.9285</a:t>
                      </a:r>
                    </a:p>
                  </a:txBody>
                  <a:tcPr anchor="ctr" marL="114300" marR="114300">
                    <a:solidFill>
                      <a:srgbClr val="FFFFFF"/>
                    </a:solidFill>
                  </a:tcPr>
                </a:tc>
              </a:tr>
              <a:tr h="685800">
                <a:tc>
                  <a:txBody>
                    <a:bodyPr/>
                    <a:lstStyle/>
                    <a:p>
                      <a:pPr algn="l"/>
                      <a:r>
                        <a:rPr sz="2200" b="0">
                          <a:solidFill>
                            <a:srgbClr val="1F2933"/>
                          </a:solidFill>
                          <a:latin typeface="Be Vietnam Pro"/>
                        </a:rPr>
                        <a:t>Synthetic pretraining, then real</a:t>
                      </a:r>
                    </a:p>
                  </a:txBody>
                  <a:tcPr anchor="ctr" marL="114300" marR="114300">
                    <a:solidFill>
                      <a:srgbClr val="EEF0F2"/>
                    </a:solidFill>
                  </a:tcPr>
                </a:tc>
                <a:tc>
                  <a:txBody>
                    <a:bodyPr/>
                    <a:lstStyle/>
                    <a:p>
                      <a:pPr algn="ctr"/>
                      <a:r>
                        <a:rPr sz="2200" b="0">
                          <a:solidFill>
                            <a:srgbClr val="1F2933"/>
                          </a:solidFill>
                          <a:latin typeface="Be Vietnam Pro"/>
                        </a:rPr>
                        <a:t>0.9225</a:t>
                      </a:r>
                    </a:p>
                  </a:txBody>
                  <a:tcPr anchor="ctr" marL="114300" marR="114300">
                    <a:solidFill>
                      <a:srgbClr val="EEF0F2"/>
                    </a:solidFill>
                  </a:tcPr>
                </a:tc>
              </a:tr>
            </a:tbl>
          </a:graphicData>
        </a:graphic>
      </p:graphicFrame>
      <p:sp>
        <p:nvSpPr>
          <p:cNvPr id="6" name="TextBox 5"/>
          <p:cNvSpPr txBox="1"/>
          <p:nvPr/>
        </p:nvSpPr>
        <p:spPr>
          <a:xfrm>
            <a:off x="1143000" y="5048250"/>
            <a:ext cx="7810500" cy="1524000"/>
          </a:xfrm>
          <a:prstGeom prst="rect">
            <a:avLst/>
          </a:prstGeom>
          <a:noFill/>
        </p:spPr>
        <p:txBody>
          <a:bodyPr wrap="square" anchor="t" lIns="0" rIns="0" tIns="0" bIns="0">
            <a:spAutoFit/>
          </a:bodyPr>
          <a:lstStyle/>
          <a:p>
            <a:pPr algn="l">
              <a:spcAft>
                <a:spcPts val="0"/>
              </a:spcAft>
            </a:pPr>
            <a:r>
              <a:rPr sz="2200" b="0" i="0">
                <a:solidFill>
                  <a:srgbClr val="1F2933"/>
                </a:solidFill>
                <a:latin typeface="Be Vietnam Pro"/>
              </a:rPr>
              <a:t>Within run-to-run noise. At pipeline level the two give identical F1 to three decimals.</a:t>
            </a:r>
          </a:p>
        </p:txBody>
      </p:sp>
      <p:sp>
        <p:nvSpPr>
          <p:cNvPr id="7" name="TextBox 6"/>
          <p:cNvSpPr txBox="1"/>
          <p:nvPr/>
        </p:nvSpPr>
        <p:spPr>
          <a:xfrm>
            <a:off x="9334500" y="2095500"/>
            <a:ext cx="7810500" cy="476250"/>
          </a:xfrm>
          <a:prstGeom prst="rect">
            <a:avLst/>
          </a:prstGeom>
          <a:noFill/>
        </p:spPr>
        <p:txBody>
          <a:bodyPr wrap="square" anchor="t" lIns="0" rIns="0" tIns="0" bIns="0">
            <a:spAutoFit/>
          </a:bodyPr>
          <a:lstStyle/>
          <a:p>
            <a:pPr algn="l">
              <a:spcAft>
                <a:spcPts val="0"/>
              </a:spcAft>
            </a:pPr>
            <a:r>
              <a:rPr sz="2400" b="1" i="0">
                <a:solidFill>
                  <a:srgbClr val="1F2933"/>
                </a:solidFill>
                <a:latin typeface="Be Vietnam Pro"/>
              </a:rPr>
              <a:t>Cross-domain transfer (car-class F1)</a:t>
            </a:r>
          </a:p>
        </p:txBody>
      </p:sp>
      <p:graphicFrame>
        <p:nvGraphicFramePr>
          <p:cNvPr id="8" name="Table 7"/>
          <p:cNvGraphicFramePr>
            <a:graphicFrameLocks noGrp="1"/>
          </p:cNvGraphicFramePr>
          <p:nvPr/>
        </p:nvGraphicFramePr>
        <p:xfrm>
          <a:off x="9334500" y="2762250"/>
          <a:ext cx="7810500" cy="2057400"/>
        </p:xfrm>
        <a:graphic>
          <a:graphicData uri="http://schemas.openxmlformats.org/drawingml/2006/table">
            <a:tbl>
              <a:tblPr firstRow="1" bandRow="1">
                <a:tableStyleId>{5C22544A-7EE6-4342-B048-85BDC9FD1C3A}</a:tableStyleId>
              </a:tblPr>
              <a:tblGrid>
                <a:gridCol w="3996070"/>
                <a:gridCol w="1998035"/>
                <a:gridCol w="1816395"/>
              </a:tblGrid>
              <a:tr h="685800">
                <a:tc>
                  <a:txBody>
                    <a:bodyPr/>
                    <a:lstStyle/>
                    <a:p>
                      <a:pPr algn="l"/>
                      <a:r>
                        <a:rPr sz="2200" b="1">
                          <a:solidFill>
                            <a:srgbClr val="FFFFFF"/>
                          </a:solidFill>
                          <a:latin typeface="Be Vietnam Pro"/>
                        </a:rPr>
                        <a:t>Trained on ↓ / tested on →</a:t>
                      </a:r>
                    </a:p>
                  </a:txBody>
                  <a:tcPr anchor="ctr" marL="114300" marR="114300">
                    <a:solidFill>
                      <a:srgbClr val="1F2933"/>
                    </a:solidFill>
                  </a:tcPr>
                </a:tc>
                <a:tc>
                  <a:txBody>
                    <a:bodyPr/>
                    <a:lstStyle/>
                    <a:p>
                      <a:pPr algn="ctr"/>
                      <a:r>
                        <a:rPr sz="2200" b="1">
                          <a:solidFill>
                            <a:srgbClr val="FFFFFF"/>
                          </a:solidFill>
                          <a:latin typeface="Be Vietnam Pro"/>
                        </a:rPr>
                        <a:t>Synthetic</a:t>
                      </a:r>
                    </a:p>
                  </a:txBody>
                  <a:tcPr anchor="ctr" marL="114300" marR="114300">
                    <a:solidFill>
                      <a:srgbClr val="1F2933"/>
                    </a:solidFill>
                  </a:tcPr>
                </a:tc>
                <a:tc>
                  <a:txBody>
                    <a:bodyPr/>
                    <a:lstStyle/>
                    <a:p>
                      <a:pPr algn="ctr"/>
                      <a:r>
                        <a:rPr sz="2200" b="1">
                          <a:solidFill>
                            <a:srgbClr val="FFFFFF"/>
                          </a:solidFill>
                          <a:latin typeface="Be Vietnam Pro"/>
                        </a:rPr>
                        <a:t>Real</a:t>
                      </a:r>
                    </a:p>
                  </a:txBody>
                  <a:tcPr anchor="ctr" marL="114300" marR="114300">
                    <a:solidFill>
                      <a:srgbClr val="1F2933"/>
                    </a:solidFill>
                  </a:tcPr>
                </a:tc>
              </a:tr>
              <a:tr h="685800">
                <a:tc>
                  <a:txBody>
                    <a:bodyPr/>
                    <a:lstStyle/>
                    <a:p>
                      <a:pPr algn="l"/>
                      <a:r>
                        <a:rPr sz="2200" b="0">
                          <a:solidFill>
                            <a:srgbClr val="1F2933"/>
                          </a:solidFill>
                          <a:latin typeface="Be Vietnam Pro"/>
                        </a:rPr>
                        <a:t>Synthetic (Stage A)</a:t>
                      </a:r>
                    </a:p>
                  </a:txBody>
                  <a:tcPr anchor="ctr" marL="114300" marR="114300">
                    <a:solidFill>
                      <a:srgbClr val="FFFFFF"/>
                    </a:solidFill>
                  </a:tcPr>
                </a:tc>
                <a:tc>
                  <a:txBody>
                    <a:bodyPr/>
                    <a:lstStyle/>
                    <a:p>
                      <a:pPr algn="ctr"/>
                      <a:r>
                        <a:rPr sz="2200" b="0">
                          <a:solidFill>
                            <a:srgbClr val="1F2933"/>
                          </a:solidFill>
                          <a:latin typeface="Be Vietnam Pro"/>
                        </a:rPr>
                        <a:t>0.999</a:t>
                      </a:r>
                    </a:p>
                  </a:txBody>
                  <a:tcPr anchor="ctr" marL="114300" marR="114300">
                    <a:solidFill>
                      <a:srgbClr val="FFFFFF"/>
                    </a:solidFill>
                  </a:tcPr>
                </a:tc>
                <a:tc>
                  <a:txBody>
                    <a:bodyPr/>
                    <a:lstStyle/>
                    <a:p>
                      <a:pPr algn="ctr"/>
                      <a:r>
                        <a:rPr sz="2200" b="1">
                          <a:solidFill>
                            <a:srgbClr val="1F2933"/>
                          </a:solidFill>
                          <a:latin typeface="Be Vietnam Pro"/>
                        </a:rPr>
                        <a:t>0.000</a:t>
                      </a:r>
                    </a:p>
                  </a:txBody>
                  <a:tcPr anchor="ctr" marL="114300" marR="114300">
                    <a:solidFill>
                      <a:srgbClr val="FFFFFF"/>
                    </a:solidFill>
                  </a:tcPr>
                </a:tc>
              </a:tr>
              <a:tr h="685800">
                <a:tc>
                  <a:txBody>
                    <a:bodyPr/>
                    <a:lstStyle/>
                    <a:p>
                      <a:pPr algn="l"/>
                      <a:r>
                        <a:rPr sz="2200" b="0">
                          <a:solidFill>
                            <a:srgbClr val="1F2933"/>
                          </a:solidFill>
                          <a:latin typeface="Be Vietnam Pro"/>
                        </a:rPr>
                        <a:t>Real (Stage B)</a:t>
                      </a:r>
                    </a:p>
                  </a:txBody>
                  <a:tcPr anchor="ctr" marL="114300" marR="114300">
                    <a:solidFill>
                      <a:srgbClr val="EEF0F2"/>
                    </a:solidFill>
                  </a:tcPr>
                </a:tc>
                <a:tc>
                  <a:txBody>
                    <a:bodyPr/>
                    <a:lstStyle/>
                    <a:p>
                      <a:pPr algn="ctr"/>
                      <a:r>
                        <a:rPr sz="2200" b="1">
                          <a:solidFill>
                            <a:srgbClr val="1F2933"/>
                          </a:solidFill>
                          <a:latin typeface="Be Vietnam Pro"/>
                        </a:rPr>
                        <a:t>0.000</a:t>
                      </a:r>
                    </a:p>
                  </a:txBody>
                  <a:tcPr anchor="ctr" marL="114300" marR="114300">
                    <a:solidFill>
                      <a:srgbClr val="EEF0F2"/>
                    </a:solidFill>
                  </a:tcPr>
                </a:tc>
                <a:tc>
                  <a:txBody>
                    <a:bodyPr/>
                    <a:lstStyle/>
                    <a:p>
                      <a:pPr algn="ctr"/>
                      <a:r>
                        <a:rPr sz="2200" b="0">
                          <a:solidFill>
                            <a:srgbClr val="1F2933"/>
                          </a:solidFill>
                          <a:latin typeface="Be Vietnam Pro"/>
                        </a:rPr>
                        <a:t>0.885</a:t>
                      </a:r>
                    </a:p>
                  </a:txBody>
                  <a:tcPr anchor="ctr" marL="114300" marR="114300">
                    <a:solidFill>
                      <a:srgbClr val="EEF0F2"/>
                    </a:solidFill>
                  </a:tcPr>
                </a:tc>
              </a:tr>
            </a:tbl>
          </a:graphicData>
        </a:graphic>
      </p:graphicFrame>
      <p:sp>
        <p:nvSpPr>
          <p:cNvPr id="9" name="TextBox 8"/>
          <p:cNvSpPr txBox="1"/>
          <p:nvPr/>
        </p:nvSpPr>
        <p:spPr>
          <a:xfrm>
            <a:off x="9334500" y="5048250"/>
            <a:ext cx="7810500" cy="1524000"/>
          </a:xfrm>
          <a:prstGeom prst="rect">
            <a:avLst/>
          </a:prstGeom>
          <a:noFill/>
        </p:spPr>
        <p:txBody>
          <a:bodyPr wrap="square" anchor="t" lIns="0" rIns="0" tIns="0" bIns="0">
            <a:spAutoFit/>
          </a:bodyPr>
          <a:lstStyle/>
          <a:p>
            <a:pPr algn="l">
              <a:spcAft>
                <a:spcPts val="0"/>
              </a:spcAft>
            </a:pPr>
            <a:r>
              <a:rPr sz="2200" b="0" i="0">
                <a:solidFill>
                  <a:srgbClr val="1F2933"/>
                </a:solidFill>
                <a:latin typeface="Be Vietnam Pro"/>
              </a:rPr>
              <a:t>A model from one domain finds no cars in the other: the gap is total and symmetric.</a:t>
            </a:r>
          </a:p>
        </p:txBody>
      </p:sp>
      <p:sp>
        <p:nvSpPr>
          <p:cNvPr id="10" name="Rectangle 9"/>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12" name="TextBox 11"/>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3.6.5 COMPLETION ABLATIONS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Input quality and normalisation matter more than the network: PoinTr improves synthetic Chamfer distance only from 0.161 to 0.153 m.</a:t>
            </a:r>
          </a:p>
        </p:txBody>
      </p:sp>
      <p:sp>
        <p:nvSpPr>
          <p:cNvPr id="4" name="Rectangle 3"/>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five ablations: normalisation · sim-to-real fine-tuning (negative) · L-shape gate · length · PCN vs PoinTr ]</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III. EXPERIMENTAL EVALUATION</a:t>
            </a:r>
          </a:p>
        </p:txBody>
      </p:sp>
      <p:sp>
        <p:nvSpPr>
          <p:cNvPr id="8" name="TextBox 7"/>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43000" y="2857500"/>
            <a:ext cx="16002000" cy="3810000"/>
          </a:xfrm>
          <a:prstGeom prst="rect">
            <a:avLst/>
          </a:prstGeom>
          <a:noFill/>
        </p:spPr>
        <p:txBody>
          <a:bodyPr wrap="square" anchor="ctr" lIns="0" rIns="0" tIns="0" bIns="0">
            <a:spAutoFit/>
          </a:bodyPr>
          <a:lstStyle/>
          <a:p>
            <a:pPr algn="ctr">
              <a:spcAft>
                <a:spcPts val="1200"/>
              </a:spcAft>
            </a:pPr>
            <a:r>
              <a:rPr sz="5600" b="1" i="0">
                <a:solidFill>
                  <a:srgbClr val="1F2933"/>
                </a:solidFill>
                <a:latin typeface="Be Vietnam Pro"/>
              </a:rPr>
              <a:t>IV. CONCLUSION &amp; FUTURE WORK</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4.1 RESEARCH SUMMARY</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Four findings from a modular framework that needs zero additional manual annotation.</a:t>
            </a:r>
          </a:p>
        </p:txBody>
      </p:sp>
      <p:sp>
        <p:nvSpPr>
          <p:cNvPr id="4" name="Rectangle 3"/>
          <p:cNvSpPr/>
          <p:nvPr/>
        </p:nvSpPr>
        <p:spPr>
          <a:xfrm>
            <a:off x="11430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2875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Detection on real LiDAR</a:t>
            </a:r>
          </a:p>
          <a:p>
            <a:pPr algn="ctr">
              <a:spcAft>
                <a:spcPts val="0"/>
              </a:spcAft>
            </a:pPr>
            <a:r>
              <a:rPr sz="2800" b="0" i="0">
                <a:solidFill>
                  <a:srgbClr val="1F2933"/>
                </a:solidFill>
                <a:latin typeface="Be Vietnam Pro"/>
              </a:rPr>
              <a:t>F1 0.812 on seq 08; 0.793 cross-validated over all 11 sequences</a:t>
            </a:r>
          </a:p>
        </p:txBody>
      </p:sp>
      <p:sp>
        <p:nvSpPr>
          <p:cNvPr id="6" name="Rectangle 5"/>
          <p:cNvSpPr/>
          <p:nvPr/>
        </p:nvSpPr>
        <p:spPr>
          <a:xfrm>
            <a:off x="52387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52450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Plausible completions</a:t>
            </a:r>
          </a:p>
          <a:p>
            <a:pPr algn="ctr">
              <a:spcAft>
                <a:spcPts val="0"/>
              </a:spcAft>
            </a:pPr>
            <a:r>
              <a:rPr sz="2800" b="0" i="0">
                <a:solidFill>
                  <a:srgbClr val="1F2933"/>
                </a:solidFill>
                <a:latin typeface="Be Vietnam Pro"/>
              </a:rPr>
              <a:t>Independent judge's car acceptance: 0.253 raw → 0.785 completed</a:t>
            </a:r>
          </a:p>
        </p:txBody>
      </p:sp>
      <p:sp>
        <p:nvSpPr>
          <p:cNvPr id="8" name="Rectangle 7"/>
          <p:cNvSpPr/>
          <p:nvPr/>
        </p:nvSpPr>
        <p:spPr>
          <a:xfrm>
            <a:off x="93345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2025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Clustering-bound recall</a:t>
            </a:r>
          </a:p>
          <a:p>
            <a:pPr algn="ctr">
              <a:spcAft>
                <a:spcPts val="0"/>
              </a:spcAft>
            </a:pPr>
            <a:r>
              <a:rPr sz="2800" b="0" i="0">
                <a:solidFill>
                  <a:srgbClr val="1F2933"/>
                </a:solidFill>
                <a:latin typeface="Be Vietnam Pro"/>
              </a:rPr>
              <a:t>HDBSCAN splits 33.7% of cars; the classifier is not the limit</a:t>
            </a:r>
          </a:p>
        </p:txBody>
      </p:sp>
      <p:sp>
        <p:nvSpPr>
          <p:cNvPr id="10" name="Rectangle 9"/>
          <p:cNvSpPr/>
          <p:nvPr/>
        </p:nvSpPr>
        <p:spPr>
          <a:xfrm>
            <a:off x="134302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71600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Redundant synthetic pretraining</a:t>
            </a:r>
          </a:p>
          <a:p>
            <a:pPr algn="ctr">
              <a:spcAft>
                <a:spcPts val="0"/>
              </a:spcAft>
            </a:pPr>
            <a:r>
              <a:rPr sz="2800" b="0" i="0">
                <a:solidFill>
                  <a:srgbClr val="1F2933"/>
                </a:solidFill>
                <a:latin typeface="Be Vietnam Pro"/>
              </a:rPr>
              <a:t>Enough auto-mined real clusters make it unnecessary</a:t>
            </a:r>
          </a:p>
        </p:txBody>
      </p:sp>
      <p:sp>
        <p:nvSpPr>
          <p:cNvPr id="12" name="Rectangle 11"/>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IV. CONCLUSION &amp; FUTURE WORK</a:t>
            </a:r>
          </a:p>
        </p:txBody>
      </p:sp>
      <p:sp>
        <p:nvSpPr>
          <p:cNvPr id="14" name="TextBox 13"/>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4.2 LIMITATIONS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Four limits on what the results show.</a:t>
            </a:r>
          </a:p>
        </p:txBody>
      </p:sp>
      <p:sp>
        <p:nvSpPr>
          <p:cNvPr id="4" name="Rectangle 3"/>
          <p:cNvSpPr/>
          <p:nvPr/>
        </p:nvSpPr>
        <p:spPr>
          <a:xfrm>
            <a:off x="11430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2875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Dense scenes only</a:t>
            </a:r>
          </a:p>
          <a:p>
            <a:pPr algn="ctr">
              <a:spcAft>
                <a:spcPts val="0"/>
              </a:spcAft>
            </a:pPr>
            <a:r>
              <a:rPr sz="2800" b="0" i="0">
                <a:solidFill>
                  <a:srgbClr val="1F2933"/>
                </a:solidFill>
                <a:latin typeface="Be Vietnam Pro"/>
              </a:rPr>
              <a:t>Highway seq 01 recall 0.336 vs 0.758 on seq 00 (precision still 0.951)</a:t>
            </a:r>
          </a:p>
        </p:txBody>
      </p:sp>
      <p:sp>
        <p:nvSpPr>
          <p:cNvPr id="6" name="Rectangle 5"/>
          <p:cNvSpPr/>
          <p:nvPr/>
        </p:nvSpPr>
        <p:spPr>
          <a:xfrm>
            <a:off x="52387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52450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Recall ceiling</a:t>
            </a:r>
          </a:p>
          <a:p>
            <a:pPr algn="ctr">
              <a:spcAft>
                <a:spcPts val="0"/>
              </a:spcAft>
            </a:pPr>
            <a:r>
              <a:rPr sz="2800" b="0" i="0">
                <a:solidFill>
                  <a:srgbClr val="1F2933"/>
                </a:solidFill>
                <a:latin typeface="Be Vietnam Pro"/>
              </a:rPr>
              <a:t>0.773 before any learned stage</a:t>
            </a:r>
          </a:p>
        </p:txBody>
      </p:sp>
      <p:sp>
        <p:nvSpPr>
          <p:cNvPr id="8" name="Rectangle 7"/>
          <p:cNvSpPr/>
          <p:nvPr/>
        </p:nvSpPr>
        <p:spPr>
          <a:xfrm>
            <a:off x="93345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2025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Plausibility only</a:t>
            </a:r>
          </a:p>
          <a:p>
            <a:pPr algn="ctr">
              <a:spcAft>
                <a:spcPts val="0"/>
              </a:spcAft>
            </a:pPr>
            <a:r>
              <a:rPr sz="2800" b="0" i="0">
                <a:solidFill>
                  <a:srgbClr val="1F2933"/>
                </a:solidFill>
                <a:latin typeface="Be Vietnam Pro"/>
              </a:rPr>
              <a:t>Fidelity metrics do not corroborate the completion gain</a:t>
            </a:r>
          </a:p>
        </p:txBody>
      </p:sp>
      <p:sp>
        <p:nvSpPr>
          <p:cNvPr id="10" name="Rectangle 9"/>
          <p:cNvSpPr/>
          <p:nvPr/>
        </p:nvSpPr>
        <p:spPr>
          <a:xfrm>
            <a:off x="134302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716000" y="2476500"/>
            <a:ext cx="314325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Offline</a:t>
            </a:r>
          </a:p>
          <a:p>
            <a:pPr algn="ctr">
              <a:spcAft>
                <a:spcPts val="0"/>
              </a:spcAft>
            </a:pPr>
            <a:r>
              <a:rPr sz="2800" b="0" i="0">
                <a:solidFill>
                  <a:srgbClr val="1F2933"/>
                </a:solidFill>
                <a:latin typeface="Be Vietnam Pro"/>
              </a:rPr>
              <a:t>623.5 ms per frame; real time is out of scope</a:t>
            </a:r>
          </a:p>
        </p:txBody>
      </p:sp>
      <p:sp>
        <p:nvSpPr>
          <p:cNvPr id="12" name="Rectangle 11"/>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IV. CONCLUSION &amp; FUTURE WORK</a:t>
            </a:r>
          </a:p>
        </p:txBody>
      </p:sp>
      <p:sp>
        <p:nvSpPr>
          <p:cNvPr id="14" name="TextBox 13"/>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4.3 DISCUSSION &amp; FUTURE WORK</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Three next steps, each scoped by a finding.</a:t>
            </a:r>
          </a:p>
        </p:txBody>
      </p:sp>
      <p:sp>
        <p:nvSpPr>
          <p:cNvPr id="4" name="Rectangle 3"/>
          <p:cNvSpPr/>
          <p:nvPr/>
        </p:nvSpPr>
        <p:spPr>
          <a:xfrm>
            <a:off x="1143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28750" y="2476500"/>
            <a:ext cx="450850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Real-time variant</a:t>
            </a:r>
          </a:p>
          <a:p>
            <a:pPr algn="ctr">
              <a:spcAft>
                <a:spcPts val="0"/>
              </a:spcAft>
            </a:pPr>
            <a:r>
              <a:rPr sz="2800" b="0" i="0">
                <a:solidFill>
                  <a:srgbClr val="1F2933"/>
                </a:solidFill>
                <a:latin typeface="Be Vietnam Pro"/>
              </a:rPr>
              <a:t>A native or GPU HDBSCAN implementation</a:t>
            </a:r>
          </a:p>
        </p:txBody>
      </p:sp>
      <p:sp>
        <p:nvSpPr>
          <p:cNvPr id="6" name="Rectangle 5"/>
          <p:cNvSpPr/>
          <p:nvPr/>
        </p:nvSpPr>
        <p:spPr>
          <a:xfrm>
            <a:off x="6604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89750" y="2476500"/>
            <a:ext cx="450850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Real-data fine-tuning</a:t>
            </a:r>
          </a:p>
          <a:p>
            <a:pPr algn="ctr">
              <a:spcAft>
                <a:spcPts val="0"/>
              </a:spcAft>
            </a:pPr>
            <a:r>
              <a:rPr sz="2800" b="0" i="0">
                <a:solidFill>
                  <a:srgbClr val="1F2933"/>
                </a:solidFill>
                <a:latin typeface="Be Vietnam Pro"/>
              </a:rPr>
              <a:t>Close the synthetic-to-real gap for completion</a:t>
            </a:r>
          </a:p>
        </p:txBody>
      </p:sp>
      <p:sp>
        <p:nvSpPr>
          <p:cNvPr id="8" name="Rectangle 7"/>
          <p:cNvSpPr/>
          <p:nvPr/>
        </p:nvSpPr>
        <p:spPr>
          <a:xfrm>
            <a:off x="12065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50750" y="2476500"/>
            <a:ext cx="450850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Downstream detection</a:t>
            </a:r>
          </a:p>
          <a:p>
            <a:pPr algn="ctr">
              <a:spcAft>
                <a:spcPts val="0"/>
              </a:spcAft>
            </a:pPr>
            <a:r>
              <a:rPr sz="2800" b="0" i="0">
                <a:solidFill>
                  <a:srgbClr val="1F2933"/>
                </a:solidFill>
                <a:latin typeface="Be Vietnam Pro"/>
              </a:rPr>
              <a:t>Test whether completed cars improve 3D detection</a:t>
            </a:r>
          </a:p>
        </p:txBody>
      </p:sp>
      <p:sp>
        <p:nvSpPr>
          <p:cNvPr id="10" name="Rectangle 9"/>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IV. CONCLUSION &amp; FUTURE WORK</a:t>
            </a:r>
          </a:p>
        </p:txBody>
      </p:sp>
      <p:sp>
        <p:nvSpPr>
          <p:cNvPr id="12" name="TextBox 11"/>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pt_logo.png"/>
          <p:cNvPicPr>
            <a:picLocks noChangeAspect="1"/>
          </p:cNvPicPr>
          <p:nvPr/>
        </p:nvPicPr>
        <p:blipFill>
          <a:blip r:embed="rId2"/>
          <a:stretch>
            <a:fillRect/>
          </a:stretch>
        </p:blipFill>
        <p:spPr>
          <a:xfrm>
            <a:off x="7775065" y="571500"/>
            <a:ext cx="2737871" cy="1047750"/>
          </a:xfrm>
          <a:prstGeom prst="rect">
            <a:avLst/>
          </a:prstGeom>
        </p:spPr>
      </p:pic>
      <p:sp>
        <p:nvSpPr>
          <p:cNvPr id="3" name="TextBox 2"/>
          <p:cNvSpPr txBox="1"/>
          <p:nvPr/>
        </p:nvSpPr>
        <p:spPr>
          <a:xfrm>
            <a:off x="1143000" y="1905000"/>
            <a:ext cx="16002000" cy="1333500"/>
          </a:xfrm>
          <a:prstGeom prst="rect">
            <a:avLst/>
          </a:prstGeom>
          <a:noFill/>
        </p:spPr>
        <p:txBody>
          <a:bodyPr wrap="square" anchor="t" lIns="0" rIns="0" tIns="0" bIns="0">
            <a:spAutoFit/>
          </a:bodyPr>
          <a:lstStyle/>
          <a:p>
            <a:pPr algn="ctr">
              <a:spcAft>
                <a:spcPts val="800"/>
              </a:spcAft>
            </a:pPr>
            <a:r>
              <a:rPr sz="5600" b="1" i="0">
                <a:solidFill>
                  <a:srgbClr val="1F2933"/>
                </a:solidFill>
                <a:latin typeface="Be Vietnam Pro"/>
              </a:rPr>
              <a:t>THANK YOU.</a:t>
            </a:r>
          </a:p>
          <a:p>
            <a:pPr algn="ctr">
              <a:spcAft>
                <a:spcPts val="800"/>
              </a:spcAft>
            </a:pPr>
            <a:r>
              <a:rPr sz="3600" b="1" i="0">
                <a:solidFill>
                  <a:srgbClr val="1F2933"/>
                </a:solidFill>
                <a:latin typeface="Be Vietnam Pro"/>
              </a:rPr>
              <a:t>QUESTIONS ARE WELCOME.</a:t>
            </a:r>
          </a:p>
        </p:txBody>
      </p:sp>
      <p:pic>
        <p:nvPicPr>
          <p:cNvPr id="4" name="Picture 3" descr="d3_master_pipeline.drawio.png"/>
          <p:cNvPicPr>
            <a:picLocks noChangeAspect="1"/>
          </p:cNvPicPr>
          <p:nvPr/>
        </p:nvPicPr>
        <p:blipFill>
          <a:blip r:embed="rId3"/>
          <a:stretch>
            <a:fillRect/>
          </a:stretch>
        </p:blipFill>
        <p:spPr>
          <a:xfrm>
            <a:off x="1143000" y="4138543"/>
            <a:ext cx="16002000" cy="4676913"/>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LIDAR POINT CLOUD PROPERTIES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A LiDAR scan is an unordered set of 3D points that gets sparser with range and sees each object from one side.</a:t>
            </a:r>
          </a:p>
        </p:txBody>
      </p:sp>
      <p:sp>
        <p:nvSpPr>
          <p:cNvPr id="4" name="Rectangle 3"/>
          <p:cNvSpPr/>
          <p:nvPr/>
        </p:nvSpPr>
        <p:spPr>
          <a:xfrm>
            <a:off x="1143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28750" y="2476500"/>
            <a:ext cx="450850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Unordered</a:t>
            </a:r>
          </a:p>
          <a:p>
            <a:pPr algn="ctr">
              <a:spcAft>
                <a:spcPts val="0"/>
              </a:spcAft>
            </a:pPr>
            <a:r>
              <a:rPr sz="2800" b="0" i="0">
                <a:solidFill>
                  <a:srgbClr val="1F2933"/>
                </a:solidFill>
                <a:latin typeface="Be Vietnam Pro"/>
              </a:rPr>
              <a:t>No fixed order, unlike the pixels of an image</a:t>
            </a:r>
          </a:p>
        </p:txBody>
      </p:sp>
      <p:sp>
        <p:nvSpPr>
          <p:cNvPr id="6" name="Rectangle 5"/>
          <p:cNvSpPr/>
          <p:nvPr/>
        </p:nvSpPr>
        <p:spPr>
          <a:xfrm>
            <a:off x="6604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89750" y="2476500"/>
            <a:ext cx="450850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Sparser with range</a:t>
            </a:r>
          </a:p>
          <a:p>
            <a:pPr algn="ctr">
              <a:spcAft>
                <a:spcPts val="0"/>
              </a:spcAft>
            </a:pPr>
            <a:r>
              <a:rPr sz="2800" b="0" i="0">
                <a:solidFill>
                  <a:srgbClr val="1F2933"/>
                </a:solidFill>
                <a:latin typeface="Be Vietnam Pro"/>
              </a:rPr>
              <a:t>Far objects get only a handful of points</a:t>
            </a:r>
          </a:p>
        </p:txBody>
      </p:sp>
      <p:sp>
        <p:nvSpPr>
          <p:cNvPr id="8" name="Rectangle 7"/>
          <p:cNvSpPr/>
          <p:nvPr/>
        </p:nvSpPr>
        <p:spPr>
          <a:xfrm>
            <a:off x="12065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50750" y="2476500"/>
            <a:ext cx="4508500" cy="6286500"/>
          </a:xfrm>
          <a:prstGeom prst="rect">
            <a:avLst/>
          </a:prstGeom>
          <a:noFill/>
        </p:spPr>
        <p:txBody>
          <a:bodyPr wrap="square" anchor="ctr" lIns="0" rIns="0" tIns="0" bIns="0">
            <a:spAutoFit/>
          </a:bodyPr>
          <a:lstStyle/>
          <a:p>
            <a:pPr algn="ctr">
              <a:spcAft>
                <a:spcPts val="1400"/>
              </a:spcAft>
            </a:pPr>
            <a:r>
              <a:rPr sz="3200" b="1" i="0">
                <a:solidFill>
                  <a:srgbClr val="1F2933"/>
                </a:solidFill>
                <a:latin typeface="Be Vietnam Pro"/>
              </a:rPr>
              <a:t>One-sided</a:t>
            </a:r>
          </a:p>
          <a:p>
            <a:pPr algn="ctr">
              <a:spcAft>
                <a:spcPts val="0"/>
              </a:spcAft>
            </a:pPr>
            <a:r>
              <a:rPr sz="2800" b="0" i="0">
                <a:solidFill>
                  <a:srgbClr val="1F2933"/>
                </a:solidFill>
                <a:latin typeface="Be Vietnam Pro"/>
              </a:rPr>
              <a:t>Each object is seen from one side only</a:t>
            </a:r>
          </a:p>
        </p:txBody>
      </p:sp>
      <p:sp>
        <p:nvSpPr>
          <p:cNvPr id="10" name="Rectangle 9"/>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BACKUP</a:t>
            </a:r>
          </a:p>
        </p:txBody>
      </p:sp>
      <p:sp>
        <p:nvSpPr>
          <p:cNvPr id="12" name="TextBox 11"/>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HOW HDBSCAN WORKS</a:t>
            </a:r>
          </a:p>
        </p:txBody>
      </p:sp>
      <p:sp>
        <p:nvSpPr>
          <p:cNvPr id="3" name="TextBox 2"/>
          <p:cNvSpPr txBox="1"/>
          <p:nvPr/>
        </p:nvSpPr>
        <p:spPr>
          <a:xfrm>
            <a:off x="1143000" y="1000125"/>
            <a:ext cx="16002000" cy="952500"/>
          </a:xfrm>
          <a:prstGeom prst="rect">
            <a:avLst/>
          </a:prstGeom>
          <a:noFill/>
        </p:spPr>
        <p:txBody>
          <a:bodyPr wrap="square" anchor="t" lIns="0" rIns="0" tIns="0" bIns="0">
            <a:spAutoFit/>
          </a:bodyPr>
          <a:lstStyle/>
          <a:p>
            <a:pPr algn="ctr">
              <a:spcAft>
                <a:spcPts val="0"/>
              </a:spcAft>
            </a:pPr>
            <a:r>
              <a:rPr sz="3000" b="0" i="0">
                <a:solidFill>
                  <a:srgbClr val="1F2933"/>
                </a:solidFill>
                <a:latin typeface="Be Vietnam Pro"/>
              </a:rPr>
              <a:t>It tries every radius at once, and keeps a group whole if it holds together longer than its pieces would.</a:t>
            </a:r>
          </a:p>
        </p:txBody>
      </p:sp>
      <p:pic>
        <p:nvPicPr>
          <p:cNvPr id="4" name="Picture 3" descr="hdbscan_explainer.png"/>
          <p:cNvPicPr>
            <a:picLocks noChangeAspect="1"/>
          </p:cNvPicPr>
          <p:nvPr/>
        </p:nvPicPr>
        <p:blipFill>
          <a:blip r:embed="rId2"/>
          <a:stretch>
            <a:fillRect/>
          </a:stretch>
        </p:blipFill>
        <p:spPr>
          <a:xfrm>
            <a:off x="1143000" y="2286000"/>
            <a:ext cx="16002000" cy="6667500"/>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BACKUP</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REPAIR STRATEGIES AND WHY THEY FAIL</a:t>
            </a:r>
          </a:p>
        </p:txBody>
      </p:sp>
      <p:sp>
        <p:nvSpPr>
          <p:cNvPr id="3" name="Rectangle 2"/>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Repair Strategies and Why They Fail ]</a:t>
            </a:r>
          </a:p>
        </p:txBody>
      </p:sp>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BACKUP</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THE NORMALISATION BUG</a:t>
            </a:r>
          </a:p>
        </p:txBody>
      </p:sp>
      <p:sp>
        <p:nvSpPr>
          <p:cNvPr id="3" name="Rectangle 2"/>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The Normalisation Bug ]</a:t>
            </a:r>
          </a:p>
        </p:txBody>
      </p:sp>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BACKUP</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IS THE JUDGE INDEPENDENT?</a:t>
            </a:r>
          </a:p>
        </p:txBody>
      </p:sp>
      <p:sp>
        <p:nvSpPr>
          <p:cNvPr id="3" name="Rectangle 2"/>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Is the Judge Independent? ]</a:t>
            </a:r>
          </a:p>
        </p:txBody>
      </p:sp>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BACKUP</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FIDELITY METRICS: UCD AND UHD</a:t>
            </a:r>
          </a:p>
        </p:txBody>
      </p:sp>
      <p:sp>
        <p:nvSpPr>
          <p:cNvPr id="3" name="Rectangle 2"/>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Fidelity Metrics: UCD and UHD ]</a:t>
            </a:r>
          </a:p>
        </p:txBody>
      </p:sp>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BACKUP</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WORKED EXAMPLE: IOU MATCHING</a:t>
            </a:r>
          </a:p>
        </p:txBody>
      </p:sp>
      <p:sp>
        <p:nvSpPr>
          <p:cNvPr id="3" name="Rectangle 2"/>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Worked Example: IoU Matching ]</a:t>
            </a:r>
          </a:p>
        </p:txBody>
      </p:sp>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BACKUP</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85750"/>
            <a:ext cx="16002000" cy="666750"/>
          </a:xfrm>
          <a:prstGeom prst="rect">
            <a:avLst/>
          </a:prstGeom>
          <a:noFill/>
        </p:spPr>
        <p:txBody>
          <a:bodyPr wrap="square" anchor="t" lIns="0" rIns="0" tIns="0" bIns="0">
            <a:spAutoFit/>
          </a:bodyPr>
          <a:lstStyle/>
          <a:p>
            <a:pPr algn="ctr">
              <a:spcAft>
                <a:spcPts val="0"/>
              </a:spcAft>
            </a:pPr>
            <a:r>
              <a:rPr sz="4400" b="1" i="0">
                <a:solidFill>
                  <a:srgbClr val="1F2933"/>
                </a:solidFill>
                <a:latin typeface="Be Vietnam Pro"/>
              </a:rPr>
              <a:t>PIPELINE CONFIGURATION</a:t>
            </a:r>
          </a:p>
        </p:txBody>
      </p:sp>
      <p:sp>
        <p:nvSpPr>
          <p:cNvPr id="3" name="Rectangle 2"/>
          <p:cNvSpPr/>
          <p:nvPr/>
        </p:nvSpPr>
        <p:spPr>
          <a:xfrm>
            <a:off x="1143000" y="2095500"/>
            <a:ext cx="16002000" cy="7048500"/>
          </a:xfrm>
          <a:prstGeom prst="rect">
            <a:avLst/>
          </a:prstGeom>
          <a:solidFill>
            <a:srgbClr val="F7F7F7"/>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33500" y="2095500"/>
            <a:ext cx="15621000" cy="7048500"/>
          </a:xfrm>
          <a:prstGeom prst="rect">
            <a:avLst/>
          </a:prstGeom>
          <a:noFill/>
        </p:spPr>
        <p:txBody>
          <a:bodyPr wrap="square" anchor="ctr" lIns="0" rIns="0" tIns="0" bIns="0">
            <a:spAutoFit/>
          </a:bodyPr>
          <a:lstStyle/>
          <a:p>
            <a:pPr algn="ctr">
              <a:spcAft>
                <a:spcPts val="0"/>
              </a:spcAft>
            </a:pPr>
            <a:r>
              <a:rPr sz="2000" b="0" i="1">
                <a:solidFill>
                  <a:srgbClr val="6B7280"/>
                </a:solidFill>
                <a:latin typeface="Be Vietnam Pro"/>
              </a:rPr>
              <a:t>[ Pipeline Configuration ]</a:t>
            </a:r>
          </a:p>
        </p:txBody>
      </p:sp>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9525000"/>
            <a:ext cx="11430000" cy="762000"/>
          </a:xfrm>
          <a:prstGeom prst="rect">
            <a:avLst/>
          </a:prstGeom>
          <a:noFill/>
        </p:spPr>
        <p:txBody>
          <a:bodyPr wrap="square" anchor="ctr" lIns="0" rIns="0" tIns="0" bIns="0">
            <a:spAutoFit/>
          </a:bodyPr>
          <a:lstStyle/>
          <a:p>
            <a:pPr algn="l">
              <a:spcAft>
                <a:spcPts val="0"/>
              </a:spcAft>
            </a:pPr>
            <a:r>
              <a:rPr sz="2400" b="1" i="1">
                <a:solidFill>
                  <a:srgbClr val="FFFFFF"/>
                </a:solidFill>
                <a:latin typeface="Be Vietnam Pro"/>
              </a:rPr>
              <a:t>BACKUP</a:t>
            </a:r>
          </a:p>
        </p:txBody>
      </p:sp>
      <p:sp>
        <p:nvSpPr>
          <p:cNvPr id="7" name="TextBox 6"/>
          <p:cNvSpPr txBox="1"/>
          <p:nvPr/>
        </p:nvSpPr>
        <p:spPr>
          <a:xfrm>
            <a:off x="15240000" y="9525000"/>
            <a:ext cx="2667000" cy="762000"/>
          </a:xfrm>
          <a:prstGeom prst="rect">
            <a:avLst/>
          </a:prstGeom>
          <a:noFill/>
        </p:spPr>
        <p:txBody>
          <a:bodyPr wrap="square" anchor="ctr" lIns="0" rIns="0" tIns="0" bIns="0">
            <a:spAutoFit/>
          </a:bodyPr>
          <a:lstStyle/>
          <a:p>
            <a:pPr algn="r">
              <a:spcAft>
                <a:spcPts val="0"/>
              </a:spcAft>
            </a:pPr>
            <a:r>
              <a:rPr sz="2400" b="0" i="0">
                <a:solidFill>
                  <a:srgbClr val="FFFFFF"/>
                </a:solidFill>
                <a:latin typeface="Be Vietnam Pro"/>
              </a:rPr>
              <a:t>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