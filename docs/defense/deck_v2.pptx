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b="1">
                <a:solidFill>
                  <a:srgbClr val="1F2933"/>
                </a:solidFill>
                <a:latin typeface="Segoe UI"/>
              </a:rPr>
              <a:t>Judged a car (acceptance)</a:t>
            </a:r>
          </a:p>
        </c:rich>
      </c:tx>
      <c:layout/>
      <c:overlay val="0"/>
    </c:title>
    <c:autoTitleDeleted val="0"/>
    <c:plotArea>
      <c:barChart>
        <c:barDir val="col"/>
        <c:grouping val="clustered"/>
        <c:ser>
          <c:idx val="0"/>
          <c:order val="0"/>
          <c:tx>
            <c:strRef>
              <c:f>Sheet1!$B$1</c:f>
              <c:strCache>
                <c:ptCount val="1"/>
                <c:pt idx="0">
                  <c:v>Judged a car</c:v>
                </c:pt>
              </c:strCache>
            </c:strRef>
          </c:tx>
          <c:dPt>
            <c:idx val="0"/>
            <c:spPr>
              <a:solidFill>
                <a:srgbClr val="2B5C8A"/>
              </a:solidFill>
            </c:spPr>
          </c:dPt>
          <c:dPt>
            <c:idx val="1"/>
            <c:spPr>
              <a:solidFill>
                <a:srgbClr val="D9822B"/>
              </a:solidFill>
            </c:spPr>
          </c:dPt>
          <c:dPt>
            <c:idx val="2"/>
            <c:spPr>
              <a:solidFill>
                <a:srgbClr val="9AA0A6"/>
              </a:solidFill>
            </c:spPr>
          </c:dPt>
          <c:cat>
            <c:strRef>
              <c:f>Sheet1!$A$2:$A$4</c:f>
              <c:strCache>
                <c:ptCount val="3"/>
                <c:pt idx="0">
                  <c:v>Raw scan</c:v>
                </c:pt>
                <c:pt idx="1">
                  <c:v>Completed</c:v>
                </c:pt>
                <c:pt idx="2">
                  <c:v>Dense reference</c:v>
                </c:pt>
              </c:strCache>
            </c:strRef>
          </c:cat>
          <c:val>
            <c:numRef>
              <c:f>Sheet1!$B$2:$B$4</c:f>
              <c:numCache>
                <c:formatCode>General</c:formatCode>
                <c:ptCount val="3"/>
                <c:pt idx="0">
                  <c:v>0.253</c:v>
                </c:pt>
                <c:pt idx="1">
                  <c:v>0.785</c:v>
                </c:pt>
                <c:pt idx="2">
                  <c:v>0.807</c:v>
                </c:pt>
              </c:numCache>
            </c:numRef>
          </c:val>
        </c:ser>
        <c:dLbls>
          <c:numFmt formatCode="0.000" sourceLinked="0"/>
          <c:txPr>
            <a:bodyPr/>
            <a:lstStyle/>
            <a:p>
              <a:pPr>
                <a:defRPr sz="2200" b="1">
                  <a:latin typeface="Segoe U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2000">
                <a:latin typeface="Segoe UI"/>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D1D5DB"/>
              </a:solidFill>
            </a:ln>
          </c:spPr>
        </c:majorGridlines>
        <c:numFmt formatCode="0.00" sourceLinked="0"/>
        <c:majorTickMark val="out"/>
        <c:minorTickMark val="none"/>
        <c:tickLblPos val="nextTo"/>
        <c:txPr>
          <a:bodyPr/>
          <a:lstStyle/>
          <a:p>
            <a:pPr>
              <a:defRPr sz="1800">
                <a:latin typeface="Segoe UI"/>
              </a:defRPr>
            </a:pPr>
          </a:p>
        </c:txPr>
        <c:crossAx val="-2068027336"/>
        <c:crosses val="autoZero"/>
        <c:majorUnit val="0.25"/>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Kính thưa quý thầy cô trong Hội đồng, em là Ngô Vi Việt Anh. Em xin trình bày luận văn "Khung hệ thống mô-đun phát hiện và hoàn thiện phương tiện bị che khuất trong dữ liệu LiDAR ô tô", dưới sự hướng dẫn của Tiến sĩ Đoàn Nhật Quang.</a:t>
            </a:r>
          </a:p>
          <a:p/>
          <a:p>
            <a:r>
              <a:t>EN: Good morning. I am Ngo Vi Viet Anh, and I will present my thesis, a modular detection and completion framework for occluded vehicles in automotive LiDAR, supervised by Dr. Doan Nhat Quang.</a:t>
            </a:r>
          </a:p>
          <a:p/>
          <a:p>
            <a:r>
              <a:t>★ TALK 0:15 — title, name, supervisor.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Bài trình bày gồm bốn phần: giới thiệu, phương pháp đề xuất, thực nghiệm và đánh giá, và cuối cùng là kết luận.</a:t>
            </a:r>
          </a:p>
          <a:p/>
          <a:p>
            <a:r>
              <a:t>EN: The talk has four parts: introduction, method, evaluation, and conclusion.</a:t>
            </a:r>
          </a:p>
          <a:p/>
          <a:p>
            <a:r>
              <a:t>★ TALK 0:10 — four parts.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Một chiếc xe tự lái cần biết các xe khác đang ở đâu, lớn cỡ nào và quay về hướng nào. LiDAR đo trực tiếp điều này: nó phát các xung laser và thu về một đám mây hơn một trăm nghìn điểm cho mỗi lần quét. Có ba đặc điểm quan trọng. Các điểm không có thứ tự, khác với điểm ảnh. Chúng thưa dần theo khoảng cách. Và tia laser chỉ chạm tới phía hướng về cảm biến. Bên phải là một chiếc xe thật cách sáu mét: ta thấy phía gần và một đầu xe, còn nửa xa thì hoàn toàn không có. Vì vậy mỗi chiếc xe ta phát hiện được chỉ là một nửa chiếc xe. Luận văn này phát hiện các xe đó, rồi hoàn thiện nửa còn thiếu.</a:t>
            </a:r>
          </a:p>
          <a:p/>
          <a:p>
            <a:r>
              <a:t>EN: A self-driving car must know where the other cars are, how big they are, and which way they face. LiDAR measures this directly: it sends laser pulses and gets back a cloud of more than a hundred thousand points per scan. Three properties matter. The points have no order, unlike the pixels of an image. They get sparser with distance. And the laser only reaches the side facing the sensor. On the right is a real car six metres away: we see the near side and one end, and the far half is simply missing. So every car we detect is only half a car. This thesis detects those cars, and then completes the missing half.</a:t>
            </a:r>
          </a:p>
          <a:p/>
          <a:p>
            <a:r>
              <a:t>★ TALK 1:00 — source: D1; fig:bg-lidar-scan (b); say the 3 point-cloud properties aloud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Hiện nay, cách làm phổ biến là một mạng học sâu lớn được huấn luyện đầu-cuối. Các mạng này có độ chính xác cao nhất, và em muốn nói rõ điều đó. Nhưng chúng có hai cái giá. Chúng cần nhãn cho từng điểm để huấn luyện, việc này rất tốn kém. Và quyết định của chúng phân tán qua hàng triệu trọng số, nên rất khó giải thích vì sao một chiếc xe bị bỏ sót. Chúng em chọn hướng mô-đun: tám bước nhỏ, sáu bước cổ điển và hai bước học máy nhỏ. Hai bước học máy dùng nhãn khai thác tự động và hình dạng tổng hợp, nên không cần thêm nhãn thủ công, và mỗi bước đều kiểm tra được riêng. Cái giá là độ chính xác thấp hơn, điều mà chúng em chấp nhận và đo lường rõ ràng.</a:t>
            </a:r>
          </a:p>
          <a:p/>
          <a:p>
            <a:r>
              <a:t>EN: Today the standard approach is one large deep network trained end to end. These networks are the most accurate, and I want to say that clearly. But they have two costs. They need a label on every point to train, which is very expensive. And their decisions are spread over millions of weights, so a missed car is hard to explain. We take the modular route: eight small steps, six classical and two small learned ones. The learned steps use labels mined automatically and synthetic shapes, so no new manual labels are needed, and every step can be checked on its own. The price is lower accuracy, which we accept and measure.</a:t>
            </a:r>
          </a:p>
          <a:p/>
          <a:p>
            <a:r>
              <a:t>★ TALK 1:00 — source: D2; ch1 §1.1 (examples); ch2 §2.2.2–2.2.3. If asked how we compare: different metrics (their all-class mIoU vs our car-only point F1), not one scale; see 1.3 / tab:positioning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Không có cột độ chính xác, có chủ ý: mIoU / PQ của họ tính trên mọi lớp, còn F1 theo điểm của chúng em chỉ cho lớp xe; đó là hai phép đo khác nhau.</a:t>
            </a:r>
          </a:p>
          <a:p/>
          <a:p>
            <a:r>
              <a:t>○ SUPPORT (skip in talk) — source: ch2 §2.2 (bg-deep, bg-classical, bg-completion); tab:positioning for the per-method table. No accuracy column on purpose: their mIoU / PQ over all classes and our car-only point F1 are different measurements (ch2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Như vậy, khoảng trống nghiên cứu gồm bốn điểm. Các bộ phát hiện chính xác cần nhãn dày đặc và khó kiểm tra bên trong. Còn với bài toán hoàn thiện, không có chiếc xe thật bị che nào đi kèm hình dạng đầy đủ, nên không có dữ liệu thật để huấn luyện, và cũng không có hình dạng chuẩn để kiểm thử. Luận văn phải giải quyết cả việc huấn luyện lẫn kiểm thử khi thiếu những thứ đó.</a:t>
            </a:r>
          </a:p>
          <a:p/>
          <a:p>
            <a:r>
              <a:t>EN: So the gap has four parts. Accurate detectors need dense labels, and they are hard to inspect. And for completion, no real occluded car comes with its full shape, so there is nothing real to train on, and no true shape to test against. The thesis has to solve both training and testing without that.</a:t>
            </a:r>
          </a:p>
          <a:p/>
          <a:p>
            <a:r>
              <a:t>★ TALK 0:40 — source: ch1 §1.1–1.2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Luận văn đặt ra ba mục tiêu: kiểm chứng một hệ thống mô-đun dựa trên hình học có thể phát hiện phương tiện một cách minh bạch hay không; đánh giá bước hoàn thiện trên LiDAR thật, nơi không có dữ liệu chuẩn đầy đủ; và kiểm chứng việc huấn luyện bằng dữ liệu tổng hợp cùng nhãn khai thác tự động có chuyển được sang dữ liệu thật hay không. Từ đó có hai đóng góp: chính khung hệ thống mô-đun phát hiện và hoàn thiện, kiểm tra được ở mọi bước; và làm được tất cả mà không cần thêm nhãn thủ công nào.</a:t>
            </a:r>
          </a:p>
          <a:p/>
          <a:p>
            <a:r>
              <a:t>Ý NGHĨA (để nắm; không nói ra)</a:t>
            </a:r>
          </a:p>
          <a:p>
            <a:r>
              <a:t>MT1 Phát hiện dựa trên hình học: các bước chủ yếu viết tay (RANSAC, HDBSCAN, luật kích thước) cùng hai bước học máy nhỏ có tìm xe tốt không, mà mọi bước vẫn kiểm tra được? F1 0,812 trên chuỗi 08, 0,793 trên cả 11 chuỗi; vai trò từng bước đo được (dương tính giả 108.831 → 4.303 → 2.513).</a:t>
            </a:r>
          </a:p>
          <a:p>
            <a:r>
              <a:t>MT2 Hoàn thiện trên LiDAR thật: không xe thật nào có sẵn hình dạng đầy đủ, nên không tính được khoảng cách tới hình dạng chuẩn. Thay vào đó, một bộ phân loại độc lập đánh giá hình dạng hoàn thiện có giống xe không (phương pháp của Chen và cộng sự; phần của chúng em: bộ đánh giá độc lập, ngưỡng đạt đặt trước): 25% → 79%, bản quét thật dày đặc 81%.</a:t>
            </a:r>
          </a:p>
          <a:p>
            <a:r>
              <a:t>MT3 Chuyển giao không cần nhãn mới: hai bước học máy, hai nguồn nhãn, không nguồn nào cần làm thủ công thêm.</a:t>
            </a:r>
          </a:p>
          <a:p>
            <a:r>
              <a:t> - Chỉ huấn luyện bằng dữ liệu tổng hợp: PCN không thấy xe thật nào khi huấn luyện; nó học từ mô hình 3D phương tiện được quét bằng laser mô phỏng. Nó có chạy được trên bản quét KITTI thật không? Theo bộ đánh giá thì có: 25% → 79%.</a:t>
            </a:r>
          </a:p>
          <a:p>
            <a:r>
              <a:t> - Nhãn khai thác tự động: bộ phân loại xe / không phải xe cần ví dụ có nhãn. Chúng em chạy lại chính hệ thống trên SemanticKITTI và gán nhãn từng cụm tự động từ nhãn từng điểm có sẵn: xe hay không theo đa số, chỉ giữ cụm có độ thuần từ 75% trở lên. 420.333 cụm, không cần người gán.</a:t>
            </a:r>
          </a:p>
          <a:p>
            <a:r>
              <a:t> - Chuyển giao = kiểm thử trên dữ liệu không dùng để huấn luyện: kiểm định chéo bỏ một chuỗi, F1 0,793.</a:t>
            </a:r>
          </a:p>
          <a:p>
            <a:r>
              <a:t> - "Không cần nhãn thủ công mới": nhãn SemanticKITTI đã có sẵn (do người làm); chúng em không thêm nhãn nào. Nói "không cần thêm nhãn thủ công", không bao giờ nói "không dùng nhãn".</a:t>
            </a:r>
          </a:p>
          <a:p>
            <a:r>
              <a:t>ĐG1 = MT1 + MT2 được xây dựng và đo như một hệ thống. ĐG2 = câu trả lời cho MT3.</a:t>
            </a:r>
          </a:p>
          <a:p/>
          <a:p>
            <a:r>
              <a:t>EN: We set three objectives: test whether a modular, geometry-first pipeline can detect vehicles transparently; evaluate completion on real LiDAR, where no complete ground truth exists; and test whether synthetic training and automatically mined labels transfer to real data. This gives two contributions: the modular detection and completion framework itself, inspectable at every stage; and doing all of it with zero additional manual annotation.</a:t>
            </a:r>
          </a:p>
          <a:p/>
          <a:p>
            <a:r>
              <a:t>MEANING (not spoken; for questions)</a:t>
            </a:r>
          </a:p>
          <a:p>
            <a:r>
              <a:t>O1 Geometry-first detection: can mostly hand-written steps (RANSAC, HDBSCAN, size rules) plus two small learned ones find cars well, with every step checkable? F1 0.812 on seq 08, 0.793 across all 11 sequences; each stage's job is measured (false positives 108,831 → 4,303 → 2,513).</a:t>
            </a:r>
          </a:p>
          <a:p>
            <a:r>
              <a:t>O2 Completion on real LiDAR: no real car comes with its full shape, so there is no distance to a true shape to compute. Instead an independent classifier judges whether completed shapes look like cars (Chen et al.'s method; ours: the independent judge, pass mark fixed in advance): 25% → 79%, dense real scans 81%.</a:t>
            </a:r>
          </a:p>
          <a:p>
            <a:r>
              <a:t>O3 Transfer without new labels: two learned steps, two label sources, neither needs new manual work.</a:t>
            </a:r>
          </a:p>
          <a:p>
            <a:r>
              <a:t> - Synthetic-only training: PCN never sees a real car in training; it learns from 3D vehicle models scanned by a simulated laser. Does it still work on real KITTI scans? By the judge, yes: 25% → 79%.</a:t>
            </a:r>
          </a:p>
          <a:p>
            <a:r>
              <a:t> - Auto-mined supervision: the car / not-car classifier needs labelled examples. We replay our own pipeline on SemanticKITTI and label each cluster automatically from the existing per-point labels: car or not-car by majority, kept only if at least 75% pure. 420,333 clusters, no person involved.</a:t>
            </a:r>
          </a:p>
          <a:p>
            <a:r>
              <a:t> - Transfer = tested on scans it was not trained on: leave-one-sequence-out F1 0.793.</a:t>
            </a:r>
          </a:p>
          <a:p>
            <a:r>
              <a:t> - "Without new manual labels": the SemanticKITTI labels already existed (people made them); we add none. Say "zero additional manual annotation", never "annotation-free".</a:t>
            </a:r>
          </a:p>
          <a:p>
            <a:r>
              <a:t>C1 = O1 + O2 built and measured as one system. C2 = the answer to O3.</a:t>
            </a:r>
          </a:p>
          <a:p/>
          <a:p>
            <a:r>
              <a:t>★ TALK 0:45 — source: ch1 §Objectives,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Đây là toàn bộ hệ thống. Hàng trên là phần phát hiện: làm sạch bản quét, loại bỏ mặt đất bằng RANSAC, gom các điểm còn lại thành cụm bằng HDBSCAN, loại các cụm rõ ràng không phải xe bằng quy tắc kích thước, rồi một bộ phân loại PointNet nhỏ quyết định là xe hay không. Sau đó bộ theo vết liên kết các phát hiện theo thời gian và quyết định một lần cho mỗi vật thể. Hàng dưới là phần hoàn thiện: mỗi chiếc xe được kiểm tra, đưa về một hệ toạ độ chuẩn, rồi được mạng PCN hoàn thiện thành một chiếc xe đầy đủ gồm 4.096 điểm. Ô màu xanh là phương pháp cổ điển, ô màu cam là học máy: chỉ có hai bước cần học.</a:t>
            </a:r>
          </a:p>
          <a:p/>
          <a:p>
            <a:r>
              <a:t>EN: Here is the whole system. The top row is detection: we clean the scan, remove the ground with RANSAC, group the remaining points into clusters with HDBSCAN, drop obvious non-cars with size rules, and a small PointNet classifier decides car or not. A tracker then links detections over time and decides once per object. The bottom row is completion: each tracked car is checked, put into a standard frame, and completed by a network called PCN into a full car of 4,096 points. Blue boxes are classical, orange are learned: only two steps learn anything.</a:t>
            </a:r>
          </a:p>
          <a:p/>
          <a:p>
            <a:r>
              <a:t>★ TALK 1:00 — source: D3; fig:architecture, fig:pipeline, fig:completion-pipeline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Sơ đồ chuỗi phát hiện, lấy từ hình trong luận văn (chương 3).</a:t>
            </a:r>
          </a:p>
          <a:p/>
          <a:p>
            <a:r>
              <a:t>○ SUPPORT (skip in talk) — source: ch3 §detection pipeline; fig:pipeline (crop: scripts/crop_thesis_figure.py 3.2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Đầu tiên, chúng em làm sạch bản quét: đưa về lưới 5 cm và loại bỏ các điểm nhiễu lẻ. Tiếp theo là mặt đất. RANSAC đoán một mặt phẳng từ ba điểm ngẫu nhiên và đếm xem bao nhiêu điểm đồng ý với nó, tức là nằm trong phạm vi 20 cm. Một lần đoán sai, bên trái, chỉ được khoảng một nghìn phiếu. Một lần đoán trúng mặt đường, bên phải, được ba mươi nghìn phiếu. Sau 300 lần đoán, thuật toán giữ mặt phẳng tốt nhất và xoá các điểm đó như là mặt đất.</a:t>
            </a:r>
          </a:p>
          <a:p/>
          <a:p>
            <a:r>
              <a:t>EN: First we clean the scan: thin it to a 5-centimetre grid and remove stray noise points. Then the ground. RANSAC guesses a plane from three random points and counts how many points agree with it, meaning they lie within 20 centimetres. A bad guess, on the left, gets about a thousand votes. A guess on the road, on the right, gets thirty thousand. After 300 guesses it keeps the winner and removes those points as ground.</a:t>
            </a:r>
          </a:p>
          <a:p/>
          <a:p>
            <a:r>
              <a:t>★ TALK 0:45 — source: D4 (seq 08 frame 2500, one-frame illustration: counts are NOT thesis results); ch2 §RANSAC; ch3 §preprocessing, §RANSAC.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Khi mặt đất đã được loại bỏ, HDBSCAN gom các điểm còn lại thành các vật thể. Điểm mạnh của nó là thích ứng với mật độ, nên một chiếc xe gần với nhiều điểm và một chiếc xe xa với ít điểm đều có thể thành một cụm, điều mà một khoảng cách cố định không làm được. Trong khung hình này nó tìm được khoảng hai trăm cụm: có xe, nhưng cũng có tường, cột và bụi cây. Các bước tiếp theo sẽ quyết định cụm nào là xe. Xin lưu ý một điểm yếu: đôi khi nó cắt một chiếc xe thành nhiều mảnh. Chúng em sẽ quay lại vấn đề này.</a:t>
            </a:r>
          </a:p>
          <a:p/>
          <a:p>
            <a:r>
              <a:t>EN: With the ground gone, HDBSCAN groups the remaining points into objects. Its strength is that it adapts to density, so a dense car close by and a sparse car far away can both form a group, which a single fixed distance cannot do. On this frame it finds about two hundred clusters: cars, but also walls, poles and bushes. The next steps decide which ones are cars. Remember one weakness: it sometimes cuts a car into pieces. We will come back to that.</a:t>
            </a:r>
          </a:p>
          <a:p/>
          <a:p>
            <a:r>
              <a:t>★ TALK 0:45 — source: D5 = same seq 08 frame 2500 as D4 (scripts/make_d5_clusters.py, pipeline's own preprocess, remove_ground, cluster_objects); one-frame illustration: the 205 clusters are NOT a thesis result. Concept: fig:clustering; fig:bg-pipeline-stages.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Riêng bước hình học: độ chính xác 0,199, độ phủ 0,773. Nếu được hỏi ngưỡng nào làm mất xe: 27.718 cụm bị loại có trùng với một xe thật; 73,9% do ngưỡng thể tích tối thiểu và 12,7% do ngưỡng số điểm tối thiểu, tức là các mảnh nhỏ của những xe đã bị tách (luận văn nêu đây là suy luận).</a:t>
            </a:r>
          </a:p>
          <a:p/>
          <a:p>
            <a:r>
              <a:t>○ SUPPORT (skip in talk) — source: fig:geo-filter (crop: scripts/crop_thesis_figure.py 3.4 geo_filter); gates = ch3 §Geometric Filtering; P 0.199 / R 0.773 = tab:ablation-stage geometric-only row. If asked which gates cost cars: 27,718 rejected clusters overlap a GT car, 73.9% by the minimum-volume and 12.7% by the minimum-points gate, i.e. small splinters of already-split cars (the thesis states this as an inference).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Trước hết, một bộ lọc hình học loại bỏ các cụm có kích thước hoặc hình dạng không phù hợp. Sau đó là bộ phân loại. Làn trên là huấn luyện: chúng em chạy chính hệ thống của mình trên các chuỗi huấn luyện, và với mỗi cụm, tra nhãn có sẵn của SemanticKITTI để biết cụm đó có phần lớn là xe hay không. Kết quả là 420.000 cụm có nhãn, mà không ai phải gán thêm nhãn mới. Bộ phân loại, một mạng PointNet nhỏ, học cách đưa ra cùng câu trả lời chỉ từ các điểm. Làn dưới là lúc sử dụng: trên một bản quét mới không có nhãn nào, chỉ có các điểm đi vào, và đầu ra là xe hoặc không phải xe.</a:t>
            </a:r>
          </a:p>
          <a:p/>
          <a:p>
            <a:r>
              <a:t>EN: A geometric filter first drops clusters with the wrong size or shape. Then comes the classifier. The top lane is training: we run our own pipeline over the training sequences, and for each cluster we look up the existing SemanticKITTI labels to see whether it is mostly car. That gives 420,000 labelled clusters, and nobody labels anything new. The classifier, a small PointNet, learns to give the same answer from the points alone. The bottom lane is use: on a new scan there are no labels, only the points go in, and out comes car or not-car.</a:t>
            </a:r>
          </a:p>
          <a:p/>
          <a:p>
            <a:r>
              <a:t>★ TALK 1:00 — source: D6+D7 merged. Top lane (training) = ch3 §training data (mined, not hand labelled); bottom lane (inference) = fig:classifier, simplified. Story: the top lane is the answer key, looked up from SemanticKITTI labels; the classifier learns to give the same answer from the points alone, so on a new scan, with no labels, only the bottom lane runs. Say 'zero additional manual annotation', not 'annotation-free'. Counts: 420,333 training clusters (seq 00-07, 09, 10), 130,394 validation (seq 08), about 21% car / 79% not-car.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Mỗi phát hiện được nối với vết gần nhất trong phạm vi 2 mét, từ khung hình này sang khung hình kế tiếp. Sau đó quyết định một lần cho mỗi vết: đó là xe nếu ít nhất hai, và ít nhất một nửa số khung hình, bỏ phiếu là xe. Một chiếc xe đỗ bị bộ phân loại bỏ sót một lần vẫn được giữ; một bụi cây bị nhận nhầm là xe một lần thì bị loại. Trên chuỗi 08, bước này lấy lại gần 2.000 phát hiện đúng và loại bỏ gần 1.800 phát hiện sai.</a:t>
            </a:r>
          </a:p>
          <a:p/>
          <a:p>
            <a:r>
              <a:t>EN: Each detection is linked to the nearest track within 2 metres, frame to frame. Then we decide once per track: it is a car if at least two, and at least half, of its frames vote car. A parked car the classifier misses once is kept; a bush called a car once is dropped. On sequence 8 that wins back almost 2,000 correct detections and removes almost 1,800 false ones.</a:t>
            </a:r>
          </a:p>
          <a:p/>
          <a:p>
            <a:r>
              <a:t>★ TALK 0:30 — source: D8; fig:tracker, ch3 §Multi-Frame Tracking, tab:pipeline-config tracker rows. Say: each detection is linked to the nearest track within 2 metres, frame to frame. Then one decision per track, not per frame: a track is a car if at least 2 and at least half of its frames vote car. Top: a parked car the classifier misses once is kept in every frame, so recall goes up. Bottom: a bush called a car once is dropped, so precision goes up. On seq 08: +1,968 true positives and 1,790 fewer false positives (tab:ablation-stage). It uses the whole track, so it is offline, like the rest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Bây giờ là phần hoàn thiện. PCN là một mạng mã hoá–giải mã tiêu chuẩn: nó nén nửa chiếc xe thành một mã hình dạng, rồi dựng lại cả chiếc xe từ mã đó, 256 điểm vào và 4.096 điểm ra. Mạng chỉ được huấn luyện trên mô hình 3D tổng hợp, nên có hai điều giúp nó hoạt động trên bản quét thật. Thứ nhất, dữ liệu huấn luyện được mô phỏng để trông giống bản quét thật: một góc nhìn laser, lưới 5 cm, cắt bỏ mặt đất. Thứ hai, khi chạy thực tế, bản quét thật được kiểm tra, xoay, dịch và chỉnh tỉ lệ về đúng hệ toạ độ mà mạng đã học.</a:t>
            </a:r>
          </a:p>
          <a:p/>
          <a:p>
            <a:r>
              <a:t>EN: Now completion. PCN is a standard encoder-decoder: it squeezes the half car into one shape code and grows a full car from it, 256 points in and 4,096 out. It is trained only on synthetic 3D models, so two things make it work on real scans. First, the training inputs are simulated to look like a real scan: one laser viewpoint, a 5-centimetre grid, the ground cut off. Second, at test time the real scan is checked, turned, shifted and sized into exactly the frame the network trained in.</a:t>
            </a:r>
          </a:p>
          <a:p/>
          <a:p>
            <a:r>
              <a:t>★ TALK 1:00 — source: D11; fig:pcn, ch3 §Completion Network, §Training Data, §Inference-Time Partial Normalisation. Say: PCN is a standard encoder-decoder: it squeezes the partial into one shape code and grows a full car from it, 256 points in, 4,096 out. It is trained only on synthetic ShapeNet meshes, so two things make it work on real scans. First, the training inputs are simulated to look like a real scan: one laser viewpoint, 5 cm voxels, the ground cut off (next slide). Second, at test time the real scan is checked, turned, shifted and sized into exactly the frame the network trained in (slide 19). Backup 57 only if asked about the input frame; answer in qa_bank.md.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Hình minh hoạ, không phải kết quả. Ô 1: bản quét mô phỏng do chính bộ sinh dữ liệu huấn luyện tạo ra (một góc nhìn HDL-64E, voxel 5 cm, cắt mặt đất 0,30 m). Ô 2: mô hình đầy đủ mà PCN phải dựng ra (mô hình ShapeNet có cả nội thất, nên thấy ghế). Ô 3: một bản quét thật một khung hình (xe C, slide 35). Nói: đầu vào mô phỏng có cùng góc nhìn một phía và các đường quét như bản quét thật, nên trên đường mạng gặp đúng loại đầu vào như lúc huấn luyện. Mạng nhận 256 điểm. Nếu hỏi sao không dựng đơn giản hơn: bản dựng ảnh độ sâu dày đặc lúc đầu không có đường quét, không voxel, không cắt mặt đất, nên không giống LiDAR. Huấn luyện: 100 epoch, Adam 1e-4, batch 8, loss kiểm định tốt nhất 0,1246.</a:t>
            </a:r>
          </a:p>
          <a:p/>
          <a:p>
            <a:r>
              <a:t>○ SUPPORT (skip in talk) — source: D14 (scripts/make_d14_partials.py): illustration, not a result. Panel 1 = the training code's own generator on the thesis fig:kitti-like-partial mesh (one HDL-64E view, 5 cm voxels, 0.30 m ground cut); panel 2 = the complete-model sample PCN must output (ShapeNet meshes include the interior, hence the seats); panel 3 = a real single-frame scan (car C, slide 35). Say: the simulated input has the same one-sided view and scan lines as the real scan, so the network meets the same kind of input on the road as in training. The network sees 256 of these points. ch3 §Training Data. If asked why not a simpler render: an early dense pinhole render had no scan lines, no voxels and no ground cut, so it did not look like LiDAR. Training: 100 epochs, Adam 1e-4, batch 8, best validation loss 0.1246.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Mã hình học thật của hệ thống chạy trên xe C (chuỗi 03, slide 18 và 35), đúng bản quét đã được hoàn thiện. Minh hoạ, không phải kết quả. 1 Kiểm tra: khớp hình chữ L 3,7 × 1,5 m, nằm trong ngưỡng (dài ít nhất 2,7 m, rộng nhiều nhất 2,3 m). 2 Xoay: chiều dài theo trục huấn luyện, trọng lực hướng lên. 3 Dịch: tâm bản quét không phải tâm xe; đẩy 0,95 − 1,52/2 = 0,19 m ra xa cảm biến (giả định bề rộng 1,9 m), 0,23 m về phía đầu không thấy, 0,25 m xuống dưới để bù phần cắt mặt đất. 4 Chỉnh tỉ lệ: chia cho khoảng cách lớn nhất / 1,137; điểm có thể nằm ra ngoài vòng tròn, đó chính là phần hiệu chỉnh. Sau đó 256 điểm vào PCN và kết quả được xoay trả lại. Cách nhớ: kiểm tra, xoay, dịch, chỉnh tỉ lệ.</a:t>
            </a:r>
          </a:p>
          <a:p/>
          <a:p>
            <a:r>
              <a:t>○ SUPPORT (skip in talk) — source: D15 (scripts/make_d15_normalisation.py): the production geometry code on car C (seq 03, slides 18 and 35), the exact scan production completed. Illustration, not a result. 1 Check: L-shape fit 3.7 x 1.5 m, inside the gate (at least 2.7 m long, at most 2.3 m wide). 2 Turn: length onto the training axis, gravity up. 3 Shift: the scan's middle is not the car's middle; push 0.95 - 1.52/2 = 0.19 m away from the sensor (1.9 m width prior), 0.23 m toward the unseen end, 0.25 m down for the ground cut. 4 Size: divide by the largest distance / 1.137; points can poke past the circle, that's the correction. Then 256 points go into PCN and the result is rotated back. Memory hook: check, turn, shift, size. ch3 §Object Completion, §Inference-Time Partial Normalisation, tab:completion-config.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Phóng to bốn bước của slide 19. Nguồn gốc các con số: 1,137 là trung vị tỉ lệ giữa bán kính của bản quét một phía và bán kính thật, đo trên xe tổng hợp; 4,14 m là chiều dài xe trung vị; 1,9 m là bề rộng một xe đầy đủ; 0,25 m bù độ lệch lên trên do cắt mặt đất. Khớp hình chữ L (Zhang 2017): thử các hướng hình chữ nhật cách nhau 1 độ và giữ hướng mà các điểm bám sát cạnh nhất; cạnh dài hơn là chiều dài. Trên dữ liệu thật, hướng nó cho không tốt hơn PCA; giá trị của nó là bắt được các mảnh và các cụm bị gộp. Chiều dài: phân vị 90 của các lần khớp đã qua ngưỡng trong vết, cộng 0,12 m (dùng phân vị, không dùng giá trị lớn nhất, để một lần khớp xấu không quyết định); nếu ít hơn 5 khung hình qua ngưỡng thì dùng trung vị 4,14 m.</a:t>
            </a:r>
          </a:p>
          <a:p/>
          <a:p>
            <a:r>
              <a:t>○ SUPPORT (skip in talk) — source: Close-up of slide 19's four steps. fig:lshape-gate (crop_thesis_figure.py 3.10 lshape_gate); values = tab:completion-config verbatim, grouped by step. Where the numbers come from: 1.137 is the median ratio of a one-sided partial's radius to the true radius, measured on synthetic cars; 4.14 m is the median car length; 1.9 m a full car width; 0.25 m undoes the upward bias of the ground cut (ch3). L-shape fit (Zhang 2017): try rectangle orientations 1 degree apart and keep the one whose edges the points hug; longer side = length. On real data its heading is no better than PCA; it earns its place by catching fragments and merges. Length: 90th percentile of the track's gate-passed fits + 0.12 m (a quantile, not the maximum, so one bad fit can't set it); 4.14 m median prior if fewer than 5 frames pass.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Chuỗi 08 là chuỗi kiểm định của bộ phân loại, không phải tập kiểm thử; kiểm định chéo bỏ một chuỗi (3.2.3) là cách kiểm soát rò rỉ dữ liệu.</a:t>
            </a:r>
          </a:p>
          <a:p/>
          <a:p>
            <a:r>
              <a:t>○ SUPPORT (skip in talk) — source: tab:dataset-roles, tab:sensor-spec, tab:dataset, verbatim. Seq 08 is the classifier's validation sequence, not a test set; LOSO (3.2.3) is the leakage control.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Xe được tính khi còn ít nhất 10 điểm sau tiền xử lý; 25,5% số xe được gán nhãn bị loại. Độ phủ trên tất cả xe được gán nhãn khoảng 0,55, so với 0,732 trên các xe đủ điều kiện.</a:t>
            </a:r>
          </a:p>
          <a:p/>
          <a:p>
            <a:r>
              <a:t>○ SUPPORT (skip in talk) — source: ch4 §eligibility — ≥10 surviving points; 25.5% of annotated cars excluded; recall vs ALL annotated cars ≈ 0.55 (ch4, ch5) vs 0.732 eligible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Vì sao không so trực tiếp với các mạng có giám sát: họ báo cáo mIoU trên mọi lớp / chất lượng panoptic và huấn luyện bằng nhãn dày đặc từng điểm; chúng em báo cáo F1 theo điểm chỉ cho lớp xe. Đặt chung một cột là so những con số mà độ đo không cho phép so; khoảng cách về độ chính xác là có thật và được nêu trong luận văn. Bước hoàn thiện không có mốc so sánh bên ngoài trên dữ liệu thật, nên được so với chính đầu vào của nó (theo cặp), một tham chiếu dày đặc (mức trần) và PoinTr.</a:t>
            </a:r>
          </a:p>
          <a:p/>
          <a:p>
            <a:r>
              <a:t>○ SUPPORT (skip in talk) — source: ch4 §Baseline Methods; tab:positioning (ch2). Why no head-to-head with supervised networks: they report all-class mIoU / panoptic quality and train on dense per-point labels; we report a car-only point-level F1. Putting them in one column would compare numbers the metrics do not support; the accuracy gap is real and stated in the thesis text. Completion has no external baseline on real data, so it is compared with its own input (paired), a dense reference (upper bound) and PoinTr.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 Một phát hiện được tính là xe khi nó chung ít nhất 30% số điểm với một chiếc xe thật. Ghép cặp có độ trùng cao nhất trước, mỗi bên chỉ dùng một lần. Ghép được là dương tính đúng, phát hiện thừa là dương tính giả, xe bị bỏ sót là âm tính giả, tính trên mọi khung hình. Với bước hoàn thiện, không có dữ liệu chuẩn, nên một bộ đánh giá độc lập quyết định mỗi đầu ra có giống xe hay không.</a:t>
            </a:r>
          </a:p>
          <a:p/>
          <a:p>
            <a:r>
              <a:t>EN: ⚑ A detection counts as a car when it shares at least 30% of its points with a real car. Best overlap first, one to one. A match is a true positive, an extra detection a false positive, a missed car a false negative, counted over every frame. For completion there is no ground truth, so an independent judge decides whether each output looks like a car.</a:t>
            </a:r>
          </a:p>
          <a:p/>
          <a:p>
            <a:r>
              <a:t>★ TALK 0:30 — source: fig:bg-iou; ch4 §Evaluation Metrics; ch4 §plausibility. Say: a detection counts as a car when it shares at least 30% of its points with a real car (intersection over union); best overlap first, one-to-one. Matched is a true positive, an extra detection a false positive, a missed car a false negative, counted over every frame. For completion there is no ground truth, so an independent judge decides whether each output looks like a car (next section). Don't explain why 0.3. HOOK H2 → slide 46; answer in qa_bank.md.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Fold 08 và bộ phân loại cuối cùng dùng chung dữ liệu, kiến trúc và chế độ 15 epoch; chỉ khác ở epoch được giữ lại. Gộp chung (pooled) là cộng dồn số đếm (độ phủ 0,717); trung bình đơn giản của 11 fold là 0,632 ± 0,119, bị kéo xuống bởi hai chuỗi nhỏ, thưa là 01 và 04. Fold chuỗi 00: P 0,921 / R 0,758 / F1 0,831.</a:t>
            </a:r>
          </a:p>
          <a:p/>
          <a:p>
            <a:r>
              <a:t>○ SUPPORT (skip in talk) — source: ch4 §Dataset Splits, §LOSO; tab:loso, tab:headline (scripts/make_loso_grid.py). Fold-08 and the final classifier share data, architecture and the 15-epoch regime; they differ only in which epoch is kept. Pooled sums the counts (0.717); the macro mean of the 11 folds is 0.632 ± 0.119, pulled down by the small, sparse seqs 01 and 04. Seq 00 fold: P 0.921 / R 0.758 / F1 0.831.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Kết quả trên chuỗi 08, lần lượt từng bước, từ trái sang phải. Riêng bộ lọc hình học giữ được phần lớn số xe, độ phủ (recall) 0,773, nhưng bốn trên năm phát hiện là sai. Bộ phân loại loại bỏ khoảng 104.000 dương tính giả, độ chính xác (precision) đạt 0,846, đổi lại độ phủ giảm một chút. Bộ lọc theo vết lấy lại gần 2.000 phát hiện đúng. Kết quả cuối: độ chính xác 0,911, độ phủ 0,732, F1 0,812. Trên cả mười một chuỗi, mỗi chuỗi được chấm bởi một bộ phân loại chưa từng thấy nó, F1 đạt 0,793, chênh khoảng hai điểm.</a:t>
            </a:r>
          </a:p>
          <a:p/>
          <a:p>
            <a:r>
              <a:t>EN: Results on sequence 8, one stage at a time, left to right. The geometric filter alone keeps most cars, recall 0.773, but four in five of its detections are false. The classifier removes about 104,000 false positives, precision 0.846, at some cost in recall. The track filter wins back almost 2,000 correct detections. Final precision 0.911, recall 0.732, F1 0.812. Across all eleven sequences, each scored by a classifier that never saw it, F1 is 0.793, within about two points.</a:t>
            </a:r>
          </a:p>
          <a:p/>
          <a:p>
            <a:r>
              <a:t>★ TALK 1:00 — source: D9 = tab:ablation-stage, numbers verbatim (scripts/make_d9_funnel.py); table = tab:headline + tab:loso pooled row. Story, left to right: the geometric filter keeps most cars (recall 0.773) but 4 of 5 detections are false positives (precision 0.199); the classifier removes about 104,000 false positives (precision 0.846) and pays some recall (0.676); the track filter wins back 1,968 true positives and drops more false positives (0.911 / 0.732 / F1 0.812). Counts are per-frame matches over the sequence, not distinct cars. Table row 2 = tab:loso pooled (each fold's classifier never saw its test sequence). If asked whether we selected and report on seq 08: the seq-08 fold of LOSO (classifier blind to seq 08) gets 0.888 / 0.736 / 0.805, so selection bought about 2 precision points and no recall (tab:headline).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Hình lấy nguyên từ luận văn. Dương tính giả khoảng 0,6 mỗi khung hình (2.513 / 4.071).</a:t>
            </a:r>
          </a:p>
          <a:p/>
          <a:p>
            <a:r>
              <a:t>○ SUPPORT (skip in talk) — source: fig:bev-detections (thesis seq08_bev_detections.png, unchanged). False positives about 0.6 per frame (2,513 / 4,071).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Vì sao độ phủ là 0,73? Riêng bước hình học đã tìm được 77% số xe, nhiều hơn cả hệ thống hoàn chỉnh, nên bộ phân loại không phải là giới hạn. Giới hạn nằm ở bước phân cụm: một phần ba số xe bị tách thành nhiều mảnh. Ở đây một chiếc xe đỗ bị vỡ ra; chỉ một lát mỏng được phát hiện nhưng trùng với xe quá ít, nên chiếc xe này gây ra một dương tính giả và một lần bỏ sót. Hiện tượng tách xảy ra nhiều nhất ở gần: một nửa số xe trong phạm vi 10 mét. ⚑ Chúng em đã thử sáu cách sửa việc tách, cả sáu đều thất bại; chỉ một thay đổi có hiệu quả: dùng lưới phân cụm thô hơn, giúp độ phủ tăng từ 0,710 lên 0,732.</a:t>
            </a:r>
          </a:p>
          <a:p/>
          <a:p>
            <a:r>
              <a:t>EN: Why is recall 0.73? The geometric stage alone already finds 77% of cars, more than the full pipeline, so the classifier is not the limit. The limit is clustering: a third of cars are split into pieces. Here a parked car is broken up; one thin slice is detected but overlaps the car too little, so this one car costs a false positive and a miss. Splits are worst close by: half of the cars within 10 metres. ⚑ Six repairs for the splitting failed; one change worked: a coarser clustering grid, which raised recall from 0.710 to 0.732.</a:t>
            </a:r>
          </a:p>
          <a:p/>
          <a:p>
            <a:r>
              <a:t>★ TALK 1:00 — source: D10 = fig:failure-zooms frame-250 row (scripts/make_d10_crop.py); split rate by range = ch4 §split analysis (0.10 m grid); recall by range = tab:distance. Say: the geometric stage alone already finds 77% of cars, more than the full pipeline, so the classifier is not what limits recall. The limit is clustering: a third of cars are split into pieces (33.7%, tab:splitrate). Here a parked car is broken up; one thin slice is detected but overlaps the car too little, so this one car costs a false positive and a miss. Splits are worst close by: half of the cars within 10 m, so near-range recall is lower than at 10 to 20 m. Six repairs for the splitting failed; one change worked: a coarser clustering grid, recall 0.710 to 0.732. (Don't list the others.) HOOK H3 → backup 56; answer in qa_bank.md.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tỉ lệ bị tách lấy từ phần phân tích tách cụm (chương 4). Mẫu cách 20 khung hình, tính theo từng khung, tắt bộ lọc theo vết (lấy mẫu cách quãng làm hỏng bộ theo vết), nên độ phủ gộp 0,671 không phải con số chính 0,732. IoU trung bình của các xe được ghép tăng theo khoảng cách: những xe ở xa tìm được là các cụm gọn, nguyên một khối.</a:t>
            </a:r>
          </a:p>
          <a:p/>
          <a:p>
            <a:r>
              <a:t>○ SUPPORT (skip in talk) — source: tab:distance, verbatim; split rates from ch4 §split analysis. Stride-20 sample, per frame, track filter off (striding breaks the tracker), so pooled recall 0.671 is not the 0.732 headline. Mean IoU of matched cars rises with range: the far cars found are compact single clusters.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Cả bộ phân loại lẫn bộ theo vết đều không tạo ra phát hiện mới, nên độ phủ không bao giờ vượt 0,773 của bước hình học. Độ chính xác đã bão hoà (khoảng 0,6 dương tính giả mỗi khung hình), độ phủ là thứ bị giới hạn. 33,7% số xe bị tách ở lưới 0,10 m.</a:t>
            </a:r>
          </a:p>
          <a:p/>
          <a:p>
            <a:r>
              <a:t>○ SUPPORT (skip in talk) — source: ch4 §Result Analysis, tab:ablation-stage, tab:splitrate (33.7% split at 0.10 m). Neither the classifier nor the tracker can create a detection, so recall can never exceed the 0.773 of the geometric stage. Precision-saturated (about 0.6 FP per frame), recall-limited.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Đây là một chiếc xe thật. Màu xanh là những gì cảm biến thấy trong một khung hình: một góc xe. Màu cam là phần mạng thêm vào: phía bị che và đầu xe phía xa. Chiếc xe này được chọn theo một quy tắc cố định, không phải chọn bằng mắt. Tiếp theo: làm sao biết phần màu cam là một chiếc xe hợp lý, khi không có dữ liệu chuẩn.</a:t>
            </a:r>
          </a:p>
          <a:p/>
          <a:p>
            <a:r>
              <a:t>EN: Here is one real car. Blue is what the sensor saw in a single frame: one corner. Orange is what the network adds: the hidden side and the far end. This car was picked by a fixed rule, not by eye. Next: how we know the orange is a plausible car, without any ground truth.</a:t>
            </a:r>
          </a:p>
          <a:p/>
          <a:p>
            <a:r>
              <a:t>★ TALK 0:30 — source: D13 (scripts/pick_completion_examples.py, render_completion_candidates.py); concept: fig:completion-shape. Picked by a fixed rule, not by eye: among the cars the judge rejects as a raw scan and accepts once completed, with a typical number of input points (middle half of all 2,822), 12 drawn at random; this is one of them. Rotated so the length runs left-right, for display only. Say: blue is what the sensor saw in one frame, orange is what the network adds. Next slide: how we know the orange is a plausible car without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Với một chiếc xe thật, không có hình dạng đầy đủ chuẩn để so sánh, và đo khoảng cách tới chính bản quét lại thưởng cho việc không làm gì: bản quét gốc đạt điểm hoàn hảo bằng không. Vì vậy, giống như Chen và cộng sự, ⚑ chúng em dùng một bộ đánh giá độc lập, một chương trình riêng được huấn luyện trên một bộ mô hình 3D khác. Mọi đám mây điểm được chuẩn bị như nhau, và bộ đánh giá trả lời là xe hay không. Bản quét một khung hình gốc: được nhận là xe 25% số lần. Sau khi hoàn thiện: 79%. Các bản quét dày đặc nhiều khung hình của xe đỗ, hình dạng thật tốt nhất mà chúng em có: 81%. Như vậy, bước hoàn thiện đưa một khung hình đơn lẻ lên gần bằng mức của những hình dạng thật tốt nhất. Trên cùng các chiếc xe, 1.615 xe chuyển sang được chấp nhận, và chỉ 115 xe theo chiều ngược lại.</a:t>
            </a:r>
          </a:p>
          <a:p/>
          <a:p>
            <a:r>
              <a:t>EN: On a real car there is no true complete shape to measure against, and measuring the distance to the scan itself rewards doing nothing: the raw scan scores a perfect zero. So, as Chen and colleagues do, ⚑ we ask an independent judge, a separate program trained on a different collection of 3D models. Every cloud gets the same preparation, and the judge says car or not. Raw single-frame scans: judged a car 25% of the time. Completed: 79%. Dense multi-frame scans of parked cars, the best real shapes we have: 81%. So completion brings a single frame almost to the level of the best real shapes. On the same cars, 1,615 switch to accepted, and only 115 the other way.</a:t>
            </a:r>
          </a:p>
          <a:p/>
          <a:p>
            <a:r>
              <a:t>★ TALK 1:00 — source: D12a (user, draw.io; scripts/make_d12a_scaffold.py) + D12b = tab:plausibility, verbatim; ch4 §Real Data Plausibility; protocol of Chen et al. 2020. Say: on a real car there is no true complete shape to measure against, and measuring distance to the scan itself rewards doing nothing (the raw scan scores a perfect zero, slide 39). So, as Chen et al. do, we ask an independent judge: a separate program trained on a different collection of 3D models. (Don't list why it's fair.) Every cloud gets the same preparation and the judge says car or not. Raw single-frame scans: judged a car 25% of the time. Completed: 79%. Dense multi-frame scans of parked cars, the best real shapes we have: 81%. Completion brings single-frame cars almost to the level of the best real shapes. Paired on the same cars: 1,615 switch to accepted, 115 the other way. HOOK H4 → backup 58 (and 59 if asked why distance rewards doing nothing); answer in qa_bank.md. Judge test accuracy 0.9214 (pass mark 0.88): keep for the answer, not the talk.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Xe minh hoạ lấy từ tập kiểm định của PCN (chưa từng được huấn luyện trên nó), chọn theo quy tắc cố định (xe có Chamfer trung vị trong tập đánh giá), không chọn bằng mắt; Chamfer 0,16 m / F 0,77 là của riêng xe đó. Khoảng cách Chamfer: trung bình khoảng cách tới điểm gần nhất theo cả hai chiều, cộng lại (mét). F-score @ 0,1 m: trung bình điều hoà của tỉ lệ điểm đầu ra nằm trong 0,1 m của mô hình thật và tỉ lệ mô hình thật nằm trong 0,1 m của đầu ra. Loss kiểm định tốt nhất 0,1246 (Chamfer thô + 0,5 × Chamfer mịn, đơn vị đã chuẩn hoá; không cùng con số với 0,16 m).</a:t>
            </a:r>
          </a:p>
          <a:p/>
          <a:p>
            <a:r>
              <a:t>○ SUPPORT (skip in talk) — source: ch4 §Synthetic Fidelity; D16 = scripts/make_d16_synthetic_example.py: a car from PCN's validation split (never trained on), picked by a fixed rule (the median-Chamfer car of the evaluated set), not by eye; its own Chamfer 0.16 m / F 0.77 is that one car. Chamfer distance: average nearest-point distance in both directions, added (metres). F-score @ 0.1 m: harmonic mean of the share of output points within 0.1 m of the true model and the share of the true model within 0.1 m of the output. Best validation loss 0.1246 (coarse + 0.5 × fine Chamfer, normalised units; not the same number as 0.16 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McNemar: 1.615 xe chuyển sang được chấp nhận so với 115 theo chiều ngược lại; Wilcoxon trên xác suất là xe: p ≈ 0. Xe đang chạy: 0,837 / 0,801, N = 602; lật hướng xe chỉ thay đổi 0,009. Nhóm xe đỗ, N = 2.220: tỉ lệ chấp nhận sau hoàn thiện 0,770, xác suất là xe 0,730 so với mức trần 0,728, tức khoảng 96% khoảng cách từ bản quét gốc tới mức trần. Xe chạy hay đỗ: phân theo độ dịch chuyển ròng của tâm vết. PCN chưa từng thấy chuỗi thật nào, nên kết quả ổn định trên cả mười một chuỗi là một kết quả về khả năng tổng quát. Vì sao không chỉ do mật độ: tham chiếu dày đặc vừa dày vừa đúng hình dạng, nên đạt ngang nó nghĩa là hình dạng hoàn thiện giống xe, không chỉ là dày điểm.</a:t>
            </a:r>
          </a:p>
          <a:p/>
          <a:p>
            <a:r>
              <a:t>○ SUPPORT (skip in talk) — source: tab:plausibility-seq, verbatim; ch4 §plausibility (McNemar 1,615 vs 115; Wilcoxon on car probability p ≈ 0; movers 0.837 / 0.801, N = 602; heading flip Δ 0.009; parked subset N = 2,220: completed acceptance 0.770, car probability 0.730 vs ceiling 0.728, about 96% of the raw-to-ceiling acceptance gap). Moving vs parked: by net centroid displacement of the track. PCN never saw any real sequence, so consistency across all eleven is a generalisation result. Why 'not just density': the dense reference is dense AND correctly shaped, so matching it means the completed shapes are car-like, not merely dense.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(bỏ cột UHD p95: 0,000 / 0,000 / 0,183). UCD: với mỗi điểm của bản quét, khoảng cách tới điểm gần nhất của đám mây, lấy trung bình; UHD: khoảng cách lớn nhất trong số đó. Chiều tính từ bản quét sang đám mây, trung vị theo từng xe, như Chen và cộng sự và P2C áp dụng. Bản phản chiếu = bản quét cộng bản sao đối xứng của nó: nó chứa bản quét nên cũng được điểm 0. Đó là lý do các nghiên cứu hoàn thiện không có dữ liệu cặp luôn dùng kèm các độ đo này với một thành phần đánh giá tính hợp lý.</a:t>
            </a:r>
          </a:p>
          <a:p/>
          <a:p>
            <a:r>
              <a:t>○ SUPPORT (skip in talk) — source: tab:fidelity, verbatim (UHD p95 column left out: 0.000 / 0.000 / 0.183); ch4 §Reference-Free Fidelity, §Scope of the Completion Claim. UCD: for each scan point, the distance to the nearest point of the cloud, averaged; UHD: the largest such distance. Direction scan → cloud, per-car medians, as Chen et al. and P2C apply them. Mirrored = the scan plus its mirror copy: it contains the scan, so it also scores 0. This is why the unpaired completion literature pairs these metrics with a plausibility term.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(RTX 3070 Ti / Ryzen 7 7800X3D). Bộ phân loại 33,7 ms cho khoảng 45 cụm, khoảng 0,75 ms mỗi cụm. Bước hoàn thiện thêm khoảng 13 ms cho mỗi xe được hoàn thiện, nằm ngoài ngân sách này.</a:t>
            </a:r>
          </a:p>
          <a:p/>
          <a:p>
            <a:r>
              <a:t>○ SUPPORT (skip in talk) — source: tab:runtime, verbatim (RTX 3070 Ti / Ryzen 7 7800X3D). Classifier 33.7 ms for about 45 clusters, about 0.75 ms each. Completion adds about 13 ms per completed car, outside this budget.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RANSAC giảm từ 1.000 xuống 300 vòng lặp; thời gian trên toàn chuỗi từ 921,3 xuống 623,5 ms (650,6 ms trên mẫu cách 20 khung hình). Đám mây sau khi bỏ mặt đất đã thưa, nên lưới thô hơn nén thêm không đáng kể; HDBSCAN viết bằng Python vẫn có mức sàn khoảng 185 ms.</a:t>
            </a:r>
          </a:p>
          <a:p/>
          <a:p>
            <a:r>
              <a:t>○ SUPPORT (skip in talk) — source: ch3 §RANSAC (1,000 → 300 iterations); ch4 §runtime evaluation (921.3 → 623.5 ms full seq; 650.6 ms on the stride-20 sample). The post-ground cloud is already sparse, so a coarser grid compresses it little; Python HDBSCAN keeps a floor of about 185 ms.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Cùng số liệu với biểu đồ ở slide 29, thêm IoU trung bình và số đếm thô. Số đếm là số lần ghép theo từng khung hình trên toàn chuỗi, không phải số xe riêng biệt.</a:t>
            </a:r>
          </a:p>
          <a:p/>
          <a:p>
            <a:r>
              <a:t>○ SUPPORT (skip in talk) — source: tab:ablation-stage, verbatim. Same numbers as the slide 29 chart, plus mean IoU and the raw counts. Counts are per-frame matches over the full sequence, not distinct cars.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Bỏ cột IoU trung bình của bảng phân cụm. Nếu hỏi 'sao không dùng lưới thô hơn nữa, ví dụ 0,20 m?': số lần gộp tăng khi lưới thô hơn (56 → 284), nên chúng em dự đoán sẽ có thêm xe bị gộp; 0,20 m CHƯA được thử, nói 'dự đoán', không nói 'đã thấy'. Nếu hỏi 'có tinh chỉnh bán kính của DBSCAN không?': có, đã quét giá trị epsilon; bán kính cố định tốt nhất (Euclid, 0,4 m) đạt F1 0,800 trên chuỗi 00, vẫn thấp hơn 0,835 của HDBSCAN.</a:t>
            </a:r>
          </a:p>
          <a:p/>
          <a:p>
            <a:r>
              <a:t>○ SUPPORT (skip in talk) — source: tab:clustering, tab:splitrate. Mean IoU column of tab:clustering left out. If asked 'why not an even coarser grid, e.g. 0.20 m?': merges grow as the grid coarsens (56 → 284), so we expect more fused cars; 0.20 m was NOT tested, say 'expect', not 'found'. If asked 'did you tune DBSCAN's radius?': yes, an epsilon sweep; the best fixed radius (Euclidean, 0.4 m) reaches F1 0.800 on seq 00, still below HDBSCAN's 0.835 (ch4 §clustering).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Bảng lấy nguyên từ luận văn. Ngưỡng 0,3 là giá trị mặc định của bộ đánh giá từ đầu, không tinh chỉnh theo kết quả; điểm chính là kết luận vẫn đúng ở 0,25 và 0,5 (H2, qa_bank.md). Đừng nói 'với hộp bao, ngưỡng là 50%': bộ chuẩn hộp bao cho xe của KITTI dùng 0,7. Đã đăng ký trước: nếu kết quả nhạy với ngưỡng thì sẽ được báo cáo như một phát hiện, không chỉnh để che đi.</a:t>
            </a:r>
          </a:p>
          <a:p/>
          <a:p>
            <a:r>
              <a:t>○ SUPPORT (skip in talk) — source: tab:iou-sensitivity, verbatim. 0.3 was the evaluator default from the start, not tuned on results; the point is that the conclusion holds at 0.25 and 0.5 (H2, qa_bank.md). Don't say 'with boxes 50% is the rule': KITTI's car box benchmark uses 0.7. Pre-registered: a threshold-sensitive result would have been reported as a finding, not tuned away.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Macro-F1 0,9285 so với 0,9225; F1 của cả hệ thống giống nhau tới ba chữ số thập phân. Đừng trộn độ đo: 0,9285 là macro-F1 (trung bình F1 của lớp xe và lớp không phải xe), 0,885 là F1 của lớp xe. Vì sao vẫn giữ trong luận văn: nó thay đổi công thức huấn luyện, nên được báo cáo như một kết quả âm.</a:t>
            </a:r>
          </a:p>
          <a:p/>
          <a:p>
            <a:r>
              <a:t>○ SUPPORT (skip in talk) — source: ch4 sec:ablation-stagea (macro-F1 0.9285 vs 0.9225; pipeline F1 identical to three decimals); tab:cross-domain. Don't mix the metrics: 0.9285 is macro-F1 (mean of car and not-car F1), 0.885 is car-class F1. Why keep it in the thesis: it changes the recipe, so it is reported as a negative result.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Mỗi dòng một thí nghiệm. Chuẩn hoá: cùng một checkpoint, chỉ khác hệ toạ độ đầu vào, nên chênh lệch giữa khối mờ và chiếc xe là do chuẩn hoá. Tinh chỉnh: các khối mờ lúc đầu bị cho là do khác biệt miền dữ liệu, nên PCN được tinh chỉnh trên bản quét mô phỏng giống LiDAR hơn (tăng cường nhiễu, Velodyne ảo): vẫn ra khối mờ, vì nguyên nhân là hệ toạ độ đầu vào. Tinh chỉnh trên dữ liệu thật chưa bao giờ được chạy: đó là hướng phát triển (slide 52); đừng nói là đã thử. Bước kiểm tra hình dạng: cái giá là một số xe dùng được bị từ chối. Chiều dài: những xe dài nhất vẫn còn hụt một chút ở đầu xa (chương 5). PoinTr: cùng các xe tổng hợp giữ lại; khoảng cách còn lại trên dữ liệu thật là do ước lượng tâm, không mạng nào sửa được.</a:t>
            </a:r>
          </a:p>
          <a:p/>
          <a:p>
            <a:r>
              <a:t>○ SUPPORT (skip in talk) — source: ch4 §Completion Ablation Studies (sec:abl-completion), one row each. Normalisation: identical checkpoint, only the input frame differs, so the blob-vs-car gap is a normalisation effect. Fine-tuning: the early blobs were blamed on a domain gap, so PCN was fine-tuned on LiDAR-like simulated scans (noise augmentation, a virtual Velodyne; findings #16, #17, #19): still blobs, because the cause was the input frame. Real-data fine-tuning was never run: it is future work (slide 52); do not say it was tried. Gate: its cost is some usable cars rejected. Length: a residual far-end shortfall on the longest cars remains (ch5). PoinTr: same held-out synthetic cars; the remaining real-data gap is centre estimation, which no network fixes.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Trang chuyển mục: bấm qua.</a:t>
            </a:r>
          </a:p>
          <a:p/>
          <a:p>
            <a:r>
              <a:t>divider: click through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Tóm lại, có bốn kết quả chính. Phát hiện hoạt động trên LiDAR thật: F1 0,812 trên chuỗi 08 và 0,793 khi kiểm định chéo. Bước hoàn thiện cho hình dạng hợp lý: tỉ lệ được bộ đánh giá chấp nhận tăng từ 0,253 lên 0,785. Độ phủ bị giới hạn bởi bước phân cụm, vốn tách một phần ba số xe, chứ không phải bởi bộ phân loại. Và việc tiền huấn luyện bộ phân loại bằng dữ liệu tổng hợp hoá ra không cần thiết khi đã khai thác đủ cụm thật. Tất cả đạt được mà không cần thêm nhãn thủ công.</a:t>
            </a:r>
          </a:p>
          <a:p/>
          <a:p>
            <a:r>
              <a:t>EN: To summarise, four findings. Detection works on real LiDAR: F1 0.812 on sequence 8 and 0.793 cross-validated. Completion is plausible: the judge's acceptance rises from 0.253 to 0.785. Recall is bounded by clustering, which splits a third of cars, not by the classifier. And synthetic pretraining for the classifier turned out to be unnecessary once enough real clusters are mined. All of this with zero additional manual annotation.</a:t>
            </a:r>
          </a:p>
          <a:p/>
          <a:p>
            <a:r>
              <a:t>★ TALK 0:45 — source: ch5 §principal outcomes, §diagnostic findings, Final Remarks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Có bốn giới hạn. Hệ thống hoạt động tốt nhất ở cảnh dày đặc: trên chuỗi đường cao tốc, độ phủ giảm còn 0,336, dù độ chính xác vẫn giữ ở 0,951. Độ phủ bị chặn ở 0,773 ngay trước các bước học máy. Bằng chứng cho bước hoàn thiện chỉ là tính hợp lý; các độ đo khoảng cách không ghi nhận nó. ⚑ Và hệ thống chạy 623,5 mili giây mỗi khung hình, được thiết kế để xử lý ngoại tuyến.</a:t>
            </a:r>
          </a:p>
          <a:p/>
          <a:p>
            <a:r>
              <a:t>EN: Four limits. It works best in dense scenes: on the highway sequence recall drops to 0.336, though precision stays at 0.951. Recall is capped at 0.773 before any learned stage. The completion evidence is plausibility only; distance metrics do not credit it. ⚑ And it runs at 623.5 milliseconds per frame, offline by design.</a:t>
            </a:r>
          </a:p>
          <a:p/>
          <a:p>
            <a:r>
              <a:t>★ TALK 0:30 — source: ch5 §limitations (disc-architectural, disc-completion-scope, disc-eval-validity). Say the four titles with their numbers; on Offline say only '623.5 ms per frame, offline by design' and move on. HOOK H5 → slides 41–42; answer in qa_bank.md.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Ba hướng tiếp theo, mỗi hướng xuất phát từ một kết quả: cài đặt HDBSCAN bằng mã gốc hoặc trên GPU để chạy thời gian thực; tinh chỉnh mạng hoàn thiện trên dữ liệu thật để thu hẹp khoảng cách giữa dữ liệu tổng hợp và dữ liệu thật; và kiểm chứng xem xe đã hoàn thiện có cải thiện việc phát hiện 3D hay không.</a:t>
            </a:r>
          </a:p>
          <a:p/>
          <a:p>
            <a:r>
              <a:t>EN: Three next steps, each from a finding: a native or GPU HDBSCAN for real time; fine-tuning completion on real data to close the synthetic-to-real gap; and testing whether completed cars improve 3D detection.</a:t>
            </a:r>
          </a:p>
          <a:p/>
          <a:p>
            <a:r>
              <a:t>★ TALK 0:30 — source: ch5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Em xin chân thành cảm ơn quý thầy cô đã lắng nghe. Em rất mong nhận được câu hỏi và góp ý của Hội đồng.</a:t>
            </a:r>
          </a:p>
          <a:p/>
          <a:p>
            <a:r>
              <a:t>EN: Thank you for listening. I welcome your questions.</a:t>
            </a:r>
          </a:p>
          <a:p/>
          <a:p>
            <a:r>
              <a:t>★ END — leave up during Q&amp;A; jump to slides by number.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Slide dự phòng về đặc tính đám mây điểm LiDAR (chương 2, bảng thông số cảm biến).</a:t>
            </a:r>
          </a:p>
          <a:p/>
          <a:p>
            <a:r>
              <a:t>○ SUPPORT (skip in talk) — source: ch2 §LiDAR point cloud; tab:sensor-spec; S1 notes A1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câu 'HDBSCAN hoạt động thế nào?'. Ví dụ đồ chơi 2D, dùng thư viện hdbscan thật với tham số của chúng em (min_samples 5, min_cluster_size 10); KHÔNG phải kết quả của luận văn. Nói: (1) mỗi điểm đo độ đông đúc quanh nó: khoảng cách tới điểm gần thứ 5 (tính cả chính nó); (2) HDBSCAN xét mọi bán kính cùng lúc: ở bán kính nhỏ chỉ chiếc xe gần, dày đặc thành cụm; ở bán kính vừa cả hai xe thành cụm; ở bán kính lớn hai xe dính vào nhau; (3) khi thu nhỏ bán kính, nó giữ nguyên một nhóm nếu nhóm đó tồn tại lâu hơn các mảnh của nó. Mỗi xe chỉ được so với các mảnh của chính nó, không bao giờ so với xe kia, nên cả xe gần dày đặc lẫn xe xa thưa thớt đều được giữ; DBSCAN bán kính cố định thì buộc phải chọn một cột. Số liệu ví dụ: xe gần 335,7 so với các mảnh 19,2 → giữ nguyên; xe xa 24,1, không có mảnh → giữ. Nếu bị hỏi kỹ: 'bán kính' là khoảng cách tiếp cận lẫn nhau max(core a, core b, khoảng cách a-b), và 'lâu hơn' là độ ổn định: thời gian tồn tại đo theo 1/bán kính, cộng trên các điểm; nhóm dưới 10 điểm là nhiễu.</a:t>
            </a:r>
          </a:p>
          <a:p/>
          <a:p>
            <a:r>
              <a:t>○ SUPPORT (skip in talk) — source: backup for 'how does HDBSCAN work?'. TOY 2D example (scripts/make_hdbscan_explainer.py), real hdbscan library with our settings (min_samples 5, min_cluster_size 10); NOT a thesis result. Say: (1) each point measures how crowded its neighbourhood is: the distance to its 5th nearest point (itself included); (2) HDBSCAN then looks at every radius at once: at a small radius only the dense near car forms, at a medium one both cars form, at a large one they fuse; (3) shrinking the radius, it keeps a group whole if it holds together longer than its pieces would. Each car is judged only against its own pieces, never against the other car, so the dense near car and the sparse far car both survive; a fixed-radius DBSCAN would have to pick one column. Toy numbers: near car 335.7 vs its pieces 19.2 -&gt; whole; far car 24.1, no pieces -&gt; kept (S2 notes A4). Precision if pressed: the 'radius' is the mutual reachability distance max(core a, core b, distance a-b), and 'longest' is stability, lifetime measured in 1/radius and summed over points; groups under 10 points are noise. ch2 §density-based clustering; S2 notes A4.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câu 'có thử sửa việc tách xe không?'. Bảng lấy nguyên từ luận văn. Mốc so sánh là chuỗi 00 trước khi nâng cấp (lưới 0,05 m), nên F1 0,844 không phải hệ thống cuối cùng. Giới hạn chung: phân cụm theo mật độ không có khái niệm 'vật thể', nên không quy tắc khoảng cách hay kích thước nào phân biệt được 'nối lại hai mảnh của một xe' với 'giữ hai xe sát nhau tách riêng'. Lưới 0,10 m hiệu quả vì nó lấp khe bên trong một xe trước khi lấp khe giữa hai xe.</a:t>
            </a:r>
          </a:p>
          <a:p/>
          <a:p>
            <a:r>
              <a:t>○ SUPPORT (skip in talk) — source: backup for 'did you try to fix the splitting?'. tab:strategies, verbatim; ch4 §Limits of the Repair Strategies. Pre-promotion seq-00 baseline (0.05 m grid), so the baseline F1 0.844 is not the final pipeline. Shared limit: density clustering has no notion of objectness, so no proximity or size rule can tell 'rejoin two pieces of one car' from 'keep two adjacent cars apart'. Resolution worked because 0.10 m closes gaps inside a car before it closes gaps between cars.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câu 'vì sao cần bốn bước hình học?' hoặc 'sao không tinh chỉnh trên dữ liệu thật?'. Hình: xe C (cố định trước), cùng checkpoint pcn_kitti_best ở cả hai bên; trái = cách làm ban đầu (tâm và bán kính của chính bản quét, PCA 3D, trục dài nhất làm trục X), phải = đầu ra của hệ thống. Đầu ra bên trái rộng khoảng 5,1 × 3,5 × 2,6 m, bên phải 3,9 × 1,8 × 1,7 m (minh hoạ, không phải số liệu luận văn). Nói: mạng chưa bao giờ là vấn đề; hệ toạ độ đầu vào mới là vấn đề. Các khối mờ lúc đầu bị cho là do khác biệt giữa dữ liệu tổng hợp và dữ liệu thật, nhưng huấn luyện lại trên bản quét mô phỏng chân thực hơn không giúp được; đưa bản quét về đúng hệ toạ độ huấn luyện mới giúp được.</a:t>
            </a:r>
          </a:p>
          <a:p/>
          <a:p>
            <a:r>
              <a:t>○ SUPPORT (skip in talk) — source: backup for 'why the four geometry steps?' or 'why not fine-tune on real data?'. ch4 §Completion Ablation Studies, Inference normalisation + Sim-to-real fine-tuning. Figure: scripts/make_b57_normalisation_ablation.py, car C (fixed in advance), checkpoint pcn_kitti_best on both sides; left = the original path verbatim (scan's own centroid and radius, 3D PCA, longest axis as X), right = the production output. Left output spans about 5.1 × 3.5 × 2.6 m, right 3.9 × 1.8 × 1.7 m (illustration, not a thesis number). Say: the network was never the problem; the input frame was. Early blobs were first blamed on the synthetic-to-real gap, but retraining on more realistic simulated scans did not help; putting the scan in the training frame did.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mọi thắc mắc về slide 36. Chen và cộng sự (2020) cũng dùng bộ đánh giá huấn luyện trên ModelNet40 vì cùng lý do. Việc đăng ký trước và ngưỡng 0,88 được viết ra trước khi chấm điểm. ModelNet40 không có lớp xe tải, xe buýt hay xe van, nên lớp 'xe' không bị chia với các lớp phương tiện gần giống.</a:t>
            </a:r>
          </a:p>
          <a:p/>
          <a:p>
            <a:r>
              <a:t>○ SUPPORT (skip in talk) — source: backup for any challenge to slide 36. ch4 §Real Data Plausibility; Chen et al. 2020 use a ModelNet40 judge for the same reason. Pre-registration and the 0.88 gate: written before scoring. ModelNet40 has no truck, bus or van class, so 'car' is not split with near-vehicle classes.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câu 'sao không dùng các độ đo chuẩn?'. Hình vẽ lại dạng ví dụ đồ chơi, các con số là của ví dụ. Chen và cộng sự 2020 (UHD) và P2C 2023 (UCD) dùng các độ đo này trên xe KITTI. Luận văn có báo cáo chúng, kèm lưu ý rằng chúng thưởng cho việc hoàn thiện thiếu.</a:t>
            </a:r>
          </a:p>
          <a:p/>
          <a:p>
            <a:r>
              <a:t>○ SUPPORT (skip in talk) — source: backup for 'why not the standard metrics?'. ch2 sec:th-distances, fig:bg-fidelity (redrawn as a toy, scripts/make_b59_ucd_uhd.py, numbers are the toy's own); tab:fidelity. Used on KITTI cars by Chen et al. 2020 (UHD) and P2C 2023 (UCD). Reported in the thesis, with the caveat that they reward under-completion.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câu 'chính xác thì một phát hiện được ghép thế nào?'. Ví dụ là minh hoạ. Một xe bị tách bị tính hai lần: một xe bị bỏ sót và thường thêm một phát hiện sai. Số đếm tính theo từng khung hình, cộng gộp (micro-average).</a:t>
            </a:r>
          </a:p>
          <a:p/>
          <a:p>
            <a:r>
              <a:t>○ SUPPORT (skip in talk) — source: backup for 'how exactly is a detection matched?'. ch2 eq. IoU; ch4 §Evaluation Metrics; fig:bg-iou (slide 26). Worked example = illustration (S4 notes A4). A split car costs twice: a missed car and often a false detection. Counts are per frame, micro-averaged.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 Dự phòng cho câu 'dùng những tham số nào?'. Bảng lấy nguyên từ luận văn. Cố định trước khi đánh giá; không tham số nào được chỉnh theo kết quả báo cáo. Các hằng số của bước hoàn thiện: slide 20.</a:t>
            </a:r>
          </a:p>
          <a:p/>
          <a:p>
            <a:r>
              <a:t>○ SUPPORT (skip in talk) — source: backup for 'what parameters?'. tab:pipeline-config, verbatim . Fixed before evaluation; nothing tuned on the reported results. Completion constants: slide 20 (tab:completion-config).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chart" Target="../charts/char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pt_logo.png"/>
          <p:cNvPicPr>
            <a:picLocks noChangeAspect="1"/>
          </p:cNvPicPr>
          <p:nvPr/>
        </p:nvPicPr>
        <p:blipFill>
          <a:blip r:embed="rId2"/>
          <a:stretch>
            <a:fillRect/>
          </a:stretch>
        </p:blipFill>
        <p:spPr>
          <a:xfrm>
            <a:off x="1202815" y="381000"/>
            <a:ext cx="2737871" cy="1047750"/>
          </a:xfrm>
          <a:prstGeom prst="rect">
            <a:avLst/>
          </a:prstGeom>
        </p:spPr>
      </p:pic>
      <p:sp>
        <p:nvSpPr>
          <p:cNvPr id="3" name="Rectangle 2"/>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524000" y="2667000"/>
            <a:ext cx="15240000" cy="3143250"/>
          </a:xfrm>
          <a:prstGeom prst="rect">
            <a:avLst/>
          </a:prstGeom>
          <a:noFill/>
        </p:spPr>
        <p:txBody>
          <a:bodyPr wrap="square" anchor="ctr" lIns="0" rIns="0" tIns="0" bIns="0">
            <a:spAutoFit/>
          </a:bodyPr>
          <a:lstStyle/>
          <a:p>
            <a:pPr algn="ctr">
              <a:spcAft>
                <a:spcPts val="0"/>
              </a:spcAft>
            </a:pPr>
            <a:r>
              <a:rPr sz="4800" b="1" i="0">
                <a:solidFill>
                  <a:srgbClr val="1F2933"/>
                </a:solidFill>
                <a:latin typeface="Segoe UI"/>
              </a:rPr>
              <a:t>A MODULAR DETECTION AND COMPLETION FRAMEWORK FOR OCCLUDED VEHICLES IN AUTOMOTIVE LIDAR</a:t>
            </a:r>
          </a:p>
        </p:txBody>
      </p:sp>
      <p:sp>
        <p:nvSpPr>
          <p:cNvPr id="5" name="TextBox 4"/>
          <p:cNvSpPr txBox="1"/>
          <p:nvPr/>
        </p:nvSpPr>
        <p:spPr>
          <a:xfrm>
            <a:off x="10477500" y="6858000"/>
            <a:ext cx="7239000" cy="2095500"/>
          </a:xfrm>
          <a:prstGeom prst="rect">
            <a:avLst/>
          </a:prstGeom>
          <a:noFill/>
        </p:spPr>
        <p:txBody>
          <a:bodyPr wrap="square" anchor="t" lIns="0" rIns="0" tIns="0" bIns="0">
            <a:spAutoFit/>
          </a:bodyPr>
          <a:lstStyle/>
          <a:p>
            <a:pPr algn="l">
              <a:spcAft>
                <a:spcPts val="600"/>
              </a:spcAft>
            </a:pPr>
            <a:r>
              <a:rPr sz="3000" b="1" i="1">
                <a:solidFill>
                  <a:srgbClr val="1F2933"/>
                </a:solidFill>
                <a:latin typeface="Segoe UI"/>
              </a:rPr>
              <a:t>Supervisor: Dr. Doan Nhat Quang</a:t>
            </a:r>
          </a:p>
          <a:p>
            <a:pPr algn="l">
              <a:spcAft>
                <a:spcPts val="600"/>
              </a:spcAft>
            </a:pPr>
            <a:r>
              <a:rPr sz="3000" b="1" i="0">
                <a:solidFill>
                  <a:srgbClr val="1F2933"/>
                </a:solidFill>
                <a:latin typeface="Segoe UI"/>
              </a:rPr>
              <a:t>Presenter: Ngo Vi Viet Anh</a:t>
            </a:r>
          </a:p>
          <a:p>
            <a:pPr algn="l">
              <a:spcAft>
                <a:spcPts val="600"/>
              </a:spcAft>
            </a:pPr>
            <a:r>
              <a:rPr sz="3000" b="1" i="0">
                <a:solidFill>
                  <a:srgbClr val="1F2933"/>
                </a:solidFill>
                <a:latin typeface="Segoe UI"/>
              </a:rPr>
              <a:t>ID: 24MSE13205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1428750"/>
            <a:ext cx="16002000" cy="857250"/>
          </a:xfrm>
          <a:prstGeom prst="rect">
            <a:avLst/>
          </a:prstGeom>
          <a:noFill/>
        </p:spPr>
        <p:txBody>
          <a:bodyPr wrap="square" anchor="t" lIns="0" rIns="0" tIns="0" bIns="0">
            <a:spAutoFit/>
          </a:bodyPr>
          <a:lstStyle/>
          <a:p>
            <a:pPr algn="ctr">
              <a:spcAft>
                <a:spcPts val="0"/>
              </a:spcAft>
            </a:pPr>
            <a:r>
              <a:rPr sz="5600" b="1" i="0">
                <a:solidFill>
                  <a:srgbClr val="1F2933"/>
                </a:solidFill>
                <a:latin typeface="Segoe UI"/>
              </a:rPr>
              <a:t>TABLE OF CONTENTS</a:t>
            </a:r>
          </a:p>
        </p:txBody>
      </p:sp>
      <p:sp>
        <p:nvSpPr>
          <p:cNvPr id="4" name="TextBox 3"/>
          <p:cNvSpPr txBox="1"/>
          <p:nvPr/>
        </p:nvSpPr>
        <p:spPr>
          <a:xfrm>
            <a:off x="2857500" y="3810000"/>
            <a:ext cx="6096000" cy="2857500"/>
          </a:xfrm>
          <a:prstGeom prst="rect">
            <a:avLst/>
          </a:prstGeom>
          <a:noFill/>
        </p:spPr>
        <p:txBody>
          <a:bodyPr wrap="square" anchor="t" lIns="0" rIns="0" tIns="0" bIns="0">
            <a:spAutoFit/>
          </a:bodyPr>
          <a:lstStyle/>
          <a:p>
            <a:pPr algn="l">
              <a:spcAft>
                <a:spcPts val="6000"/>
              </a:spcAft>
            </a:pPr>
            <a:r>
              <a:rPr sz="3600" b="1" i="0">
                <a:solidFill>
                  <a:srgbClr val="1F2933"/>
                </a:solidFill>
                <a:latin typeface="Segoe UI"/>
              </a:rPr>
              <a:t>I. Introduction</a:t>
            </a:r>
          </a:p>
          <a:p>
            <a:pPr algn="l">
              <a:spcAft>
                <a:spcPts val="6000"/>
              </a:spcAft>
            </a:pPr>
            <a:r>
              <a:rPr sz="3600" b="1" i="0">
                <a:solidFill>
                  <a:srgbClr val="1F2933"/>
                </a:solidFill>
                <a:latin typeface="Segoe UI"/>
              </a:rPr>
              <a:t>II. Proposed Methodology</a:t>
            </a:r>
          </a:p>
        </p:txBody>
      </p:sp>
      <p:sp>
        <p:nvSpPr>
          <p:cNvPr id="5" name="TextBox 4"/>
          <p:cNvSpPr txBox="1"/>
          <p:nvPr/>
        </p:nvSpPr>
        <p:spPr>
          <a:xfrm>
            <a:off x="9906000" y="3810000"/>
            <a:ext cx="6667500" cy="2857500"/>
          </a:xfrm>
          <a:prstGeom prst="rect">
            <a:avLst/>
          </a:prstGeom>
          <a:noFill/>
        </p:spPr>
        <p:txBody>
          <a:bodyPr wrap="square" anchor="t" lIns="0" rIns="0" tIns="0" bIns="0">
            <a:spAutoFit/>
          </a:bodyPr>
          <a:lstStyle/>
          <a:p>
            <a:pPr algn="l">
              <a:spcAft>
                <a:spcPts val="6000"/>
              </a:spcAft>
            </a:pPr>
            <a:r>
              <a:rPr sz="3600" b="1" i="0">
                <a:solidFill>
                  <a:srgbClr val="1F2933"/>
                </a:solidFill>
                <a:latin typeface="Segoe UI"/>
              </a:rPr>
              <a:t>III. Experimental Evaluation</a:t>
            </a:r>
          </a:p>
          <a:p>
            <a:pPr algn="l">
              <a:spcAft>
                <a:spcPts val="6000"/>
              </a:spcAft>
            </a:pPr>
            <a:r>
              <a:rPr sz="3600" b="1" i="0">
                <a:solidFill>
                  <a:srgbClr val="1F2933"/>
                </a:solidFill>
                <a:latin typeface="Segoe UI"/>
              </a:rPr>
              <a:t>IV. Conclusion &amp; Future Work</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 INTRODUCTION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1.1 BACKGROUND</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laser only reaches the near side, so half of every car is missing.</a:t>
            </a:r>
          </a:p>
        </p:txBody>
      </p:sp>
      <p:pic>
        <p:nvPicPr>
          <p:cNvPr id="4" name="Picture 3" descr="d1_occlusion.png"/>
          <p:cNvPicPr>
            <a:picLocks noChangeAspect="1"/>
          </p:cNvPicPr>
          <p:nvPr/>
        </p:nvPicPr>
        <p:blipFill>
          <a:blip r:embed="rId2"/>
          <a:stretch>
            <a:fillRect/>
          </a:stretch>
        </p:blipFill>
        <p:spPr>
          <a:xfrm>
            <a:off x="1326092" y="2095500"/>
            <a:ext cx="9006417" cy="7048500"/>
          </a:xfrm>
          <a:prstGeom prst="rect">
            <a:avLst/>
          </a:prstGeom>
        </p:spPr>
      </p:pic>
      <p:pic>
        <p:nvPicPr>
          <p:cNvPr id="5" name="Picture 4" descr="scan_panel_b.png"/>
          <p:cNvPicPr>
            <a:picLocks noChangeAspect="1"/>
          </p:cNvPicPr>
          <p:nvPr/>
        </p:nvPicPr>
        <p:blipFill>
          <a:blip r:embed="rId3"/>
          <a:stretch>
            <a:fillRect/>
          </a:stretch>
        </p:blipFill>
        <p:spPr>
          <a:xfrm>
            <a:off x="12223319" y="2095500"/>
            <a:ext cx="3594963" cy="6477000"/>
          </a:xfrm>
          <a:prstGeom prst="rect">
            <a:avLst/>
          </a:prstGeom>
        </p:spPr>
      </p:pic>
      <p:sp>
        <p:nvSpPr>
          <p:cNvPr id="6" name="TextBox 5"/>
          <p:cNvSpPr txBox="1"/>
          <p:nvPr/>
        </p:nvSpPr>
        <p:spPr>
          <a:xfrm>
            <a:off x="10896600" y="8686800"/>
            <a:ext cx="6248400" cy="381000"/>
          </a:xfrm>
          <a:prstGeom prst="rect">
            <a:avLst/>
          </a:prstGeom>
          <a:noFill/>
        </p:spPr>
        <p:txBody>
          <a:bodyPr wrap="square" anchor="t" lIns="0" rIns="0" tIns="0" bIns="0">
            <a:spAutoFit/>
          </a:bodyPr>
          <a:lstStyle/>
          <a:p>
            <a:pPr algn="ctr">
              <a:spcAft>
                <a:spcPts val="0"/>
              </a:spcAft>
            </a:pPr>
            <a:r>
              <a:rPr sz="2400" b="0" i="0">
                <a:solidFill>
                  <a:srgbClr val="1F2933"/>
                </a:solidFill>
                <a:latin typeface="Segoe UI"/>
              </a:rPr>
              <a:t>Real car, 6 m away (Thesis Fig. 2.3)</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1.2 CURRENT APPROACHES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End-to-end networks are accurate but need dense labels and act as black boxes; we take the modular route.</a:t>
            </a:r>
          </a:p>
        </p:txBody>
      </p:sp>
      <p:pic>
        <p:nvPicPr>
          <p:cNvPr id="4" name="Picture 3" descr="d2_end_to_end_vs_modular.png"/>
          <p:cNvPicPr>
            <a:picLocks noChangeAspect="1"/>
          </p:cNvPicPr>
          <p:nvPr/>
        </p:nvPicPr>
        <p:blipFill>
          <a:blip r:embed="rId2"/>
          <a:stretch>
            <a:fillRect/>
          </a:stretch>
        </p:blipFill>
        <p:spPr>
          <a:xfrm>
            <a:off x="1143000" y="2095500"/>
            <a:ext cx="1600200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1.3 LITERATURE REVIEW</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lines of prior work, and what each leaves open.</a:t>
            </a:r>
          </a:p>
        </p:txBody>
      </p:sp>
      <p:graphicFrame>
        <p:nvGraphicFramePr>
          <p:cNvPr id="4" name="Table 3"/>
          <p:cNvGraphicFramePr>
            <a:graphicFrameLocks noGrp="1"/>
          </p:cNvGraphicFramePr>
          <p:nvPr/>
        </p:nvGraphicFramePr>
        <p:xfrm>
          <a:off x="1143000" y="2286000"/>
          <a:ext cx="16002000" cy="4762500"/>
        </p:xfrm>
        <a:graphic>
          <a:graphicData uri="http://schemas.openxmlformats.org/drawingml/2006/table">
            <a:tbl>
              <a:tblPr firstRow="1" bandRow="1">
                <a:tableStyleId>{5C22544A-7EE6-4342-B048-85BDC9FD1C3A}</a:tableStyleId>
              </a:tblPr>
              <a:tblGrid>
                <a:gridCol w="2985448"/>
                <a:gridCol w="4179627"/>
                <a:gridCol w="3821373"/>
                <a:gridCol w="5015552"/>
              </a:tblGrid>
              <a:tr h="1190625">
                <a:tc>
                  <a:txBody>
                    <a:bodyPr/>
                    <a:lstStyle/>
                    <a:p>
                      <a:pPr algn="l"/>
                      <a:r>
                        <a:rPr sz="2100" b="1">
                          <a:solidFill>
                            <a:srgbClr val="FFFFFF"/>
                          </a:solidFill>
                          <a:latin typeface="Segoe UI"/>
                        </a:rPr>
                        <a:t>Approach</a:t>
                      </a:r>
                    </a:p>
                  </a:txBody>
                  <a:tcPr anchor="ctr" marL="114300" marR="114300">
                    <a:solidFill>
                      <a:srgbClr val="1F2933"/>
                    </a:solidFill>
                  </a:tcPr>
                </a:tc>
                <a:tc>
                  <a:txBody>
                    <a:bodyPr/>
                    <a:lstStyle/>
                    <a:p>
                      <a:pPr algn="l"/>
                      <a:r>
                        <a:rPr sz="2100" b="1">
                          <a:solidFill>
                            <a:srgbClr val="FFFFFF"/>
                          </a:solidFill>
                          <a:latin typeface="Segoe UI"/>
                        </a:rPr>
                        <a:t>Representative works</a:t>
                      </a:r>
                    </a:p>
                  </a:txBody>
                  <a:tcPr anchor="ctr" marL="114300" marR="114300">
                    <a:solidFill>
                      <a:srgbClr val="1F2933"/>
                    </a:solidFill>
                  </a:tcPr>
                </a:tc>
                <a:tc>
                  <a:txBody>
                    <a:bodyPr/>
                    <a:lstStyle/>
                    <a:p>
                      <a:pPr algn="l"/>
                      <a:r>
                        <a:rPr sz="2100" b="1">
                          <a:solidFill>
                            <a:srgbClr val="FFFFFF"/>
                          </a:solidFill>
                          <a:latin typeface="Segoe UI"/>
                        </a:rPr>
                        <a:t>Strengths</a:t>
                      </a:r>
                    </a:p>
                  </a:txBody>
                  <a:tcPr anchor="ctr" marL="114300" marR="114300">
                    <a:solidFill>
                      <a:srgbClr val="1F2933"/>
                    </a:solidFill>
                  </a:tcPr>
                </a:tc>
                <a:tc>
                  <a:txBody>
                    <a:bodyPr/>
                    <a:lstStyle/>
                    <a:p>
                      <a:pPr algn="l"/>
                      <a:r>
                        <a:rPr sz="2100" b="1">
                          <a:solidFill>
                            <a:srgbClr val="FFFFFF"/>
                          </a:solidFill>
                          <a:latin typeface="Segoe UI"/>
                        </a:rPr>
                        <a:t>Remaining challenges</a:t>
                      </a:r>
                    </a:p>
                  </a:txBody>
                  <a:tcPr anchor="ctr" marL="114300" marR="114300">
                    <a:solidFill>
                      <a:srgbClr val="1F2933"/>
                    </a:solidFill>
                  </a:tcPr>
                </a:tc>
              </a:tr>
              <a:tr h="1190625">
                <a:tc>
                  <a:txBody>
                    <a:bodyPr/>
                    <a:lstStyle/>
                    <a:p>
                      <a:pPr algn="l"/>
                      <a:r>
                        <a:rPr sz="2100" b="1">
                          <a:solidFill>
                            <a:srgbClr val="1F2933"/>
                          </a:solidFill>
                          <a:latin typeface="Segoe UI"/>
                        </a:rPr>
                        <a:t>End-to-end deep segmentation</a:t>
                      </a:r>
                    </a:p>
                  </a:txBody>
                  <a:tcPr anchor="ctr" marL="114300" marR="114300">
                    <a:solidFill>
                      <a:srgbClr val="FFFFFF"/>
                    </a:solidFill>
                  </a:tcPr>
                </a:tc>
                <a:tc>
                  <a:txBody>
                    <a:bodyPr/>
                    <a:lstStyle/>
                    <a:p>
                      <a:pPr algn="l"/>
                      <a:r>
                        <a:rPr sz="2100" b="0">
                          <a:solidFill>
                            <a:srgbClr val="1F2933"/>
                          </a:solidFill>
                          <a:latin typeface="Segoe UI"/>
                        </a:rPr>
                        <a:t>RangeNet++, RandLA-Net, Cylinder3D; panoptic: Panoptic-PolarNet, DS-Net</a:t>
                      </a:r>
                    </a:p>
                  </a:txBody>
                  <a:tcPr anchor="ctr" marL="114300" marR="114300">
                    <a:solidFill>
                      <a:srgbClr val="FFFFFF"/>
                    </a:solidFill>
                  </a:tcPr>
                </a:tc>
                <a:tc>
                  <a:txBody>
                    <a:bodyPr/>
                    <a:lstStyle/>
                    <a:p>
                      <a:pPr algn="l"/>
                      <a:r>
                        <a:rPr sz="2100" b="0">
                          <a:solidFill>
                            <a:srgbClr val="1F2933"/>
                          </a:solidFill>
                          <a:latin typeface="Segoe UI"/>
                        </a:rPr>
                        <a:t>Benchmark leaders (Cylinder3D 67.8 mIoU on the SemanticKITTI test set)</a:t>
                      </a:r>
                    </a:p>
                  </a:txBody>
                  <a:tcPr anchor="ctr" marL="114300" marR="114300">
                    <a:solidFill>
                      <a:srgbClr val="FFFFFF"/>
                    </a:solidFill>
                  </a:tcPr>
                </a:tc>
                <a:tc>
                  <a:txBody>
                    <a:bodyPr/>
                    <a:lstStyle/>
                    <a:p>
                      <a:pPr algn="l"/>
                      <a:r>
                        <a:rPr sz="2100" b="0">
                          <a:solidFill>
                            <a:srgbClr val="1F2933"/>
                          </a:solidFill>
                          <a:latin typeface="Segoe UI"/>
                        </a:rPr>
                        <a:t>Need dense per-point (and per-instance) labels; a missed object can't be traced to one step</a:t>
                      </a:r>
                    </a:p>
                  </a:txBody>
                  <a:tcPr anchor="ctr" marL="114300" marR="114300">
                    <a:solidFill>
                      <a:srgbClr val="FFFFFF"/>
                    </a:solidFill>
                  </a:tcPr>
                </a:tc>
              </a:tr>
              <a:tr h="1190625">
                <a:tc>
                  <a:txBody>
                    <a:bodyPr/>
                    <a:lstStyle/>
                    <a:p>
                      <a:pPr algn="l"/>
                      <a:r>
                        <a:rPr sz="2100" b="1">
                          <a:solidFill>
                            <a:srgbClr val="1F2933"/>
                          </a:solidFill>
                          <a:latin typeface="Segoe UI"/>
                        </a:rPr>
                        <a:t>Classical geometric segmentation</a:t>
                      </a:r>
                    </a:p>
                  </a:txBody>
                  <a:tcPr anchor="ctr" marL="114300" marR="114300">
                    <a:solidFill>
                      <a:srgbClr val="EEF0F2"/>
                    </a:solidFill>
                  </a:tcPr>
                </a:tc>
                <a:tc>
                  <a:txBody>
                    <a:bodyPr/>
                    <a:lstStyle/>
                    <a:p>
                      <a:pPr algn="l"/>
                      <a:r>
                        <a:rPr sz="2100" b="0">
                          <a:solidFill>
                            <a:srgbClr val="1F2933"/>
                          </a:solidFill>
                          <a:latin typeface="Segoe UI"/>
                        </a:rPr>
                        <a:t>RANSAC ground removal + DBSCAN / HDBSCAN clustering</a:t>
                      </a:r>
                    </a:p>
                  </a:txBody>
                  <a:tcPr anchor="ctr" marL="114300" marR="114300">
                    <a:solidFill>
                      <a:srgbClr val="EEF0F2"/>
                    </a:solidFill>
                  </a:tcPr>
                </a:tc>
                <a:tc>
                  <a:txBody>
                    <a:bodyPr/>
                    <a:lstStyle/>
                    <a:p>
                      <a:pPr algn="l"/>
                      <a:r>
                        <a:rPr sz="2100" b="0">
                          <a:solidFill>
                            <a:srgbClr val="1F2933"/>
                          </a:solidFill>
                          <a:latin typeface="Segoe UI"/>
                        </a:rPr>
                        <a:t>No training data for segmentation; every stage inspectable</a:t>
                      </a:r>
                    </a:p>
                  </a:txBody>
                  <a:tcPr anchor="ctr" marL="114300" marR="114300">
                    <a:solidFill>
                      <a:srgbClr val="EEF0F2"/>
                    </a:solidFill>
                  </a:tcPr>
                </a:tc>
                <a:tc>
                  <a:txBody>
                    <a:bodyPr/>
                    <a:lstStyle/>
                    <a:p>
                      <a:pPr algn="l"/>
                      <a:r>
                        <a:rPr sz="2100" b="0">
                          <a:solidFill>
                            <a:srgbClr val="1F2933"/>
                          </a:solidFill>
                          <a:latin typeface="Segoe UI"/>
                        </a:rPr>
                        <a:t>No notion of objectness: clustering splits cars, which costs recall</a:t>
                      </a:r>
                    </a:p>
                  </a:txBody>
                  <a:tcPr anchor="ctr" marL="114300" marR="114300">
                    <a:solidFill>
                      <a:srgbClr val="EEF0F2"/>
                    </a:solidFill>
                  </a:tcPr>
                </a:tc>
              </a:tr>
              <a:tr h="1190625">
                <a:tc>
                  <a:txBody>
                    <a:bodyPr/>
                    <a:lstStyle/>
                    <a:p>
                      <a:pPr algn="l"/>
                      <a:r>
                        <a:rPr sz="2100" b="1">
                          <a:solidFill>
                            <a:srgbClr val="1F2933"/>
                          </a:solidFill>
                          <a:latin typeface="Segoe UI"/>
                        </a:rPr>
                        <a:t>Object-level completion</a:t>
                      </a:r>
                    </a:p>
                  </a:txBody>
                  <a:tcPr anchor="ctr" marL="114300" marR="114300">
                    <a:solidFill>
                      <a:srgbClr val="FFFFFF"/>
                    </a:solidFill>
                  </a:tcPr>
                </a:tc>
                <a:tc>
                  <a:txBody>
                    <a:bodyPr/>
                    <a:lstStyle/>
                    <a:p>
                      <a:pPr algn="l"/>
                      <a:r>
                        <a:rPr sz="2100" b="0">
                          <a:solidFill>
                            <a:srgbClr val="1F2933"/>
                          </a:solidFill>
                          <a:latin typeface="Segoe UI"/>
                        </a:rPr>
                        <a:t>PCN, PoinTr, SnowflakeNet, SeedFormer</a:t>
                      </a:r>
                    </a:p>
                  </a:txBody>
                  <a:tcPr anchor="ctr" marL="114300" marR="114300">
                    <a:solidFill>
                      <a:srgbClr val="FFFFFF"/>
                    </a:solidFill>
                  </a:tcPr>
                </a:tc>
                <a:tc>
                  <a:txBody>
                    <a:bodyPr/>
                    <a:lstStyle/>
                    <a:p>
                      <a:pPr algn="l"/>
                      <a:r>
                        <a:rPr sz="2100" b="0">
                          <a:solidFill>
                            <a:srgbClr val="1F2933"/>
                          </a:solidFill>
                          <a:latin typeface="Segoe UI"/>
                        </a:rPr>
                        <a:t>Learns to map a partial view to a complete shape</a:t>
                      </a:r>
                    </a:p>
                  </a:txBody>
                  <a:tcPr anchor="ctr" marL="114300" marR="114300">
                    <a:solidFill>
                      <a:srgbClr val="FFFFFF"/>
                    </a:solidFill>
                  </a:tcPr>
                </a:tc>
                <a:tc>
                  <a:txBody>
                    <a:bodyPr/>
                    <a:lstStyle/>
                    <a:p>
                      <a:pPr algn="l"/>
                      <a:r>
                        <a:rPr sz="2100" b="0">
                          <a:solidFill>
                            <a:srgbClr val="1F2933"/>
                          </a:solidFill>
                          <a:latin typeface="Segoe UI"/>
                        </a:rPr>
                        <a:t>Trained on synthetic CAD shapes (domain gap); Chamfer scoring needs a complete true shape that real LiDAR lacks</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1.4 RESEARCH GAP</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Accurate detectors need dense labels and are hard to inspect, and real-world completion has no ground truth to train or test against.</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Dense labels</a:t>
            </a:r>
          </a:p>
          <a:p>
            <a:pPr algn="ctr">
              <a:spcAft>
                <a:spcPts val="0"/>
              </a:spcAft>
            </a:pPr>
            <a:r>
              <a:rPr sz="2800" b="0" i="0">
                <a:solidFill>
                  <a:srgbClr val="1F2933"/>
                </a:solidFill>
                <a:latin typeface="Segoe UI"/>
              </a:rPr>
              <a:t>Accurate networks need a class per point or a box per object</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Opacity</a:t>
            </a:r>
          </a:p>
          <a:p>
            <a:pPr algn="ctr">
              <a:spcAft>
                <a:spcPts val="0"/>
              </a:spcAft>
            </a:pPr>
            <a:r>
              <a:rPr sz="2800" b="0" i="0">
                <a:solidFill>
                  <a:srgbClr val="1F2933"/>
                </a:solidFill>
                <a:latin typeface="Segoe UI"/>
              </a:rPr>
              <a:t>A missed car can't be traced to one step</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No paired real data</a:t>
            </a:r>
          </a:p>
          <a:p>
            <a:pPr algn="ctr">
              <a:spcAft>
                <a:spcPts val="0"/>
              </a:spcAft>
            </a:pPr>
            <a:r>
              <a:rPr sz="2800" b="0" i="0">
                <a:solidFill>
                  <a:srgbClr val="1F2933"/>
                </a:solidFill>
                <a:latin typeface="Segoe UI"/>
              </a:rPr>
              <a:t>No real occluded car comes with its full shape</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No ground truth</a:t>
            </a:r>
          </a:p>
          <a:p>
            <a:pPr algn="ctr">
              <a:spcAft>
                <a:spcPts val="0"/>
              </a:spcAft>
            </a:pPr>
            <a:r>
              <a:rPr sz="2800" b="0" i="0">
                <a:solidFill>
                  <a:srgbClr val="1F2933"/>
                </a:solidFill>
                <a:latin typeface="Segoe UI"/>
              </a:rPr>
              <a:t>Real completions can't be scored against a true shape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1.5 OBJECTIVES &amp; CONTRIBUTIONS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objectives, two contributions.</a:t>
            </a:r>
          </a:p>
        </p:txBody>
      </p:sp>
      <p:sp>
        <p:nvSpPr>
          <p:cNvPr id="4" name="TextBox 3"/>
          <p:cNvSpPr txBox="1"/>
          <p:nvPr/>
        </p:nvSpPr>
        <p:spPr>
          <a:xfrm>
            <a:off x="1143000" y="2095500"/>
            <a:ext cx="7810500" cy="571500"/>
          </a:xfrm>
          <a:prstGeom prst="rect">
            <a:avLst/>
          </a:prstGeom>
          <a:noFill/>
        </p:spPr>
        <p:txBody>
          <a:bodyPr wrap="square" anchor="t" lIns="0" rIns="0" tIns="0" bIns="0">
            <a:spAutoFit/>
          </a:bodyPr>
          <a:lstStyle/>
          <a:p>
            <a:pPr algn="l">
              <a:spcAft>
                <a:spcPts val="0"/>
              </a:spcAft>
            </a:pPr>
            <a:r>
              <a:rPr sz="3600" b="1" i="0">
                <a:solidFill>
                  <a:srgbClr val="1F2933"/>
                </a:solidFill>
                <a:latin typeface="Segoe UI"/>
              </a:rPr>
              <a:t>Objectives</a:t>
            </a:r>
          </a:p>
        </p:txBody>
      </p:sp>
      <p:sp>
        <p:nvSpPr>
          <p:cNvPr id="5" name="TextBox 4"/>
          <p:cNvSpPr txBox="1"/>
          <p:nvPr/>
        </p:nvSpPr>
        <p:spPr>
          <a:xfrm>
            <a:off x="1143000" y="2857500"/>
            <a:ext cx="7810500" cy="6286500"/>
          </a:xfrm>
          <a:prstGeom prst="rect">
            <a:avLst/>
          </a:prstGeom>
          <a:noFill/>
        </p:spPr>
        <p:txBody>
          <a:bodyPr wrap="square" anchor="t" lIns="0" rIns="0" tIns="0" bIns="0">
            <a:spAutoFit/>
          </a:bodyPr>
          <a:lstStyle/>
          <a:p>
            <a:pPr algn="l">
              <a:spcAft>
                <a:spcPts val="1800"/>
              </a:spcAft>
            </a:pPr>
            <a:r>
              <a:rPr sz="3200" b="0" i="0">
                <a:solidFill>
                  <a:srgbClr val="1F2933"/>
                </a:solidFill>
                <a:latin typeface="Segoe UI"/>
              </a:rPr>
              <a:t>1. Test whether a modular, geometry-first pipeline can detect vehicles as a transparent alternative to end-to-end networks.</a:t>
            </a:r>
          </a:p>
          <a:p>
            <a:pPr algn="l">
              <a:spcAft>
                <a:spcPts val="1800"/>
              </a:spcAft>
            </a:pPr>
            <a:r>
              <a:rPr sz="3200" b="0" i="0">
                <a:solidFill>
                  <a:srgbClr val="1F2933"/>
                </a:solidFill>
                <a:latin typeface="Segoe UI"/>
              </a:rPr>
              <a:t>2. Evaluate point cloud completion on real LiDAR, where no complete ground truth exists.</a:t>
            </a:r>
          </a:p>
          <a:p>
            <a:pPr algn="l">
              <a:spcAft>
                <a:spcPts val="1800"/>
              </a:spcAft>
            </a:pPr>
            <a:r>
              <a:rPr sz="3200" b="0" i="0">
                <a:solidFill>
                  <a:srgbClr val="1F2933"/>
                </a:solidFill>
                <a:latin typeface="Segoe UI"/>
              </a:rPr>
              <a:t>3. Test whether synthetic-only training and auto-mined supervision transfer to real LiDAR without new manual labels.</a:t>
            </a:r>
          </a:p>
        </p:txBody>
      </p:sp>
      <p:sp>
        <p:nvSpPr>
          <p:cNvPr id="6" name="TextBox 5"/>
          <p:cNvSpPr txBox="1"/>
          <p:nvPr/>
        </p:nvSpPr>
        <p:spPr>
          <a:xfrm>
            <a:off x="9334500" y="2095500"/>
            <a:ext cx="7810500" cy="571500"/>
          </a:xfrm>
          <a:prstGeom prst="rect">
            <a:avLst/>
          </a:prstGeom>
          <a:noFill/>
        </p:spPr>
        <p:txBody>
          <a:bodyPr wrap="square" anchor="t" lIns="0" rIns="0" tIns="0" bIns="0">
            <a:spAutoFit/>
          </a:bodyPr>
          <a:lstStyle/>
          <a:p>
            <a:pPr algn="l">
              <a:spcAft>
                <a:spcPts val="0"/>
              </a:spcAft>
            </a:pPr>
            <a:r>
              <a:rPr sz="3600" b="1" i="0">
                <a:solidFill>
                  <a:srgbClr val="1F2933"/>
                </a:solidFill>
                <a:latin typeface="Segoe UI"/>
              </a:rPr>
              <a:t>Contributions</a:t>
            </a:r>
          </a:p>
        </p:txBody>
      </p:sp>
      <p:sp>
        <p:nvSpPr>
          <p:cNvPr id="7" name="TextBox 6"/>
          <p:cNvSpPr txBox="1"/>
          <p:nvPr/>
        </p:nvSpPr>
        <p:spPr>
          <a:xfrm>
            <a:off x="9334500" y="2857500"/>
            <a:ext cx="7810500" cy="6286500"/>
          </a:xfrm>
          <a:prstGeom prst="rect">
            <a:avLst/>
          </a:prstGeom>
          <a:noFill/>
        </p:spPr>
        <p:txBody>
          <a:bodyPr wrap="square" anchor="t" lIns="0" rIns="0" tIns="0" bIns="0">
            <a:spAutoFit/>
          </a:bodyPr>
          <a:lstStyle/>
          <a:p>
            <a:pPr algn="l">
              <a:spcAft>
                <a:spcPts val="1800"/>
              </a:spcAft>
            </a:pPr>
            <a:r>
              <a:rPr sz="3200" b="0" i="0">
                <a:solidFill>
                  <a:srgbClr val="1F2933"/>
                </a:solidFill>
                <a:latin typeface="Segoe UI"/>
              </a:rPr>
              <a:t>1. A modular detection and completion framework for occluded vehicles, inspectable and reproducible at every stage.</a:t>
            </a:r>
          </a:p>
          <a:p>
            <a:pPr algn="l">
              <a:spcAft>
                <a:spcPts val="1800"/>
              </a:spcAft>
            </a:pPr>
            <a:r>
              <a:rPr sz="3200" b="0" i="0">
                <a:solidFill>
                  <a:srgbClr val="1F2933"/>
                </a:solidFill>
                <a:latin typeface="Segoe UI"/>
              </a:rPr>
              <a:t>2. Zero additional manual annotation: classifier labels are mined automatically; the completion network trains only on synthetic shapes.</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 INTRODUCTION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II. PROPOSED METHODOLOGY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2.1 SYSTEM ARCHITECTURE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Eight steps from a raw scan to completed cars.</a:t>
            </a:r>
          </a:p>
        </p:txBody>
      </p:sp>
      <p:pic>
        <p:nvPicPr>
          <p:cNvPr id="4" name="Picture 3" descr="d3_master_pipeline.drawio.png"/>
          <p:cNvPicPr>
            <a:picLocks noChangeAspect="1"/>
          </p:cNvPicPr>
          <p:nvPr/>
        </p:nvPicPr>
        <p:blipFill>
          <a:blip r:embed="rId2"/>
          <a:stretch>
            <a:fillRect/>
          </a:stretch>
        </p:blipFill>
        <p:spPr>
          <a:xfrm>
            <a:off x="1143000" y="328129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 DETECTION PIPELINE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Six steps turn a raw scan into tracked cars.</a:t>
            </a:r>
          </a:p>
        </p:txBody>
      </p:sp>
      <p:pic>
        <p:nvPicPr>
          <p:cNvPr id="4" name="Picture 3" descr="thesis_pipeline.png"/>
          <p:cNvPicPr>
            <a:picLocks noChangeAspect="1"/>
          </p:cNvPicPr>
          <p:nvPr/>
        </p:nvPicPr>
        <p:blipFill>
          <a:blip r:embed="rId2"/>
          <a:stretch>
            <a:fillRect/>
          </a:stretch>
        </p:blipFill>
        <p:spPr>
          <a:xfrm>
            <a:off x="6857117" y="2095500"/>
            <a:ext cx="4573766"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2.2.1 PREPROCESSING AND GROUND REMOVAL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Clean the scan, then remove the ground plane with RANSAC.</a:t>
            </a:r>
          </a:p>
        </p:txBody>
      </p:sp>
      <p:pic>
        <p:nvPicPr>
          <p:cNvPr id="4" name="Picture 3" descr="d4_ransac_real.png"/>
          <p:cNvPicPr>
            <a:picLocks noChangeAspect="1"/>
          </p:cNvPicPr>
          <p:nvPr/>
        </p:nvPicPr>
        <p:blipFill>
          <a:blip r:embed="rId2"/>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2.2.2 CLUSTERING (HDBSCAN)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HDBSCAN groups the remaining points into object candidates.</a:t>
            </a:r>
          </a:p>
        </p:txBody>
      </p:sp>
      <p:pic>
        <p:nvPicPr>
          <p:cNvPr id="4" name="Picture 3" descr="d5_ground_then_clusters.png"/>
          <p:cNvPicPr>
            <a:picLocks noChangeAspect="1"/>
          </p:cNvPicPr>
          <p:nvPr/>
        </p:nvPicPr>
        <p:blipFill>
          <a:blip r:embed="rId2"/>
          <a:stretch>
            <a:fillRect/>
          </a:stretch>
        </p:blipFill>
        <p:spPr>
          <a:xfrm>
            <a:off x="1143000" y="2861726"/>
            <a:ext cx="16002000" cy="5516048"/>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2.2.3 GEOMETRIC FILTER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Size and shape rules on each cluster's oriented box drop obvious non-cars.</a:t>
            </a:r>
          </a:p>
        </p:txBody>
      </p:sp>
      <p:pic>
        <p:nvPicPr>
          <p:cNvPr id="4" name="Picture 3" descr="thesis_geo_filter.png"/>
          <p:cNvPicPr>
            <a:picLocks noChangeAspect="1"/>
          </p:cNvPicPr>
          <p:nvPr/>
        </p:nvPicPr>
        <p:blipFill>
          <a:blip r:embed="rId2"/>
          <a:stretch>
            <a:fillRect/>
          </a:stretch>
        </p:blipFill>
        <p:spPr>
          <a:xfrm>
            <a:off x="1143000" y="3817191"/>
            <a:ext cx="8435340" cy="3605119"/>
          </a:xfrm>
          <a:prstGeom prst="rect">
            <a:avLst/>
          </a:prstGeom>
        </p:spPr>
      </p:pic>
      <p:graphicFrame>
        <p:nvGraphicFramePr>
          <p:cNvPr id="5" name="Table 4"/>
          <p:cNvGraphicFramePr>
            <a:graphicFrameLocks noGrp="1"/>
          </p:cNvGraphicFramePr>
          <p:nvPr/>
        </p:nvGraphicFramePr>
        <p:xfrm>
          <a:off x="9959340" y="2095500"/>
          <a:ext cx="7185660" cy="4724400"/>
        </p:xfrm>
        <a:graphic>
          <a:graphicData uri="http://schemas.openxmlformats.org/drawingml/2006/table">
            <a:tbl>
              <a:tblPr firstRow="1" bandRow="1">
                <a:tableStyleId>{5C22544A-7EE6-4342-B048-85BDC9FD1C3A}</a:tableStyleId>
              </a:tblPr>
              <a:tblGrid>
                <a:gridCol w="2477814"/>
                <a:gridCol w="4707846"/>
              </a:tblGrid>
              <a:tr h="590550">
                <a:tc>
                  <a:txBody>
                    <a:bodyPr/>
                    <a:lstStyle/>
                    <a:p>
                      <a:pPr algn="l"/>
                      <a:r>
                        <a:rPr sz="2100" b="1">
                          <a:solidFill>
                            <a:srgbClr val="FFFFFF"/>
                          </a:solidFill>
                          <a:latin typeface="Segoe UI"/>
                        </a:rPr>
                        <a:t>Gate</a:t>
                      </a:r>
                    </a:p>
                  </a:txBody>
                  <a:tcPr anchor="ctr" marL="114300" marR="114300">
                    <a:solidFill>
                      <a:srgbClr val="1F2933"/>
                    </a:solidFill>
                  </a:tcPr>
                </a:tc>
                <a:tc>
                  <a:txBody>
                    <a:bodyPr/>
                    <a:lstStyle/>
                    <a:p>
                      <a:pPr algn="l"/>
                      <a:r>
                        <a:rPr sz="2100" b="1">
                          <a:solidFill>
                            <a:srgbClr val="FFFFFF"/>
                          </a:solidFill>
                          <a:latin typeface="Segoe UI"/>
                        </a:rPr>
                        <a:t>Keep the cluster if</a:t>
                      </a:r>
                    </a:p>
                  </a:txBody>
                  <a:tcPr anchor="ctr" marL="114300" marR="114300">
                    <a:solidFill>
                      <a:srgbClr val="1F2933"/>
                    </a:solidFill>
                  </a:tcPr>
                </a:tc>
              </a:tr>
              <a:tr h="590550">
                <a:tc>
                  <a:txBody>
                    <a:bodyPr/>
                    <a:lstStyle/>
                    <a:p>
                      <a:pPr algn="l"/>
                      <a:r>
                        <a:rPr sz="2100" b="0">
                          <a:solidFill>
                            <a:srgbClr val="1F2933"/>
                          </a:solidFill>
                          <a:latin typeface="Segoe UI"/>
                        </a:rPr>
                        <a:t>Points</a:t>
                      </a:r>
                    </a:p>
                  </a:txBody>
                  <a:tcPr anchor="ctr" marL="114300" marR="114300">
                    <a:solidFill>
                      <a:srgbClr val="FFFFFF"/>
                    </a:solidFill>
                  </a:tcPr>
                </a:tc>
                <a:tc>
                  <a:txBody>
                    <a:bodyPr/>
                    <a:lstStyle/>
                    <a:p>
                      <a:pPr algn="l"/>
                      <a:r>
                        <a:rPr sz="2100" b="0">
                          <a:solidFill>
                            <a:srgbClr val="1F2933"/>
                          </a:solidFill>
                          <a:latin typeface="Segoe UI"/>
                        </a:rPr>
                        <a:t>≥ 15</a:t>
                      </a:r>
                    </a:p>
                  </a:txBody>
                  <a:tcPr anchor="ctr" marL="114300" marR="114300">
                    <a:solidFill>
                      <a:srgbClr val="FFFFFF"/>
                    </a:solidFill>
                  </a:tcPr>
                </a:tc>
              </a:tr>
              <a:tr h="590550">
                <a:tc>
                  <a:txBody>
                    <a:bodyPr/>
                    <a:lstStyle/>
                    <a:p>
                      <a:pPr algn="l"/>
                      <a:r>
                        <a:rPr sz="2100" b="0">
                          <a:solidFill>
                            <a:srgbClr val="1F2933"/>
                          </a:solidFill>
                          <a:latin typeface="Segoe UI"/>
                        </a:rPr>
                        <a:t>Box volume</a:t>
                      </a:r>
                    </a:p>
                  </a:txBody>
                  <a:tcPr anchor="ctr" marL="114300" marR="114300">
                    <a:solidFill>
                      <a:srgbClr val="EEF0F2"/>
                    </a:solidFill>
                  </a:tcPr>
                </a:tc>
                <a:tc>
                  <a:txBody>
                    <a:bodyPr/>
                    <a:lstStyle/>
                    <a:p>
                      <a:pPr algn="l"/>
                      <a:r>
                        <a:rPr sz="2100" b="0">
                          <a:solidFill>
                            <a:srgbClr val="1F2933"/>
                          </a:solidFill>
                          <a:latin typeface="Segoe UI"/>
                        </a:rPr>
                        <a:t>0.5–50 m³</a:t>
                      </a:r>
                    </a:p>
                  </a:txBody>
                  <a:tcPr anchor="ctr" marL="114300" marR="114300">
                    <a:solidFill>
                      <a:srgbClr val="EEF0F2"/>
                    </a:solidFill>
                  </a:tcPr>
                </a:tc>
              </a:tr>
              <a:tr h="590550">
                <a:tc>
                  <a:txBody>
                    <a:bodyPr/>
                    <a:lstStyle/>
                    <a:p>
                      <a:pPr algn="l"/>
                      <a:r>
                        <a:rPr sz="2100" b="0">
                          <a:solidFill>
                            <a:srgbClr val="1F2933"/>
                          </a:solidFill>
                          <a:latin typeface="Segoe UI"/>
                        </a:rPr>
                        <a:t>Longest side</a:t>
                      </a:r>
                    </a:p>
                  </a:txBody>
                  <a:tcPr anchor="ctr" marL="114300" marR="114300">
                    <a:solidFill>
                      <a:srgbClr val="FFFFFF"/>
                    </a:solidFill>
                  </a:tcPr>
                </a:tc>
                <a:tc>
                  <a:txBody>
                    <a:bodyPr/>
                    <a:lstStyle/>
                    <a:p>
                      <a:pPr algn="l"/>
                      <a:r>
                        <a:rPr sz="2100" b="0">
                          <a:solidFill>
                            <a:srgbClr val="1F2933"/>
                          </a:solidFill>
                          <a:latin typeface="Segoe UI"/>
                        </a:rPr>
                        <a:t>≤ 6.0 m</a:t>
                      </a:r>
                    </a:p>
                  </a:txBody>
                  <a:tcPr anchor="ctr" marL="114300" marR="114300">
                    <a:solidFill>
                      <a:srgbClr val="FFFFFF"/>
                    </a:solidFill>
                  </a:tcPr>
                </a:tc>
              </a:tr>
              <a:tr h="590550">
                <a:tc>
                  <a:txBody>
                    <a:bodyPr/>
                    <a:lstStyle/>
                    <a:p>
                      <a:pPr algn="l"/>
                      <a:r>
                        <a:rPr sz="2100" b="0">
                          <a:solidFill>
                            <a:srgbClr val="1F2933"/>
                          </a:solidFill>
                          <a:latin typeface="Segoe UI"/>
                        </a:rPr>
                        <a:t>Size floors</a:t>
                      </a:r>
                    </a:p>
                  </a:txBody>
                  <a:tcPr anchor="ctr" marL="114300" marR="114300">
                    <a:solidFill>
                      <a:srgbClr val="EEF0F2"/>
                    </a:solidFill>
                  </a:tcPr>
                </a:tc>
                <a:tc>
                  <a:txBody>
                    <a:bodyPr/>
                    <a:lstStyle/>
                    <a:p>
                      <a:pPr algn="l"/>
                      <a:r>
                        <a:rPr sz="2100" b="0">
                          <a:solidFill>
                            <a:srgbClr val="1F2933"/>
                          </a:solidFill>
                          <a:latin typeface="Segoe UI"/>
                        </a:rPr>
                        <a:t>longest ≥ 0.5 m, middle ≥ 0.4 m</a:t>
                      </a:r>
                    </a:p>
                  </a:txBody>
                  <a:tcPr anchor="ctr" marL="114300" marR="114300">
                    <a:solidFill>
                      <a:srgbClr val="EEF0F2"/>
                    </a:solidFill>
                  </a:tcPr>
                </a:tc>
              </a:tr>
              <a:tr h="590550">
                <a:tc>
                  <a:txBody>
                    <a:bodyPr/>
                    <a:lstStyle/>
                    <a:p>
                      <a:pPr algn="l"/>
                      <a:r>
                        <a:rPr sz="2100" b="0">
                          <a:solidFill>
                            <a:srgbClr val="1F2933"/>
                          </a:solidFill>
                          <a:latin typeface="Segoe UI"/>
                        </a:rPr>
                        <a:t>Centre height</a:t>
                      </a:r>
                    </a:p>
                  </a:txBody>
                  <a:tcPr anchor="ctr" marL="114300" marR="114300">
                    <a:solidFill>
                      <a:srgbClr val="FFFFFF"/>
                    </a:solidFill>
                  </a:tcPr>
                </a:tc>
                <a:tc>
                  <a:txBody>
                    <a:bodyPr/>
                    <a:lstStyle/>
                    <a:p>
                      <a:pPr algn="l"/>
                      <a:r>
                        <a:rPr sz="2100" b="0">
                          <a:solidFill>
                            <a:srgbClr val="1F2933"/>
                          </a:solidFill>
                          <a:latin typeface="Segoe UI"/>
                        </a:rPr>
                        <a:t>≤ 1.5 m above the ground plane</a:t>
                      </a:r>
                    </a:p>
                  </a:txBody>
                  <a:tcPr anchor="ctr" marL="114300" marR="114300">
                    <a:solidFill>
                      <a:srgbClr val="FFFFFF"/>
                    </a:solidFill>
                  </a:tcPr>
                </a:tc>
              </a:tr>
              <a:tr h="590550">
                <a:tc>
                  <a:txBody>
                    <a:bodyPr/>
                    <a:lstStyle/>
                    <a:p>
                      <a:pPr algn="l"/>
                      <a:r>
                        <a:rPr sz="2100" b="0">
                          <a:solidFill>
                            <a:srgbClr val="1F2933"/>
                          </a:solidFill>
                          <a:latin typeface="Segoe UI"/>
                        </a:rPr>
                        <a:t>Vertical span</a:t>
                      </a:r>
                    </a:p>
                  </a:txBody>
                  <a:tcPr anchor="ctr" marL="114300" marR="114300">
                    <a:solidFill>
                      <a:srgbClr val="EEF0F2"/>
                    </a:solidFill>
                  </a:tcPr>
                </a:tc>
                <a:tc>
                  <a:txBody>
                    <a:bodyPr/>
                    <a:lstStyle/>
                    <a:p>
                      <a:pPr algn="l"/>
                      <a:r>
                        <a:rPr sz="2100" b="0">
                          <a:solidFill>
                            <a:srgbClr val="1F2933"/>
                          </a:solidFill>
                          <a:latin typeface="Segoe UI"/>
                        </a:rPr>
                        <a:t>≤ 1.8 m</a:t>
                      </a:r>
                    </a:p>
                  </a:txBody>
                  <a:tcPr anchor="ctr" marL="114300" marR="114300">
                    <a:solidFill>
                      <a:srgbClr val="EEF0F2"/>
                    </a:solidFill>
                  </a:tcPr>
                </a:tc>
              </a:tr>
              <a:tr h="590550">
                <a:tc>
                  <a:txBody>
                    <a:bodyPr/>
                    <a:lstStyle/>
                    <a:p>
                      <a:pPr algn="l"/>
                      <a:r>
                        <a:rPr sz="2100" b="0">
                          <a:solidFill>
                            <a:srgbClr val="1F2933"/>
                          </a:solidFill>
                          <a:latin typeface="Segoe UI"/>
                        </a:rPr>
                        <a:t>Aspect ratio</a:t>
                      </a:r>
                    </a:p>
                  </a:txBody>
                  <a:tcPr anchor="ctr" marL="114300" marR="114300">
                    <a:solidFill>
                      <a:srgbClr val="FFFFFF"/>
                    </a:solidFill>
                  </a:tcPr>
                </a:tc>
                <a:tc>
                  <a:txBody>
                    <a:bodyPr/>
                    <a:lstStyle/>
                    <a:p>
                      <a:pPr algn="l"/>
                      <a:r>
                        <a:rPr sz="2100" b="0">
                          <a:solidFill>
                            <a:srgbClr val="1F2933"/>
                          </a:solidFill>
                          <a:latin typeface="Segoe UI"/>
                        </a:rPr>
                        <a:t>longest / shortest ≤ 6.0</a:t>
                      </a:r>
                    </a:p>
                  </a:txBody>
                  <a:tcPr anchor="ctr" marL="114300" marR="114300">
                    <a:solidFill>
                      <a:srgbClr val="FFFFFF"/>
                    </a:solidFill>
                  </a:tcPr>
                </a:tc>
              </a:tr>
            </a:tbl>
          </a:graphicData>
        </a:graphic>
      </p:graphicFrame>
      <p:sp>
        <p:nvSpPr>
          <p:cNvPr id="6" name="TextBox 5"/>
          <p:cNvSpPr txBox="1"/>
          <p:nvPr/>
        </p:nvSpPr>
        <p:spPr>
          <a:xfrm>
            <a:off x="9959340" y="7010400"/>
            <a:ext cx="7185660" cy="1143000"/>
          </a:xfrm>
          <a:prstGeom prst="rect">
            <a:avLst/>
          </a:prstGeom>
          <a:noFill/>
        </p:spPr>
        <p:txBody>
          <a:bodyPr wrap="square" anchor="t" lIns="0" rIns="0" tIns="0" bIns="0">
            <a:spAutoFit/>
          </a:bodyPr>
          <a:lstStyle/>
          <a:p>
            <a:pPr algn="l">
              <a:spcAft>
                <a:spcPts val="800"/>
              </a:spcAft>
            </a:pPr>
            <a:r>
              <a:rPr sz="2100" b="0" i="0">
                <a:solidFill>
                  <a:srgbClr val="1F2933"/>
                </a:solidFill>
                <a:latin typeface="Segoe UI"/>
              </a:rPr>
              <a:t>After this filter alone: precision 0.199, recall 0.773.</a:t>
            </a:r>
          </a:p>
          <a:p>
            <a:pPr algn="l">
              <a:spcAft>
                <a:spcPts val="800"/>
              </a:spcAft>
            </a:pPr>
            <a:r>
              <a:rPr sz="2100" b="0" i="0">
                <a:solidFill>
                  <a:srgbClr val="1F2933"/>
                </a:solidFill>
                <a:latin typeface="Segoe UI"/>
              </a:rPr>
              <a:t>Loose by design: the classifier makes the fine decision.</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2.2.4 CAR / NOT-CAR CLASSIFIER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small PointNet decides car or not-car, trained on labels mined automatically from SemanticKITTI.</a:t>
            </a:r>
          </a:p>
        </p:txBody>
      </p:sp>
      <p:pic>
        <p:nvPicPr>
          <p:cNvPr id="4" name="Picture 3" descr="d67_classifier_training.drawio.png"/>
          <p:cNvPicPr>
            <a:picLocks noChangeAspect="1"/>
          </p:cNvPicPr>
          <p:nvPr/>
        </p:nvPicPr>
        <p:blipFill>
          <a:blip r:embed="rId2"/>
          <a:stretch>
            <a:fillRect/>
          </a:stretch>
        </p:blipFill>
        <p:spPr>
          <a:xfrm>
            <a:off x="1318893" y="2095500"/>
            <a:ext cx="15650213"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2.2.5 TRACKING AND TRACK FILTER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Detections are linked across frames; each track is kept or dropped as a whole, by vote.</a:t>
            </a:r>
          </a:p>
        </p:txBody>
      </p:sp>
      <p:pic>
        <p:nvPicPr>
          <p:cNvPr id="4" name="Picture 3" descr="d8_tracking_timeline.drawio.png"/>
          <p:cNvPicPr>
            <a:picLocks noChangeAspect="1"/>
          </p:cNvPicPr>
          <p:nvPr/>
        </p:nvPicPr>
        <p:blipFill>
          <a:blip r:embed="rId2"/>
          <a:stretch>
            <a:fillRect/>
          </a:stretch>
        </p:blipFill>
        <p:spPr>
          <a:xfrm>
            <a:off x="1143000" y="3123560"/>
            <a:ext cx="16002000" cy="499238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 COMPLETION PIPELINE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network trains only on synthetic shapes but must work on real scans.</a:t>
            </a:r>
          </a:p>
        </p:txBody>
      </p:sp>
      <p:pic>
        <p:nvPicPr>
          <p:cNvPr id="4" name="Picture 3" descr="d11_pcn.drawio.png"/>
          <p:cNvPicPr>
            <a:picLocks noChangeAspect="1"/>
          </p:cNvPicPr>
          <p:nvPr/>
        </p:nvPicPr>
        <p:blipFill>
          <a:blip r:embed="rId2"/>
          <a:stretch>
            <a:fillRect/>
          </a:stretch>
        </p:blipFill>
        <p:spPr>
          <a:xfrm>
            <a:off x="1143000" y="2420415"/>
            <a:ext cx="16002000" cy="6398671"/>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2.3.1 SYNTHETIC TRAINING PARTIALS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Training inputs are simulated to look like real scans.</a:t>
            </a:r>
          </a:p>
        </p:txBody>
      </p:sp>
      <p:pic>
        <p:nvPicPr>
          <p:cNvPr id="4" name="Picture 3" descr="d14_training_vs_real.png"/>
          <p:cNvPicPr>
            <a:picLocks noChangeAspect="1"/>
          </p:cNvPicPr>
          <p:nvPr/>
        </p:nvPicPr>
        <p:blipFill>
          <a:blip r:embed="rId2"/>
          <a:stretch>
            <a:fillRect/>
          </a:stretch>
        </p:blipFill>
        <p:spPr>
          <a:xfrm>
            <a:off x="1143000" y="2828344"/>
            <a:ext cx="16002000" cy="5582812"/>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2.3.2 REAL SCAN NORMALISATION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Before PCN, each real car is checked, turned, shifted and sized.</a:t>
            </a:r>
          </a:p>
        </p:txBody>
      </p:sp>
      <p:pic>
        <p:nvPicPr>
          <p:cNvPr id="4" name="Picture 3" descr="d15_check_turn_shift_size.png"/>
          <p:cNvPicPr>
            <a:picLocks noChangeAspect="1"/>
          </p:cNvPicPr>
          <p:nvPr/>
        </p:nvPicPr>
        <p:blipFill>
          <a:blip r:embed="rId2"/>
          <a:stretch>
            <a:fillRect/>
          </a:stretch>
        </p:blipFill>
        <p:spPr>
          <a:xfrm>
            <a:off x="1143000" y="3251072"/>
            <a:ext cx="16002000" cy="4737356"/>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2.3.3 GATE AND NORMALISATION CONSTANTS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How the gate decides, and what each constant corrects.</a:t>
            </a:r>
          </a:p>
        </p:txBody>
      </p:sp>
      <p:pic>
        <p:nvPicPr>
          <p:cNvPr id="4" name="Picture 3" descr="thesis_lshape_gate.png"/>
          <p:cNvPicPr>
            <a:picLocks noChangeAspect="1"/>
          </p:cNvPicPr>
          <p:nvPr/>
        </p:nvPicPr>
        <p:blipFill>
          <a:blip r:embed="rId2"/>
          <a:stretch>
            <a:fillRect/>
          </a:stretch>
        </p:blipFill>
        <p:spPr>
          <a:xfrm>
            <a:off x="1143000" y="2687258"/>
            <a:ext cx="6248400" cy="2435985"/>
          </a:xfrm>
          <a:prstGeom prst="rect">
            <a:avLst/>
          </a:prstGeom>
        </p:spPr>
      </p:pic>
      <p:sp>
        <p:nvSpPr>
          <p:cNvPr id="5" name="TextBox 4"/>
          <p:cNvSpPr txBox="1"/>
          <p:nvPr/>
        </p:nvSpPr>
        <p:spPr>
          <a:xfrm>
            <a:off x="1143000" y="5504242"/>
            <a:ext cx="6248400" cy="2286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Fragments and merged cars never complete into a plausible car, so they are skipped, not completed.</a:t>
            </a:r>
          </a:p>
        </p:txBody>
      </p:sp>
      <p:graphicFrame>
        <p:nvGraphicFramePr>
          <p:cNvPr id="6" name="Table 5"/>
          <p:cNvGraphicFramePr>
            <a:graphicFrameLocks noGrp="1"/>
          </p:cNvGraphicFramePr>
          <p:nvPr/>
        </p:nvGraphicFramePr>
        <p:xfrm>
          <a:off x="7772400" y="2095500"/>
          <a:ext cx="9372600" cy="6343650"/>
        </p:xfrm>
        <a:graphic>
          <a:graphicData uri="http://schemas.openxmlformats.org/drawingml/2006/table">
            <a:tbl>
              <a:tblPr firstRow="1" bandRow="1">
                <a:tableStyleId>{5C22544A-7EE6-4342-B048-85BDC9FD1C3A}</a:tableStyleId>
              </a:tblPr>
              <a:tblGrid>
                <a:gridCol w="1233688"/>
                <a:gridCol w="2056146"/>
                <a:gridCol w="2655856"/>
                <a:gridCol w="3426910"/>
              </a:tblGrid>
              <a:tr h="704850">
                <a:tc>
                  <a:txBody>
                    <a:bodyPr/>
                    <a:lstStyle/>
                    <a:p>
                      <a:pPr algn="l"/>
                      <a:r>
                        <a:rPr sz="1900" b="1">
                          <a:solidFill>
                            <a:srgbClr val="FFFFFF"/>
                          </a:solidFill>
                          <a:latin typeface="Segoe UI"/>
                        </a:rPr>
                        <a:t>Step</a:t>
                      </a:r>
                    </a:p>
                  </a:txBody>
                  <a:tcPr anchor="ctr" marL="114300" marR="114300">
                    <a:solidFill>
                      <a:srgbClr val="1F2933"/>
                    </a:solidFill>
                  </a:tcPr>
                </a:tc>
                <a:tc>
                  <a:txBody>
                    <a:bodyPr/>
                    <a:lstStyle/>
                    <a:p>
                      <a:pPr algn="l"/>
                      <a:r>
                        <a:rPr sz="1900" b="1">
                          <a:solidFill>
                            <a:srgbClr val="FFFFFF"/>
                          </a:solidFill>
                          <a:latin typeface="Segoe UI"/>
                        </a:rPr>
                        <a:t>Constant</a:t>
                      </a:r>
                    </a:p>
                  </a:txBody>
                  <a:tcPr anchor="ctr" marL="114300" marR="114300">
                    <a:solidFill>
                      <a:srgbClr val="1F2933"/>
                    </a:solidFill>
                  </a:tcPr>
                </a:tc>
                <a:tc>
                  <a:txBody>
                    <a:bodyPr/>
                    <a:lstStyle/>
                    <a:p>
                      <a:pPr algn="l"/>
                      <a:r>
                        <a:rPr sz="1900" b="1">
                          <a:solidFill>
                            <a:srgbClr val="FFFFFF"/>
                          </a:solidFill>
                          <a:latin typeface="Segoe UI"/>
                        </a:rPr>
                        <a:t>Value</a:t>
                      </a:r>
                    </a:p>
                  </a:txBody>
                  <a:tcPr anchor="ctr" marL="114300" marR="114300">
                    <a:solidFill>
                      <a:srgbClr val="1F2933"/>
                    </a:solidFill>
                  </a:tcPr>
                </a:tc>
                <a:tc>
                  <a:txBody>
                    <a:bodyPr/>
                    <a:lstStyle/>
                    <a:p>
                      <a:pPr algn="l"/>
                      <a:r>
                        <a:rPr sz="1900" b="1">
                          <a:solidFill>
                            <a:srgbClr val="FFFFFF"/>
                          </a:solidFill>
                          <a:latin typeface="Segoe UI"/>
                        </a:rPr>
                        <a:t>What it corrects</a:t>
                      </a:r>
                    </a:p>
                  </a:txBody>
                  <a:tcPr anchor="ctr" marL="114300" marR="114300">
                    <a:solidFill>
                      <a:srgbClr val="1F2933"/>
                    </a:solidFill>
                  </a:tcPr>
                </a:tc>
              </a:tr>
              <a:tr h="704850">
                <a:tc>
                  <a:txBody>
                    <a:bodyPr/>
                    <a:lstStyle/>
                    <a:p>
                      <a:pPr algn="l"/>
                      <a:r>
                        <a:rPr sz="1900" b="1">
                          <a:solidFill>
                            <a:srgbClr val="1F2933"/>
                          </a:solidFill>
                          <a:latin typeface="Segoe UI"/>
                        </a:rPr>
                        <a:t>1 Check</a:t>
                      </a:r>
                    </a:p>
                  </a:txBody>
                  <a:tcPr anchor="ctr" marL="114300" marR="114300">
                    <a:solidFill>
                      <a:srgbClr val="FFFFFF"/>
                    </a:solidFill>
                  </a:tcPr>
                </a:tc>
                <a:tc>
                  <a:txBody>
                    <a:bodyPr/>
                    <a:lstStyle/>
                    <a:p>
                      <a:pPr algn="l"/>
                      <a:r>
                        <a:rPr sz="1900" b="0">
                          <a:solidFill>
                            <a:srgbClr val="1F2933"/>
                          </a:solidFill>
                          <a:latin typeface="Segoe UI"/>
                        </a:rPr>
                        <a:t>min. length</a:t>
                      </a:r>
                    </a:p>
                  </a:txBody>
                  <a:tcPr anchor="ctr" marL="114300" marR="114300">
                    <a:solidFill>
                      <a:srgbClr val="FFFFFF"/>
                    </a:solidFill>
                  </a:tcPr>
                </a:tc>
                <a:tc>
                  <a:txBody>
                    <a:bodyPr/>
                    <a:lstStyle/>
                    <a:p>
                      <a:pPr algn="l"/>
                      <a:r>
                        <a:rPr sz="1900" b="0">
                          <a:solidFill>
                            <a:srgbClr val="1F2933"/>
                          </a:solidFill>
                          <a:latin typeface="Segoe UI"/>
                        </a:rPr>
                        <a:t>2.7 m</a:t>
                      </a:r>
                    </a:p>
                  </a:txBody>
                  <a:tcPr anchor="ctr" marL="114300" marR="114300">
                    <a:solidFill>
                      <a:srgbClr val="FFFFFF"/>
                    </a:solidFill>
                  </a:tcPr>
                </a:tc>
                <a:tc>
                  <a:txBody>
                    <a:bodyPr/>
                    <a:lstStyle/>
                    <a:p>
                      <a:pPr algn="l"/>
                      <a:r>
                        <a:rPr sz="1900" b="0">
                          <a:solidFill>
                            <a:srgbClr val="1F2933"/>
                          </a:solidFill>
                          <a:latin typeface="Segoe UI"/>
                        </a:rPr>
                        <a:t>shorter: a fragment of a car</a:t>
                      </a:r>
                    </a:p>
                  </a:txBody>
                  <a:tcPr anchor="ctr" marL="114300" marR="114300">
                    <a:solidFill>
                      <a:srgbClr val="FFFFFF"/>
                    </a:solidFill>
                  </a:tcPr>
                </a:tc>
              </a:tr>
              <a:tr h="704850">
                <a:tc>
                  <a:txBody>
                    <a:bodyPr/>
                    <a:lstStyle/>
                    <a:p>
                      <a:pPr algn="l"/>
                      <a:r>
                        <a:rPr sz="1900" b="0">
                          <a:solidFill>
                            <a:srgbClr val="1F2933"/>
                          </a:solidFill>
                          <a:latin typeface="Segoe UI"/>
                        </a:rPr>
                        <a:t/>
                      </a:r>
                    </a:p>
                  </a:txBody>
                  <a:tcPr anchor="ctr" marL="114300" marR="114300">
                    <a:solidFill>
                      <a:srgbClr val="EEF0F2"/>
                    </a:solidFill>
                  </a:tcPr>
                </a:tc>
                <a:tc>
                  <a:txBody>
                    <a:bodyPr/>
                    <a:lstStyle/>
                    <a:p>
                      <a:pPr algn="l"/>
                      <a:r>
                        <a:rPr sz="1900" b="0">
                          <a:solidFill>
                            <a:srgbClr val="1F2933"/>
                          </a:solidFill>
                          <a:latin typeface="Segoe UI"/>
                        </a:rPr>
                        <a:t>max. width</a:t>
                      </a:r>
                    </a:p>
                  </a:txBody>
                  <a:tcPr anchor="ctr" marL="114300" marR="114300">
                    <a:solidFill>
                      <a:srgbClr val="EEF0F2"/>
                    </a:solidFill>
                  </a:tcPr>
                </a:tc>
                <a:tc>
                  <a:txBody>
                    <a:bodyPr/>
                    <a:lstStyle/>
                    <a:p>
                      <a:pPr algn="l"/>
                      <a:r>
                        <a:rPr sz="1900" b="0">
                          <a:solidFill>
                            <a:srgbClr val="1F2933"/>
                          </a:solidFill>
                          <a:latin typeface="Segoe UI"/>
                        </a:rPr>
                        <a:t>2.3 m</a:t>
                      </a:r>
                    </a:p>
                  </a:txBody>
                  <a:tcPr anchor="ctr" marL="114300" marR="114300">
                    <a:solidFill>
                      <a:srgbClr val="EEF0F2"/>
                    </a:solidFill>
                  </a:tcPr>
                </a:tc>
                <a:tc>
                  <a:txBody>
                    <a:bodyPr/>
                    <a:lstStyle/>
                    <a:p>
                      <a:pPr algn="l"/>
                      <a:r>
                        <a:rPr sz="1900" b="0">
                          <a:solidFill>
                            <a:srgbClr val="1F2933"/>
                          </a:solidFill>
                          <a:latin typeface="Segoe UI"/>
                        </a:rPr>
                        <a:t>wider: two cars merged</a:t>
                      </a:r>
                    </a:p>
                  </a:txBody>
                  <a:tcPr anchor="ctr" marL="114300" marR="114300">
                    <a:solidFill>
                      <a:srgbClr val="EEF0F2"/>
                    </a:solidFill>
                  </a:tcPr>
                </a:tc>
              </a:tr>
              <a:tr h="704850">
                <a:tc>
                  <a:txBody>
                    <a:bodyPr/>
                    <a:lstStyle/>
                    <a:p>
                      <a:pPr algn="l"/>
                      <a:r>
                        <a:rPr sz="1900" b="1">
                          <a:solidFill>
                            <a:srgbClr val="1F2933"/>
                          </a:solidFill>
                          <a:latin typeface="Segoe UI"/>
                        </a:rPr>
                        <a:t>2 Turn</a:t>
                      </a:r>
                    </a:p>
                  </a:txBody>
                  <a:tcPr anchor="ctr" marL="114300" marR="114300">
                    <a:solidFill>
                      <a:srgbClr val="FFFFFF"/>
                    </a:solidFill>
                  </a:tcPr>
                </a:tc>
                <a:tc>
                  <a:txBody>
                    <a:bodyPr/>
                    <a:lstStyle/>
                    <a:p>
                      <a:pPr algn="l"/>
                      <a:r>
                        <a:rPr sz="1900" b="0">
                          <a:solidFill>
                            <a:srgbClr val="1F2933"/>
                          </a:solidFill>
                          <a:latin typeface="Segoe UI"/>
                        </a:rPr>
                        <a:t>heading</a:t>
                      </a:r>
                    </a:p>
                  </a:txBody>
                  <a:tcPr anchor="ctr" marL="114300" marR="114300">
                    <a:solidFill>
                      <a:srgbClr val="FFFFFF"/>
                    </a:solidFill>
                  </a:tcPr>
                </a:tc>
                <a:tc>
                  <a:txBody>
                    <a:bodyPr/>
                    <a:lstStyle/>
                    <a:p>
                      <a:pPr algn="l"/>
                      <a:r>
                        <a:rPr sz="1900" b="0">
                          <a:solidFill>
                            <a:srgbClr val="1F2933"/>
                          </a:solidFill>
                          <a:latin typeface="Segoe UI"/>
                        </a:rPr>
                        <a:t>L-shape fit</a:t>
                      </a:r>
                    </a:p>
                  </a:txBody>
                  <a:tcPr anchor="ctr" marL="114300" marR="114300">
                    <a:solidFill>
                      <a:srgbClr val="FFFFFF"/>
                    </a:solidFill>
                  </a:tcPr>
                </a:tc>
                <a:tc>
                  <a:txBody>
                    <a:bodyPr/>
                    <a:lstStyle/>
                    <a:p>
                      <a:pPr algn="l"/>
                      <a:r>
                        <a:rPr sz="1900" b="0">
                          <a:solidFill>
                            <a:srgbClr val="1F2933"/>
                          </a:solidFill>
                          <a:latin typeface="Segoe UI"/>
                        </a:rPr>
                        <a:t>no constant: the fitted angle</a:t>
                      </a:r>
                    </a:p>
                  </a:txBody>
                  <a:tcPr anchor="ctr" marL="114300" marR="114300">
                    <a:solidFill>
                      <a:srgbClr val="FFFFFF"/>
                    </a:solidFill>
                  </a:tcPr>
                </a:tc>
              </a:tr>
              <a:tr h="704850">
                <a:tc>
                  <a:txBody>
                    <a:bodyPr/>
                    <a:lstStyle/>
                    <a:p>
                      <a:pPr algn="l"/>
                      <a:r>
                        <a:rPr sz="1900" b="1">
                          <a:solidFill>
                            <a:srgbClr val="1F2933"/>
                          </a:solidFill>
                          <a:latin typeface="Segoe UI"/>
                        </a:rPr>
                        <a:t>3 Shift</a:t>
                      </a:r>
                    </a:p>
                  </a:txBody>
                  <a:tcPr anchor="ctr" marL="114300" marR="114300">
                    <a:solidFill>
                      <a:srgbClr val="EEF0F2"/>
                    </a:solidFill>
                  </a:tcPr>
                </a:tc>
                <a:tc>
                  <a:txBody>
                    <a:bodyPr/>
                    <a:lstStyle/>
                    <a:p>
                      <a:pPr algn="l"/>
                      <a:r>
                        <a:rPr sz="1900" b="0">
                          <a:solidFill>
                            <a:srgbClr val="1F2933"/>
                          </a:solidFill>
                          <a:latin typeface="Segoe UI"/>
                        </a:rPr>
                        <a:t>down-shift</a:t>
                      </a:r>
                    </a:p>
                  </a:txBody>
                  <a:tcPr anchor="ctr" marL="114300" marR="114300">
                    <a:solidFill>
                      <a:srgbClr val="EEF0F2"/>
                    </a:solidFill>
                  </a:tcPr>
                </a:tc>
                <a:tc>
                  <a:txBody>
                    <a:bodyPr/>
                    <a:lstStyle/>
                    <a:p>
                      <a:pPr algn="l"/>
                      <a:r>
                        <a:rPr sz="1900" b="0">
                          <a:solidFill>
                            <a:srgbClr val="1F2933"/>
                          </a:solidFill>
                          <a:latin typeface="Segoe UI"/>
                        </a:rPr>
                        <a:t>0.25 m</a:t>
                      </a:r>
                    </a:p>
                  </a:txBody>
                  <a:tcPr anchor="ctr" marL="114300" marR="114300">
                    <a:solidFill>
                      <a:srgbClr val="EEF0F2"/>
                    </a:solidFill>
                  </a:tcPr>
                </a:tc>
                <a:tc>
                  <a:txBody>
                    <a:bodyPr/>
                    <a:lstStyle/>
                    <a:p>
                      <a:pPr algn="l"/>
                      <a:r>
                        <a:rPr sz="1900" b="0">
                          <a:solidFill>
                            <a:srgbClr val="1F2933"/>
                          </a:solidFill>
                          <a:latin typeface="Segoe UI"/>
                        </a:rPr>
                        <a:t>ground cut lifts the middle</a:t>
                      </a:r>
                    </a:p>
                  </a:txBody>
                  <a:tcPr anchor="ctr" marL="114300" marR="114300">
                    <a:solidFill>
                      <a:srgbClr val="EEF0F2"/>
                    </a:solidFill>
                  </a:tcPr>
                </a:tc>
              </a:tr>
              <a:tr h="704850">
                <a:tc>
                  <a:txBody>
                    <a:bodyPr/>
                    <a:lstStyle/>
                    <a:p>
                      <a:pPr algn="l"/>
                      <a:r>
                        <a:rPr sz="1900" b="0">
                          <a:solidFill>
                            <a:srgbClr val="1F2933"/>
                          </a:solidFill>
                          <a:latin typeface="Segoe UI"/>
                        </a:rPr>
                        <a:t/>
                      </a:r>
                    </a:p>
                  </a:txBody>
                  <a:tcPr anchor="ctr" marL="114300" marR="114300">
                    <a:solidFill>
                      <a:srgbClr val="FFFFFF"/>
                    </a:solidFill>
                  </a:tcPr>
                </a:tc>
                <a:tc>
                  <a:txBody>
                    <a:bodyPr/>
                    <a:lstStyle/>
                    <a:p>
                      <a:pPr algn="l"/>
                      <a:r>
                        <a:rPr sz="1900" b="0">
                          <a:solidFill>
                            <a:srgbClr val="1F2933"/>
                          </a:solidFill>
                          <a:latin typeface="Segoe UI"/>
                        </a:rPr>
                        <a:t>width prior</a:t>
                      </a:r>
                    </a:p>
                  </a:txBody>
                  <a:tcPr anchor="ctr" marL="114300" marR="114300">
                    <a:solidFill>
                      <a:srgbClr val="FFFFFF"/>
                    </a:solidFill>
                  </a:tcPr>
                </a:tc>
                <a:tc>
                  <a:txBody>
                    <a:bodyPr/>
                    <a:lstStyle/>
                    <a:p>
                      <a:pPr algn="l"/>
                      <a:r>
                        <a:rPr sz="1900" b="0">
                          <a:solidFill>
                            <a:srgbClr val="1F2933"/>
                          </a:solidFill>
                          <a:latin typeface="Segoe UI"/>
                        </a:rPr>
                        <a:t>1.9 m</a:t>
                      </a:r>
                    </a:p>
                  </a:txBody>
                  <a:tcPr anchor="ctr" marL="114300" marR="114300">
                    <a:solidFill>
                      <a:srgbClr val="FFFFFF"/>
                    </a:solidFill>
                  </a:tcPr>
                </a:tc>
                <a:tc>
                  <a:txBody>
                    <a:bodyPr/>
                    <a:lstStyle/>
                    <a:p>
                      <a:pPr algn="l"/>
                      <a:r>
                        <a:rPr sz="1900" b="0">
                          <a:solidFill>
                            <a:srgbClr val="1F2933"/>
                          </a:solidFill>
                          <a:latin typeface="Segoe UI"/>
                        </a:rPr>
                        <a:t>the hidden far side</a:t>
                      </a:r>
                    </a:p>
                  </a:txBody>
                  <a:tcPr anchor="ctr" marL="114300" marR="114300">
                    <a:solidFill>
                      <a:srgbClr val="FFFFFF"/>
                    </a:solidFill>
                  </a:tcPr>
                </a:tc>
              </a:tr>
              <a:tr h="704850">
                <a:tc>
                  <a:txBody>
                    <a:bodyPr/>
                    <a:lstStyle/>
                    <a:p>
                      <a:pPr algn="l"/>
                      <a:r>
                        <a:rPr sz="1900" b="0">
                          <a:solidFill>
                            <a:srgbClr val="1F2933"/>
                          </a:solidFill>
                          <a:latin typeface="Segoe UI"/>
                        </a:rPr>
                        <a:t/>
                      </a:r>
                    </a:p>
                  </a:txBody>
                  <a:tcPr anchor="ctr" marL="114300" marR="114300">
                    <a:solidFill>
                      <a:srgbClr val="EEF0F2"/>
                    </a:solidFill>
                  </a:tcPr>
                </a:tc>
                <a:tc>
                  <a:txBody>
                    <a:bodyPr/>
                    <a:lstStyle/>
                    <a:p>
                      <a:pPr algn="l"/>
                      <a:r>
                        <a:rPr sz="1900" b="0">
                          <a:solidFill>
                            <a:srgbClr val="1F2933"/>
                          </a:solidFill>
                          <a:latin typeface="Segoe UI"/>
                        </a:rPr>
                        <a:t>car length</a:t>
                      </a:r>
                    </a:p>
                  </a:txBody>
                  <a:tcPr anchor="ctr" marL="114300" marR="114300">
                    <a:solidFill>
                      <a:srgbClr val="EEF0F2"/>
                    </a:solidFill>
                  </a:tcPr>
                </a:tc>
                <a:tc>
                  <a:txBody>
                    <a:bodyPr/>
                    <a:lstStyle/>
                    <a:p>
                      <a:pPr algn="l"/>
                      <a:r>
                        <a:rPr sz="1900" b="0">
                          <a:solidFill>
                            <a:srgbClr val="1F2933"/>
                          </a:solidFill>
                          <a:latin typeface="Segoe UI"/>
                        </a:rPr>
                        <a:t>track p90 + 0.12 m</a:t>
                      </a:r>
                    </a:p>
                  </a:txBody>
                  <a:tcPr anchor="ctr" marL="114300" marR="114300">
                    <a:solidFill>
                      <a:srgbClr val="EEF0F2"/>
                    </a:solidFill>
                  </a:tcPr>
                </a:tc>
                <a:tc>
                  <a:txBody>
                    <a:bodyPr/>
                    <a:lstStyle/>
                    <a:p>
                      <a:pPr algn="l"/>
                      <a:r>
                        <a:rPr sz="1900" b="0">
                          <a:solidFill>
                            <a:srgbClr val="1F2933"/>
                          </a:solidFill>
                          <a:latin typeface="Segoe UI"/>
                        </a:rPr>
                        <a:t>the hidden far end</a:t>
                      </a:r>
                    </a:p>
                  </a:txBody>
                  <a:tcPr anchor="ctr" marL="114300" marR="114300">
                    <a:solidFill>
                      <a:srgbClr val="EEF0F2"/>
                    </a:solidFill>
                  </a:tcPr>
                </a:tc>
              </a:tr>
              <a:tr h="704850">
                <a:tc>
                  <a:txBody>
                    <a:bodyPr/>
                    <a:lstStyle/>
                    <a:p>
                      <a:pPr algn="l"/>
                      <a:r>
                        <a:rPr sz="1900" b="0">
                          <a:solidFill>
                            <a:srgbClr val="1F2933"/>
                          </a:solidFill>
                          <a:latin typeface="Segoe UI"/>
                        </a:rPr>
                        <a:t/>
                      </a:r>
                    </a:p>
                  </a:txBody>
                  <a:tcPr anchor="ctr" marL="114300" marR="114300">
                    <a:solidFill>
                      <a:srgbClr val="FFFFFF"/>
                    </a:solidFill>
                  </a:tcPr>
                </a:tc>
                <a:tc>
                  <a:txBody>
                    <a:bodyPr/>
                    <a:lstStyle/>
                    <a:p>
                      <a:pPr algn="l"/>
                      <a:r>
                        <a:rPr sz="1900" b="0">
                          <a:solidFill>
                            <a:srgbClr val="1F2933"/>
                          </a:solidFill>
                          <a:latin typeface="Segoe UI"/>
                        </a:rPr>
                        <a:t>length fallback</a:t>
                      </a:r>
                    </a:p>
                  </a:txBody>
                  <a:tcPr anchor="ctr" marL="114300" marR="114300">
                    <a:solidFill>
                      <a:srgbClr val="FFFFFF"/>
                    </a:solidFill>
                  </a:tcPr>
                </a:tc>
                <a:tc>
                  <a:txBody>
                    <a:bodyPr/>
                    <a:lstStyle/>
                    <a:p>
                      <a:pPr algn="l"/>
                      <a:r>
                        <a:rPr sz="1900" b="0">
                          <a:solidFill>
                            <a:srgbClr val="1F2933"/>
                          </a:solidFill>
                          <a:latin typeface="Segoe UI"/>
                        </a:rPr>
                        <a:t>4.14 m</a:t>
                      </a:r>
                    </a:p>
                  </a:txBody>
                  <a:tcPr anchor="ctr" marL="114300" marR="114300">
                    <a:solidFill>
                      <a:srgbClr val="FFFFFF"/>
                    </a:solidFill>
                  </a:tcPr>
                </a:tc>
                <a:tc>
                  <a:txBody>
                    <a:bodyPr/>
                    <a:lstStyle/>
                    <a:p>
                      <a:pPr algn="l"/>
                      <a:r>
                        <a:rPr sz="1900" b="0">
                          <a:solidFill>
                            <a:srgbClr val="1F2933"/>
                          </a:solidFill>
                          <a:latin typeface="Segoe UI"/>
                        </a:rPr>
                        <a:t>a track with &lt; 5 good frames</a:t>
                      </a:r>
                    </a:p>
                  </a:txBody>
                  <a:tcPr anchor="ctr" marL="114300" marR="114300">
                    <a:solidFill>
                      <a:srgbClr val="FFFFFF"/>
                    </a:solidFill>
                  </a:tcPr>
                </a:tc>
              </a:tr>
              <a:tr h="704850">
                <a:tc>
                  <a:txBody>
                    <a:bodyPr/>
                    <a:lstStyle/>
                    <a:p>
                      <a:pPr algn="l"/>
                      <a:r>
                        <a:rPr sz="1900" b="1">
                          <a:solidFill>
                            <a:srgbClr val="1F2933"/>
                          </a:solidFill>
                          <a:latin typeface="Segoe UI"/>
                        </a:rPr>
                        <a:t>4 Size</a:t>
                      </a:r>
                    </a:p>
                  </a:txBody>
                  <a:tcPr anchor="ctr" marL="114300" marR="114300">
                    <a:solidFill>
                      <a:srgbClr val="EEF0F2"/>
                    </a:solidFill>
                  </a:tcPr>
                </a:tc>
                <a:tc>
                  <a:txBody>
                    <a:bodyPr/>
                    <a:lstStyle/>
                    <a:p>
                      <a:pPr algn="l"/>
                      <a:r>
                        <a:rPr sz="1900" b="0">
                          <a:solidFill>
                            <a:srgbClr val="1F2933"/>
                          </a:solidFill>
                          <a:latin typeface="Segoe UI"/>
                        </a:rPr>
                        <a:t>radius correction</a:t>
                      </a:r>
                    </a:p>
                  </a:txBody>
                  <a:tcPr anchor="ctr" marL="114300" marR="114300">
                    <a:solidFill>
                      <a:srgbClr val="EEF0F2"/>
                    </a:solidFill>
                  </a:tcPr>
                </a:tc>
                <a:tc>
                  <a:txBody>
                    <a:bodyPr/>
                    <a:lstStyle/>
                    <a:p>
                      <a:pPr algn="l"/>
                      <a:r>
                        <a:rPr sz="1900" b="0">
                          <a:solidFill>
                            <a:srgbClr val="1F2933"/>
                          </a:solidFill>
                          <a:latin typeface="Segoe UI"/>
                        </a:rPr>
                        <a:t>÷ 1.137</a:t>
                      </a:r>
                    </a:p>
                  </a:txBody>
                  <a:tcPr anchor="ctr" marL="114300" marR="114300">
                    <a:solidFill>
                      <a:srgbClr val="EEF0F2"/>
                    </a:solidFill>
                  </a:tcPr>
                </a:tc>
                <a:tc>
                  <a:txBody>
                    <a:bodyPr/>
                    <a:lstStyle/>
                    <a:p>
                      <a:pPr algn="l"/>
                      <a:r>
                        <a:rPr sz="1900" b="0">
                          <a:solidFill>
                            <a:srgbClr val="1F2933"/>
                          </a:solidFill>
                          <a:latin typeface="Segoe UI"/>
                        </a:rPr>
                        <a:t>one-sided radius vs whole car</a:t>
                      </a:r>
                    </a:p>
                  </a:txBody>
                  <a:tcPr anchor="ctr" marL="114300" marR="114300">
                    <a:solidFill>
                      <a:srgbClr val="EEF0F2"/>
                    </a:solidFill>
                  </a:tcPr>
                </a:tc>
              </a:tr>
            </a:tbl>
          </a:graphicData>
        </a:graphic>
      </p:graphicFrame>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 PROPOSED METHODOLOGY</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III. EXPERIMENTAL EVALUATION</a:t>
            </a:r>
          </a:p>
          <a:p>
            <a:pPr algn="ctr">
              <a:spcAft>
                <a:spcPts val="1200"/>
              </a:spcAft>
            </a:pPr>
            <a:r>
              <a:rPr sz="4400" b="1" i="0">
                <a:solidFill>
                  <a:srgbClr val="1F2933"/>
                </a:solidFill>
                <a:latin typeface="Segoe UI"/>
              </a:rPr>
              <a:t>3.1 DATASET AND PROTOCOL</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3.1.1 DATASETS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Real SemanticKITTI scans for detection; synthetic ShapeNet cars for completion.</a:t>
            </a:r>
          </a:p>
        </p:txBody>
      </p:sp>
      <p:graphicFrame>
        <p:nvGraphicFramePr>
          <p:cNvPr id="4" name="Table 3"/>
          <p:cNvGraphicFramePr>
            <a:graphicFrameLocks noGrp="1"/>
          </p:cNvGraphicFramePr>
          <p:nvPr/>
        </p:nvGraphicFramePr>
        <p:xfrm>
          <a:off x="1143000" y="2095500"/>
          <a:ext cx="9372600" cy="2762250"/>
        </p:xfrm>
        <a:graphic>
          <a:graphicData uri="http://schemas.openxmlformats.org/drawingml/2006/table">
            <a:tbl>
              <a:tblPr firstRow="1" bandRow="1">
                <a:tableStyleId>{5C22544A-7EE6-4342-B048-85BDC9FD1C3A}</a:tableStyleId>
              </a:tblPr>
              <a:tblGrid>
                <a:gridCol w="2454729"/>
                <a:gridCol w="3570514"/>
                <a:gridCol w="3347357"/>
              </a:tblGrid>
              <a:tr h="552450">
                <a:tc>
                  <a:txBody>
                    <a:bodyPr/>
                    <a:lstStyle/>
                    <a:p>
                      <a:pPr algn="l"/>
                      <a:r>
                        <a:rPr sz="2000" b="1">
                          <a:solidFill>
                            <a:srgbClr val="FFFFFF"/>
                          </a:solidFill>
                          <a:latin typeface="Segoe UI"/>
                        </a:rPr>
                        <a:t/>
                      </a:r>
                    </a:p>
                  </a:txBody>
                  <a:tcPr anchor="ctr" marL="114300" marR="114300">
                    <a:solidFill>
                      <a:srgbClr val="1F2933"/>
                    </a:solidFill>
                  </a:tcPr>
                </a:tc>
                <a:tc>
                  <a:txBody>
                    <a:bodyPr/>
                    <a:lstStyle/>
                    <a:p>
                      <a:pPr algn="ctr"/>
                      <a:r>
                        <a:rPr sz="2000" b="1">
                          <a:solidFill>
                            <a:srgbClr val="FFFFFF"/>
                          </a:solidFill>
                          <a:latin typeface="Segoe UI"/>
                        </a:rPr>
                        <a:t>SemanticKITTI</a:t>
                      </a:r>
                    </a:p>
                  </a:txBody>
                  <a:tcPr anchor="ctr" marL="114300" marR="114300">
                    <a:solidFill>
                      <a:srgbClr val="1F2933"/>
                    </a:solidFill>
                  </a:tcPr>
                </a:tc>
                <a:tc>
                  <a:txBody>
                    <a:bodyPr/>
                    <a:lstStyle/>
                    <a:p>
                      <a:pPr algn="ctr"/>
                      <a:r>
                        <a:rPr sz="2000" b="1">
                          <a:solidFill>
                            <a:srgbClr val="FFFFFF"/>
                          </a:solidFill>
                          <a:latin typeface="Segoe UI"/>
                        </a:rPr>
                        <a:t>ShapeNetCore v2</a:t>
                      </a:r>
                    </a:p>
                  </a:txBody>
                  <a:tcPr anchor="ctr" marL="114300" marR="114300">
                    <a:solidFill>
                      <a:srgbClr val="1F2933"/>
                    </a:solidFill>
                  </a:tcPr>
                </a:tc>
              </a:tr>
              <a:tr h="552450">
                <a:tc>
                  <a:txBody>
                    <a:bodyPr/>
                    <a:lstStyle/>
                    <a:p>
                      <a:pPr algn="l"/>
                      <a:r>
                        <a:rPr sz="2000" b="0">
                          <a:solidFill>
                            <a:srgbClr val="1F2933"/>
                          </a:solidFill>
                          <a:latin typeface="Segoe UI"/>
                        </a:rPr>
                        <a:t>Data</a:t>
                      </a:r>
                    </a:p>
                  </a:txBody>
                  <a:tcPr anchor="ctr" marL="114300" marR="114300">
                    <a:solidFill>
                      <a:srgbClr val="FFFFFF"/>
                    </a:solidFill>
                  </a:tcPr>
                </a:tc>
                <a:tc>
                  <a:txBody>
                    <a:bodyPr/>
                    <a:lstStyle/>
                    <a:p>
                      <a:pPr algn="ctr"/>
                      <a:r>
                        <a:rPr sz="2000" b="0">
                          <a:solidFill>
                            <a:srgbClr val="1F2933"/>
                          </a:solidFill>
                          <a:latin typeface="Segoe UI"/>
                        </a:rPr>
                        <a:t>Real LiDAR scans</a:t>
                      </a:r>
                    </a:p>
                  </a:txBody>
                  <a:tcPr anchor="ctr" marL="114300" marR="114300">
                    <a:solidFill>
                      <a:srgbClr val="FFFFFF"/>
                    </a:solidFill>
                  </a:tcPr>
                </a:tc>
                <a:tc>
                  <a:txBody>
                    <a:bodyPr/>
                    <a:lstStyle/>
                    <a:p>
                      <a:pPr algn="ctr"/>
                      <a:r>
                        <a:rPr sz="2000" b="0">
                          <a:solidFill>
                            <a:srgbClr val="1F2933"/>
                          </a:solidFill>
                          <a:latin typeface="Segoe UI"/>
                        </a:rPr>
                        <a:t>Synthetic CAD meshes</a:t>
                      </a:r>
                    </a:p>
                  </a:txBody>
                  <a:tcPr anchor="ctr" marL="114300" marR="114300">
                    <a:solidFill>
                      <a:srgbClr val="FFFFFF"/>
                    </a:solidFill>
                  </a:tcPr>
                </a:tc>
              </a:tr>
              <a:tr h="552450">
                <a:tc>
                  <a:txBody>
                    <a:bodyPr/>
                    <a:lstStyle/>
                    <a:p>
                      <a:pPr algn="l"/>
                      <a:r>
                        <a:rPr sz="2000" b="0">
                          <a:solidFill>
                            <a:srgbClr val="1F2933"/>
                          </a:solidFill>
                          <a:latin typeface="Segoe UI"/>
                        </a:rPr>
                        <a:t>Role</a:t>
                      </a:r>
                    </a:p>
                  </a:txBody>
                  <a:tcPr anchor="ctr" marL="114300" marR="114300">
                    <a:solidFill>
                      <a:srgbClr val="EEF0F2"/>
                    </a:solidFill>
                  </a:tcPr>
                </a:tc>
                <a:tc>
                  <a:txBody>
                    <a:bodyPr/>
                    <a:lstStyle/>
                    <a:p>
                      <a:pPr algn="ctr"/>
                      <a:r>
                        <a:rPr sz="2000" b="0">
                          <a:solidFill>
                            <a:srgbClr val="1F2933"/>
                          </a:solidFill>
                          <a:latin typeface="Segoe UI"/>
                        </a:rPr>
                        <a:t>Detection, mining, evaluation</a:t>
                      </a:r>
                    </a:p>
                  </a:txBody>
                  <a:tcPr anchor="ctr" marL="114300" marR="114300">
                    <a:solidFill>
                      <a:srgbClr val="EEF0F2"/>
                    </a:solidFill>
                  </a:tcPr>
                </a:tc>
                <a:tc>
                  <a:txBody>
                    <a:bodyPr/>
                    <a:lstStyle/>
                    <a:p>
                      <a:pPr algn="ctr"/>
                      <a:r>
                        <a:rPr sz="2000" b="0">
                          <a:solidFill>
                            <a:srgbClr val="1F2933"/>
                          </a:solidFill>
                          <a:latin typeface="Segoe UI"/>
                        </a:rPr>
                        <a:t>Completion network training</a:t>
                      </a:r>
                    </a:p>
                  </a:txBody>
                  <a:tcPr anchor="ctr" marL="114300" marR="114300">
                    <a:solidFill>
                      <a:srgbClr val="EEF0F2"/>
                    </a:solidFill>
                  </a:tcPr>
                </a:tc>
              </a:tr>
              <a:tr h="552450">
                <a:tc>
                  <a:txBody>
                    <a:bodyPr/>
                    <a:lstStyle/>
                    <a:p>
                      <a:pPr algn="l"/>
                      <a:r>
                        <a:rPr sz="2000" b="0">
                          <a:solidFill>
                            <a:srgbClr val="1F2933"/>
                          </a:solidFill>
                          <a:latin typeface="Segoe UI"/>
                        </a:rPr>
                        <a:t>Volume</a:t>
                      </a:r>
                    </a:p>
                  </a:txBody>
                  <a:tcPr anchor="ctr" marL="114300" marR="114300">
                    <a:solidFill>
                      <a:srgbClr val="FFFFFF"/>
                    </a:solidFill>
                  </a:tcPr>
                </a:tc>
                <a:tc>
                  <a:txBody>
                    <a:bodyPr/>
                    <a:lstStyle/>
                    <a:p>
                      <a:pPr algn="ctr"/>
                      <a:r>
                        <a:rPr sz="2000" b="0">
                          <a:solidFill>
                            <a:srgbClr val="1F2933"/>
                          </a:solidFill>
                          <a:latin typeface="Segoe UI"/>
                        </a:rPr>
                        <a:t>23,201 frames (11 sequences)</a:t>
                      </a:r>
                    </a:p>
                  </a:txBody>
                  <a:tcPr anchor="ctr" marL="114300" marR="114300">
                    <a:solidFill>
                      <a:srgbClr val="FFFFFF"/>
                    </a:solidFill>
                  </a:tcPr>
                </a:tc>
                <a:tc>
                  <a:txBody>
                    <a:bodyPr/>
                    <a:lstStyle/>
                    <a:p>
                      <a:pPr algn="ctr"/>
                      <a:r>
                        <a:rPr sz="2000" b="0">
                          <a:solidFill>
                            <a:srgbClr val="1F2933"/>
                          </a:solidFill>
                          <a:latin typeface="Segoe UI"/>
                        </a:rPr>
                        <a:t>~3,150 car models</a:t>
                      </a:r>
                    </a:p>
                  </a:txBody>
                  <a:tcPr anchor="ctr" marL="114300" marR="114300">
                    <a:solidFill>
                      <a:srgbClr val="FFFFFF"/>
                    </a:solidFill>
                  </a:tcPr>
                </a:tc>
              </a:tr>
              <a:tr h="552450">
                <a:tc>
                  <a:txBody>
                    <a:bodyPr/>
                    <a:lstStyle/>
                    <a:p>
                      <a:pPr algn="l"/>
                      <a:r>
                        <a:rPr sz="2000" b="0">
                          <a:solidFill>
                            <a:srgbClr val="1F2933"/>
                          </a:solidFill>
                          <a:latin typeface="Segoe UI"/>
                        </a:rPr>
                        <a:t>Annotations used</a:t>
                      </a:r>
                    </a:p>
                  </a:txBody>
                  <a:tcPr anchor="ctr" marL="114300" marR="114300">
                    <a:solidFill>
                      <a:srgbClr val="EEF0F2"/>
                    </a:solidFill>
                  </a:tcPr>
                </a:tc>
                <a:tc>
                  <a:txBody>
                    <a:bodyPr/>
                    <a:lstStyle/>
                    <a:p>
                      <a:pPr algn="ctr"/>
                      <a:r>
                        <a:rPr sz="2000" b="0">
                          <a:solidFill>
                            <a:srgbClr val="1F2933"/>
                          </a:solidFill>
                          <a:latin typeface="Segoe UI"/>
                        </a:rPr>
                        <a:t>Point-wise semantic + instance</a:t>
                      </a:r>
                    </a:p>
                  </a:txBody>
                  <a:tcPr anchor="ctr" marL="114300" marR="114300">
                    <a:solidFill>
                      <a:srgbClr val="EEF0F2"/>
                    </a:solidFill>
                  </a:tcPr>
                </a:tc>
                <a:tc>
                  <a:txBody>
                    <a:bodyPr/>
                    <a:lstStyle/>
                    <a:p>
                      <a:pPr algn="ctr"/>
                      <a:r>
                        <a:rPr sz="2000" b="0">
                          <a:solidFill>
                            <a:srgbClr val="1F2933"/>
                          </a:solidFill>
                          <a:latin typeface="Segoe UI"/>
                        </a:rPr>
                        <a:t>None (synthetic partials)</a:t>
                      </a:r>
                    </a:p>
                  </a:txBody>
                  <a:tcPr anchor="ctr" marL="114300" marR="114300">
                    <a:solidFill>
                      <a:srgbClr val="EEF0F2"/>
                    </a:solidFill>
                  </a:tcPr>
                </a:tc>
              </a:tr>
            </a:tbl>
          </a:graphicData>
        </a:graphic>
      </p:graphicFrame>
      <p:graphicFrame>
        <p:nvGraphicFramePr>
          <p:cNvPr id="5" name="Table 4"/>
          <p:cNvGraphicFramePr>
            <a:graphicFrameLocks noGrp="1"/>
          </p:cNvGraphicFramePr>
          <p:nvPr/>
        </p:nvGraphicFramePr>
        <p:xfrm>
          <a:off x="10896600" y="2095500"/>
          <a:ext cx="6248400" cy="2743200"/>
        </p:xfrm>
        <a:graphic>
          <a:graphicData uri="http://schemas.openxmlformats.org/drawingml/2006/table">
            <a:tbl>
              <a:tblPr firstRow="1" bandRow="1">
                <a:tableStyleId>{5C22544A-7EE6-4342-B048-85BDC9FD1C3A}</a:tableStyleId>
              </a:tblPr>
              <a:tblGrid>
                <a:gridCol w="3239911"/>
                <a:gridCol w="3008489"/>
              </a:tblGrid>
              <a:tr h="457200">
                <a:tc>
                  <a:txBody>
                    <a:bodyPr/>
                    <a:lstStyle/>
                    <a:p>
                      <a:pPr algn="l"/>
                      <a:r>
                        <a:rPr sz="2000" b="1">
                          <a:solidFill>
                            <a:srgbClr val="FFFFFF"/>
                          </a:solidFill>
                          <a:latin typeface="Segoe UI"/>
                        </a:rPr>
                        <a:t>Sensor</a:t>
                      </a:r>
                    </a:p>
                  </a:txBody>
                  <a:tcPr anchor="ctr" marL="114300" marR="114300">
                    <a:solidFill>
                      <a:srgbClr val="1F2933"/>
                    </a:solidFill>
                  </a:tcPr>
                </a:tc>
                <a:tc>
                  <a:txBody>
                    <a:bodyPr/>
                    <a:lstStyle/>
                    <a:p>
                      <a:pPr algn="ctr"/>
                      <a:r>
                        <a:rPr sz="2000" b="1">
                          <a:solidFill>
                            <a:srgbClr val="FFFFFF"/>
                          </a:solidFill>
                          <a:latin typeface="Segoe UI"/>
                        </a:rPr>
                        <a:t>Velodyne HDL-64E</a:t>
                      </a:r>
                    </a:p>
                  </a:txBody>
                  <a:tcPr anchor="ctr" marL="114300" marR="114300">
                    <a:solidFill>
                      <a:srgbClr val="1F2933"/>
                    </a:solidFill>
                  </a:tcPr>
                </a:tc>
              </a:tr>
              <a:tr h="457200">
                <a:tc>
                  <a:txBody>
                    <a:bodyPr/>
                    <a:lstStyle/>
                    <a:p>
                      <a:pPr algn="l"/>
                      <a:r>
                        <a:rPr sz="2000" b="0">
                          <a:solidFill>
                            <a:srgbClr val="1F2933"/>
                          </a:solidFill>
                          <a:latin typeface="Segoe UI"/>
                        </a:rPr>
                        <a:t>Beams</a:t>
                      </a:r>
                    </a:p>
                  </a:txBody>
                  <a:tcPr anchor="ctr" marL="114300" marR="114300">
                    <a:solidFill>
                      <a:srgbClr val="FFFFFF"/>
                    </a:solidFill>
                  </a:tcPr>
                </a:tc>
                <a:tc>
                  <a:txBody>
                    <a:bodyPr/>
                    <a:lstStyle/>
                    <a:p>
                      <a:pPr algn="ctr"/>
                      <a:r>
                        <a:rPr sz="2000" b="0">
                          <a:solidFill>
                            <a:srgbClr val="1F2933"/>
                          </a:solidFill>
                          <a:latin typeface="Segoe UI"/>
                        </a:rPr>
                        <a:t>64</a:t>
                      </a:r>
                    </a:p>
                  </a:txBody>
                  <a:tcPr anchor="ctr" marL="114300" marR="114300">
                    <a:solidFill>
                      <a:srgbClr val="FFFFFF"/>
                    </a:solidFill>
                  </a:tcPr>
                </a:tc>
              </a:tr>
              <a:tr h="457200">
                <a:tc>
                  <a:txBody>
                    <a:bodyPr/>
                    <a:lstStyle/>
                    <a:p>
                      <a:pPr algn="l"/>
                      <a:r>
                        <a:rPr sz="2000" b="0">
                          <a:solidFill>
                            <a:srgbClr val="1F2933"/>
                          </a:solidFill>
                          <a:latin typeface="Segoe UI"/>
                        </a:rPr>
                        <a:t>Frame rate</a:t>
                      </a:r>
                    </a:p>
                  </a:txBody>
                  <a:tcPr anchor="ctr" marL="114300" marR="114300">
                    <a:solidFill>
                      <a:srgbClr val="EEF0F2"/>
                    </a:solidFill>
                  </a:tcPr>
                </a:tc>
                <a:tc>
                  <a:txBody>
                    <a:bodyPr/>
                    <a:lstStyle/>
                    <a:p>
                      <a:pPr algn="ctr"/>
                      <a:r>
                        <a:rPr sz="2000" b="0">
                          <a:solidFill>
                            <a:srgbClr val="1F2933"/>
                          </a:solidFill>
                          <a:latin typeface="Segoe UI"/>
                        </a:rPr>
                        <a:t>10 Hz</a:t>
                      </a:r>
                    </a:p>
                  </a:txBody>
                  <a:tcPr anchor="ctr" marL="114300" marR="114300">
                    <a:solidFill>
                      <a:srgbClr val="EEF0F2"/>
                    </a:solidFill>
                  </a:tcPr>
                </a:tc>
              </a:tr>
              <a:tr h="457200">
                <a:tc>
                  <a:txBody>
                    <a:bodyPr/>
                    <a:lstStyle/>
                    <a:p>
                      <a:pPr algn="l"/>
                      <a:r>
                        <a:rPr sz="2000" b="0">
                          <a:solidFill>
                            <a:srgbClr val="1F2933"/>
                          </a:solidFill>
                          <a:latin typeface="Segoe UI"/>
                        </a:rPr>
                        <a:t>Horizontal resolution</a:t>
                      </a:r>
                    </a:p>
                  </a:txBody>
                  <a:tcPr anchor="ctr" marL="114300" marR="114300">
                    <a:solidFill>
                      <a:srgbClr val="FFFFFF"/>
                    </a:solidFill>
                  </a:tcPr>
                </a:tc>
                <a:tc>
                  <a:txBody>
                    <a:bodyPr/>
                    <a:lstStyle/>
                    <a:p>
                      <a:pPr algn="ctr"/>
                      <a:r>
                        <a:rPr sz="2000" b="0">
                          <a:solidFill>
                            <a:srgbClr val="1F2933"/>
                          </a:solidFill>
                          <a:latin typeface="Segoe UI"/>
                        </a:rPr>
                        <a:t>~0.09°</a:t>
                      </a:r>
                    </a:p>
                  </a:txBody>
                  <a:tcPr anchor="ctr" marL="114300" marR="114300">
                    <a:solidFill>
                      <a:srgbClr val="FFFFFF"/>
                    </a:solidFill>
                  </a:tcPr>
                </a:tc>
              </a:tr>
              <a:tr h="457200">
                <a:tc>
                  <a:txBody>
                    <a:bodyPr/>
                    <a:lstStyle/>
                    <a:p>
                      <a:pPr algn="l"/>
                      <a:r>
                        <a:rPr sz="2000" b="0">
                          <a:solidFill>
                            <a:srgbClr val="1F2933"/>
                          </a:solidFill>
                          <a:latin typeface="Segoe UI"/>
                        </a:rPr>
                        <a:t>Max range</a:t>
                      </a:r>
                    </a:p>
                  </a:txBody>
                  <a:tcPr anchor="ctr" marL="114300" marR="114300">
                    <a:solidFill>
                      <a:srgbClr val="EEF0F2"/>
                    </a:solidFill>
                  </a:tcPr>
                </a:tc>
                <a:tc>
                  <a:txBody>
                    <a:bodyPr/>
                    <a:lstStyle/>
                    <a:p>
                      <a:pPr algn="ctr"/>
                      <a:r>
                        <a:rPr sz="2000" b="0">
                          <a:solidFill>
                            <a:srgbClr val="1F2933"/>
                          </a:solidFill>
                          <a:latin typeface="Segoe UI"/>
                        </a:rPr>
                        <a:t>120 m</a:t>
                      </a:r>
                    </a:p>
                  </a:txBody>
                  <a:tcPr anchor="ctr" marL="114300" marR="114300">
                    <a:solidFill>
                      <a:srgbClr val="EEF0F2"/>
                    </a:solidFill>
                  </a:tcPr>
                </a:tc>
              </a:tr>
              <a:tr h="457200">
                <a:tc>
                  <a:txBody>
                    <a:bodyPr/>
                    <a:lstStyle/>
                    <a:p>
                      <a:pPr algn="l"/>
                      <a:r>
                        <a:rPr sz="2000" b="0">
                          <a:solidFill>
                            <a:srgbClr val="1F2933"/>
                          </a:solidFill>
                          <a:latin typeface="Segoe UI"/>
                        </a:rPr>
                        <a:t>Points per frame</a:t>
                      </a:r>
                    </a:p>
                  </a:txBody>
                  <a:tcPr anchor="ctr" marL="114300" marR="114300">
                    <a:solidFill>
                      <a:srgbClr val="FFFFFF"/>
                    </a:solidFill>
                  </a:tcPr>
                </a:tc>
                <a:tc>
                  <a:txBody>
                    <a:bodyPr/>
                    <a:lstStyle/>
                    <a:p>
                      <a:pPr algn="ctr"/>
                      <a:r>
                        <a:rPr sz="2000" b="0">
                          <a:solidFill>
                            <a:srgbClr val="1F2933"/>
                          </a:solidFill>
                          <a:latin typeface="Segoe UI"/>
                        </a:rPr>
                        <a:t>~100,000–120,000</a:t>
                      </a:r>
                    </a:p>
                  </a:txBody>
                  <a:tcPr anchor="ctr" marL="114300" marR="114300">
                    <a:solidFill>
                      <a:srgbClr val="FFFFFF"/>
                    </a:solidFill>
                  </a:tcPr>
                </a:tc>
              </a:tr>
            </a:tbl>
          </a:graphicData>
        </a:graphic>
      </p:graphicFrame>
      <p:graphicFrame>
        <p:nvGraphicFramePr>
          <p:cNvPr id="6" name="Table 5"/>
          <p:cNvGraphicFramePr>
            <a:graphicFrameLocks noGrp="1"/>
          </p:cNvGraphicFramePr>
          <p:nvPr/>
        </p:nvGraphicFramePr>
        <p:xfrm>
          <a:off x="1143000" y="5619750"/>
          <a:ext cx="16002000" cy="1600200"/>
        </p:xfrm>
        <a:graphic>
          <a:graphicData uri="http://schemas.openxmlformats.org/drawingml/2006/table">
            <a:tbl>
              <a:tblPr firstRow="1" bandRow="1">
                <a:tableStyleId>{5C22544A-7EE6-4342-B048-85BDC9FD1C3A}</a:tableStyleId>
              </a:tblPr>
              <a:tblGrid>
                <a:gridCol w="2032000"/>
                <a:gridCol w="1270000"/>
                <a:gridCol w="1270000"/>
                <a:gridCol w="1270000"/>
                <a:gridCol w="1270000"/>
                <a:gridCol w="1270000"/>
                <a:gridCol w="1270000"/>
                <a:gridCol w="1270000"/>
                <a:gridCol w="1270000"/>
                <a:gridCol w="1270000"/>
                <a:gridCol w="1270000"/>
                <a:gridCol w="1270000"/>
              </a:tblGrid>
              <a:tr h="533400">
                <a:tc>
                  <a:txBody>
                    <a:bodyPr/>
                    <a:lstStyle/>
                    <a:p>
                      <a:pPr algn="l"/>
                      <a:r>
                        <a:rPr sz="2000" b="1">
                          <a:solidFill>
                            <a:srgbClr val="FFFFFF"/>
                          </a:solidFill>
                          <a:latin typeface="Segoe UI"/>
                        </a:rPr>
                        <a:t>Seq</a:t>
                      </a:r>
                    </a:p>
                  </a:txBody>
                  <a:tcPr anchor="ctr" marL="114300" marR="114300">
                    <a:solidFill>
                      <a:srgbClr val="1F2933"/>
                    </a:solidFill>
                  </a:tcPr>
                </a:tc>
                <a:tc>
                  <a:txBody>
                    <a:bodyPr/>
                    <a:lstStyle/>
                    <a:p>
                      <a:pPr algn="ctr"/>
                      <a:r>
                        <a:rPr sz="2000" b="1">
                          <a:solidFill>
                            <a:srgbClr val="FFFFFF"/>
                          </a:solidFill>
                          <a:latin typeface="Segoe UI"/>
                        </a:rPr>
                        <a:t>00</a:t>
                      </a:r>
                    </a:p>
                  </a:txBody>
                  <a:tcPr anchor="ctr" marL="114300" marR="114300">
                    <a:solidFill>
                      <a:srgbClr val="1F2933"/>
                    </a:solidFill>
                  </a:tcPr>
                </a:tc>
                <a:tc>
                  <a:txBody>
                    <a:bodyPr/>
                    <a:lstStyle/>
                    <a:p>
                      <a:pPr algn="ctr"/>
                      <a:r>
                        <a:rPr sz="2000" b="1">
                          <a:solidFill>
                            <a:srgbClr val="FFFFFF"/>
                          </a:solidFill>
                          <a:latin typeface="Segoe UI"/>
                        </a:rPr>
                        <a:t>01</a:t>
                      </a:r>
                    </a:p>
                  </a:txBody>
                  <a:tcPr anchor="ctr" marL="114300" marR="114300">
                    <a:solidFill>
                      <a:srgbClr val="1F2933"/>
                    </a:solidFill>
                  </a:tcPr>
                </a:tc>
                <a:tc>
                  <a:txBody>
                    <a:bodyPr/>
                    <a:lstStyle/>
                    <a:p>
                      <a:pPr algn="ctr"/>
                      <a:r>
                        <a:rPr sz="2000" b="1">
                          <a:solidFill>
                            <a:srgbClr val="FFFFFF"/>
                          </a:solidFill>
                          <a:latin typeface="Segoe UI"/>
                        </a:rPr>
                        <a:t>02</a:t>
                      </a:r>
                    </a:p>
                  </a:txBody>
                  <a:tcPr anchor="ctr" marL="114300" marR="114300">
                    <a:solidFill>
                      <a:srgbClr val="1F2933"/>
                    </a:solidFill>
                  </a:tcPr>
                </a:tc>
                <a:tc>
                  <a:txBody>
                    <a:bodyPr/>
                    <a:lstStyle/>
                    <a:p>
                      <a:pPr algn="ctr"/>
                      <a:r>
                        <a:rPr sz="2000" b="1">
                          <a:solidFill>
                            <a:srgbClr val="FFFFFF"/>
                          </a:solidFill>
                          <a:latin typeface="Segoe UI"/>
                        </a:rPr>
                        <a:t>03</a:t>
                      </a:r>
                    </a:p>
                  </a:txBody>
                  <a:tcPr anchor="ctr" marL="114300" marR="114300">
                    <a:solidFill>
                      <a:srgbClr val="1F2933"/>
                    </a:solidFill>
                  </a:tcPr>
                </a:tc>
                <a:tc>
                  <a:txBody>
                    <a:bodyPr/>
                    <a:lstStyle/>
                    <a:p>
                      <a:pPr algn="ctr"/>
                      <a:r>
                        <a:rPr sz="2000" b="1">
                          <a:solidFill>
                            <a:srgbClr val="FFFFFF"/>
                          </a:solidFill>
                          <a:latin typeface="Segoe UI"/>
                        </a:rPr>
                        <a:t>04</a:t>
                      </a:r>
                    </a:p>
                  </a:txBody>
                  <a:tcPr anchor="ctr" marL="114300" marR="114300">
                    <a:solidFill>
                      <a:srgbClr val="1F2933"/>
                    </a:solidFill>
                  </a:tcPr>
                </a:tc>
                <a:tc>
                  <a:txBody>
                    <a:bodyPr/>
                    <a:lstStyle/>
                    <a:p>
                      <a:pPr algn="ctr"/>
                      <a:r>
                        <a:rPr sz="2000" b="1">
                          <a:solidFill>
                            <a:srgbClr val="FFFFFF"/>
                          </a:solidFill>
                          <a:latin typeface="Segoe UI"/>
                        </a:rPr>
                        <a:t>05</a:t>
                      </a:r>
                    </a:p>
                  </a:txBody>
                  <a:tcPr anchor="ctr" marL="114300" marR="114300">
                    <a:solidFill>
                      <a:srgbClr val="1F2933"/>
                    </a:solidFill>
                  </a:tcPr>
                </a:tc>
                <a:tc>
                  <a:txBody>
                    <a:bodyPr/>
                    <a:lstStyle/>
                    <a:p>
                      <a:pPr algn="ctr"/>
                      <a:r>
                        <a:rPr sz="2000" b="1">
                          <a:solidFill>
                            <a:srgbClr val="FFFFFF"/>
                          </a:solidFill>
                          <a:latin typeface="Segoe UI"/>
                        </a:rPr>
                        <a:t>06</a:t>
                      </a:r>
                    </a:p>
                  </a:txBody>
                  <a:tcPr anchor="ctr" marL="114300" marR="114300">
                    <a:solidFill>
                      <a:srgbClr val="1F2933"/>
                    </a:solidFill>
                  </a:tcPr>
                </a:tc>
                <a:tc>
                  <a:txBody>
                    <a:bodyPr/>
                    <a:lstStyle/>
                    <a:p>
                      <a:pPr algn="ctr"/>
                      <a:r>
                        <a:rPr sz="2000" b="1">
                          <a:solidFill>
                            <a:srgbClr val="FFFFFF"/>
                          </a:solidFill>
                          <a:latin typeface="Segoe UI"/>
                        </a:rPr>
                        <a:t>07</a:t>
                      </a:r>
                    </a:p>
                  </a:txBody>
                  <a:tcPr anchor="ctr" marL="114300" marR="114300">
                    <a:solidFill>
                      <a:srgbClr val="1F2933"/>
                    </a:solidFill>
                  </a:tcPr>
                </a:tc>
                <a:tc>
                  <a:txBody>
                    <a:bodyPr/>
                    <a:lstStyle/>
                    <a:p>
                      <a:pPr algn="ctr"/>
                      <a:r>
                        <a:rPr sz="2000" b="1">
                          <a:solidFill>
                            <a:srgbClr val="FFFFFF"/>
                          </a:solidFill>
                          <a:latin typeface="Segoe UI"/>
                        </a:rPr>
                        <a:t>08</a:t>
                      </a:r>
                    </a:p>
                  </a:txBody>
                  <a:tcPr anchor="ctr" marL="114300" marR="114300">
                    <a:solidFill>
                      <a:srgbClr val="1F2933"/>
                    </a:solidFill>
                  </a:tcPr>
                </a:tc>
                <a:tc>
                  <a:txBody>
                    <a:bodyPr/>
                    <a:lstStyle/>
                    <a:p>
                      <a:pPr algn="ctr"/>
                      <a:r>
                        <a:rPr sz="2000" b="1">
                          <a:solidFill>
                            <a:srgbClr val="FFFFFF"/>
                          </a:solidFill>
                          <a:latin typeface="Segoe UI"/>
                        </a:rPr>
                        <a:t>09</a:t>
                      </a:r>
                    </a:p>
                  </a:txBody>
                  <a:tcPr anchor="ctr" marL="114300" marR="114300">
                    <a:solidFill>
                      <a:srgbClr val="1F2933"/>
                    </a:solidFill>
                  </a:tcPr>
                </a:tc>
                <a:tc>
                  <a:txBody>
                    <a:bodyPr/>
                    <a:lstStyle/>
                    <a:p>
                      <a:pPr algn="ctr"/>
                      <a:r>
                        <a:rPr sz="2000" b="1">
                          <a:solidFill>
                            <a:srgbClr val="FFFFFF"/>
                          </a:solidFill>
                          <a:latin typeface="Segoe UI"/>
                        </a:rPr>
                        <a:t>10</a:t>
                      </a:r>
                    </a:p>
                  </a:txBody>
                  <a:tcPr anchor="ctr" marL="114300" marR="114300">
                    <a:solidFill>
                      <a:srgbClr val="1F2933"/>
                    </a:solidFill>
                  </a:tcPr>
                </a:tc>
              </a:tr>
              <a:tr h="533400">
                <a:tc>
                  <a:txBody>
                    <a:bodyPr/>
                    <a:lstStyle/>
                    <a:p>
                      <a:pPr algn="l"/>
                      <a:r>
                        <a:rPr sz="2000" b="0">
                          <a:solidFill>
                            <a:srgbClr val="1F2933"/>
                          </a:solidFill>
                          <a:latin typeface="Segoe UI"/>
                        </a:rPr>
                        <a:t>Frames</a:t>
                      </a:r>
                    </a:p>
                  </a:txBody>
                  <a:tcPr anchor="ctr" marL="114300" marR="114300">
                    <a:solidFill>
                      <a:srgbClr val="FFFFFF"/>
                    </a:solidFill>
                  </a:tcPr>
                </a:tc>
                <a:tc>
                  <a:txBody>
                    <a:bodyPr/>
                    <a:lstStyle/>
                    <a:p>
                      <a:pPr algn="ctr"/>
                      <a:r>
                        <a:rPr sz="2000" b="0">
                          <a:solidFill>
                            <a:srgbClr val="1F2933"/>
                          </a:solidFill>
                          <a:latin typeface="Segoe UI"/>
                        </a:rPr>
                        <a:t>4541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0">
                          <a:solidFill>
                            <a:srgbClr val="1F2933"/>
                          </a:solidFill>
                          <a:latin typeface="Segoe UI"/>
                        </a:rPr>
                        <a:t>4661</a:t>
                      </a:r>
                    </a:p>
                  </a:txBody>
                  <a:tcPr anchor="ctr" marL="114300" marR="114300">
                    <a:solidFill>
                      <a:srgbClr val="FFFFFF"/>
                    </a:solidFill>
                  </a:tcPr>
                </a:tc>
                <a:tc>
                  <a:txBody>
                    <a:bodyPr/>
                    <a:lstStyle/>
                    <a:p>
                      <a:pPr algn="ctr"/>
                      <a:r>
                        <a:rPr sz="2000" b="0">
                          <a:solidFill>
                            <a:srgbClr val="1F2933"/>
                          </a:solidFill>
                          <a:latin typeface="Segoe UI"/>
                        </a:rPr>
                        <a:t>801</a:t>
                      </a:r>
                    </a:p>
                  </a:txBody>
                  <a:tcPr anchor="ctr" marL="114300" marR="114300">
                    <a:solidFill>
                      <a:srgbClr val="FFFFFF"/>
                    </a:solidFill>
                  </a:tcPr>
                </a:tc>
                <a:tc>
                  <a:txBody>
                    <a:bodyPr/>
                    <a:lstStyle/>
                    <a:p>
                      <a:pPr algn="ctr"/>
                      <a:r>
                        <a:rPr sz="2000" b="0">
                          <a:solidFill>
                            <a:srgbClr val="1F2933"/>
                          </a:solidFill>
                          <a:latin typeface="Segoe UI"/>
                        </a:rPr>
                        <a:t>271</a:t>
                      </a:r>
                    </a:p>
                  </a:txBody>
                  <a:tcPr anchor="ctr" marL="114300" marR="114300">
                    <a:solidFill>
                      <a:srgbClr val="FFFFFF"/>
                    </a:solidFill>
                  </a:tcPr>
                </a:tc>
                <a:tc>
                  <a:txBody>
                    <a:bodyPr/>
                    <a:lstStyle/>
                    <a:p>
                      <a:pPr algn="ctr"/>
                      <a:r>
                        <a:rPr sz="2000" b="0">
                          <a:solidFill>
                            <a:srgbClr val="1F2933"/>
                          </a:solidFill>
                          <a:latin typeface="Segoe UI"/>
                        </a:rPr>
                        <a:t>2761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0">
                          <a:solidFill>
                            <a:srgbClr val="1F2933"/>
                          </a:solidFill>
                          <a:latin typeface="Segoe UI"/>
                        </a:rPr>
                        <a:t>1101</a:t>
                      </a:r>
                    </a:p>
                  </a:txBody>
                  <a:tcPr anchor="ctr" marL="114300" marR="114300">
                    <a:solidFill>
                      <a:srgbClr val="FFFFFF"/>
                    </a:solidFill>
                  </a:tcPr>
                </a:tc>
                <a:tc>
                  <a:txBody>
                    <a:bodyPr/>
                    <a:lstStyle/>
                    <a:p>
                      <a:pPr algn="ctr"/>
                      <a:r>
                        <a:rPr sz="2000" b="1">
                          <a:solidFill>
                            <a:srgbClr val="1F2933"/>
                          </a:solidFill>
                          <a:latin typeface="Segoe UI"/>
                        </a:rPr>
                        <a:t>4071</a:t>
                      </a:r>
                    </a:p>
                  </a:txBody>
                  <a:tcPr anchor="ctr" marL="114300" marR="114300">
                    <a:solidFill>
                      <a:srgbClr val="FFFFFF"/>
                    </a:solidFill>
                  </a:tcPr>
                </a:tc>
                <a:tc>
                  <a:txBody>
                    <a:bodyPr/>
                    <a:lstStyle/>
                    <a:p>
                      <a:pPr algn="ctr"/>
                      <a:r>
                        <a:rPr sz="2000" b="0">
                          <a:solidFill>
                            <a:srgbClr val="1F2933"/>
                          </a:solidFill>
                          <a:latin typeface="Segoe UI"/>
                        </a:rPr>
                        <a:t>1591</a:t>
                      </a:r>
                    </a:p>
                  </a:txBody>
                  <a:tcPr anchor="ctr" marL="114300" marR="114300">
                    <a:solidFill>
                      <a:srgbClr val="FFFFFF"/>
                    </a:solidFill>
                  </a:tcPr>
                </a:tc>
                <a:tc>
                  <a:txBody>
                    <a:bodyPr/>
                    <a:lstStyle/>
                    <a:p>
                      <a:pPr algn="ctr"/>
                      <a:r>
                        <a:rPr sz="2000" b="0">
                          <a:solidFill>
                            <a:srgbClr val="1F2933"/>
                          </a:solidFill>
                          <a:latin typeface="Segoe UI"/>
                        </a:rPr>
                        <a:t>1201</a:t>
                      </a:r>
                    </a:p>
                  </a:txBody>
                  <a:tcPr anchor="ctr" marL="114300" marR="114300">
                    <a:solidFill>
                      <a:srgbClr val="FFFFFF"/>
                    </a:solidFill>
                  </a:tcPr>
                </a:tc>
              </a:tr>
              <a:tr h="533400">
                <a:tc>
                  <a:txBody>
                    <a:bodyPr/>
                    <a:lstStyle/>
                    <a:p>
                      <a:pPr algn="l"/>
                      <a:r>
                        <a:rPr sz="2000" b="0">
                          <a:solidFill>
                            <a:srgbClr val="1F2933"/>
                          </a:solidFill>
                          <a:latin typeface="Segoe UI"/>
                        </a:rPr>
                        <a:t>Classifier</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1">
                          <a:solidFill>
                            <a:srgbClr val="1F2933"/>
                          </a:solidFill>
                          <a:latin typeface="Segoe UI"/>
                        </a:rPr>
                        <a:t>val</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c>
                  <a:txBody>
                    <a:bodyPr/>
                    <a:lstStyle/>
                    <a:p>
                      <a:pPr algn="ctr"/>
                      <a:r>
                        <a:rPr sz="2000" b="0">
                          <a:solidFill>
                            <a:srgbClr val="1F2933"/>
                          </a:solidFill>
                          <a:latin typeface="Segoe UI"/>
                        </a:rPr>
                        <a:t>train</a:t>
                      </a:r>
                    </a:p>
                  </a:txBody>
                  <a:tcPr anchor="ctr" marL="114300" marR="114300">
                    <a:solidFill>
                      <a:srgbClr val="EEF0F2"/>
                    </a:solidFill>
                  </a:tcPr>
                </a:tc>
              </a:tr>
            </a:tbl>
          </a:graphicData>
        </a:graphic>
      </p:graphicFrame>
      <p:sp>
        <p:nvSpPr>
          <p:cNvPr id="7" name="TextBox 6"/>
          <p:cNvSpPr txBox="1"/>
          <p:nvPr/>
        </p:nvSpPr>
        <p:spPr>
          <a:xfrm>
            <a:off x="1143000" y="7391400"/>
            <a:ext cx="16002000" cy="952500"/>
          </a:xfrm>
          <a:prstGeom prst="rect">
            <a:avLst/>
          </a:prstGeom>
          <a:noFill/>
        </p:spPr>
        <p:txBody>
          <a:bodyPr wrap="square" anchor="t" lIns="0" rIns="0" tIns="0" bIns="0">
            <a:spAutoFit/>
          </a:bodyPr>
          <a:lstStyle/>
          <a:p>
            <a:pPr algn="l">
              <a:spcAft>
                <a:spcPts val="0"/>
              </a:spcAft>
            </a:pPr>
            <a:r>
              <a:rPr sz="2000" b="0" i="0">
                <a:solidFill>
                  <a:srgbClr val="1F2933"/>
                </a:solidFill>
                <a:latin typeface="Segoe UI"/>
              </a:rPr>
              <a:t>Sequences 11–21 have no public labels, so no labelled sequence is left as a separate test set. For completion, every sequence is evaluation only: PCN trains on synthetic ShapeNet.</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3.1.2 TARGET ELIGIBILITY AND GROUND TRUTH</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car is scored only if enough of its points survive preprocessing.</a:t>
            </a:r>
          </a:p>
        </p:txBody>
      </p:sp>
      <p:sp>
        <p:nvSpPr>
          <p:cNvPr id="4" name="TextBox 3"/>
          <p:cNvSpPr txBox="1"/>
          <p:nvPr/>
        </p:nvSpPr>
        <p:spPr>
          <a:xfrm>
            <a:off x="1143000" y="2286000"/>
            <a:ext cx="7029450" cy="6667500"/>
          </a:xfrm>
          <a:prstGeom prst="rect">
            <a:avLst/>
          </a:prstGeom>
          <a:noFill/>
        </p:spPr>
        <p:txBody>
          <a:bodyPr wrap="square" anchor="t" lIns="0" rIns="0" tIns="0" bIns="0">
            <a:spAutoFit/>
          </a:bodyPr>
          <a:lstStyle/>
          <a:p>
            <a:pPr algn="l">
              <a:spcAft>
                <a:spcPts val="2400"/>
              </a:spcAft>
            </a:pPr>
            <a:r>
              <a:rPr sz="2600" b="0" i="0">
                <a:solidFill>
                  <a:srgbClr val="1F2933"/>
                </a:solidFill>
                <a:latin typeface="Segoe UI"/>
              </a:rPr>
              <a:t>Ground truth: SemanticKITTI's own car and moving-car instances.</a:t>
            </a:r>
          </a:p>
          <a:p>
            <a:pPr algn="l">
              <a:spcAft>
                <a:spcPts val="2400"/>
              </a:spcAft>
            </a:pPr>
            <a:r>
              <a:rPr sz="2600" b="0" i="0">
                <a:solidFill>
                  <a:srgbClr val="1F2933"/>
                </a:solidFill>
                <a:latin typeface="Segoe UI"/>
              </a:rPr>
              <a:t>A car is scored only if at least 10 of its points survive preprocessing and ground removal.</a:t>
            </a:r>
          </a:p>
          <a:p>
            <a:pPr algn="l">
              <a:spcAft>
                <a:spcPts val="2400"/>
              </a:spcAft>
            </a:pPr>
            <a:r>
              <a:rPr sz="2600" b="0" i="0">
                <a:solidFill>
                  <a:srgbClr val="1F2933"/>
                </a:solidFill>
                <a:latin typeface="Segoe UI"/>
              </a:rPr>
              <a:t>With fewer points no clustering method can segment it: counting it would measure sensor sparsity, not the pipeline.</a:t>
            </a:r>
          </a:p>
        </p:txBody>
      </p:sp>
      <p:graphicFrame>
        <p:nvGraphicFramePr>
          <p:cNvPr id="5" name="Table 4"/>
          <p:cNvGraphicFramePr>
            <a:graphicFrameLocks noGrp="1"/>
          </p:cNvGraphicFramePr>
          <p:nvPr/>
        </p:nvGraphicFramePr>
        <p:xfrm>
          <a:off x="8553450" y="2286000"/>
          <a:ext cx="8591550" cy="2514600"/>
        </p:xfrm>
        <a:graphic>
          <a:graphicData uri="http://schemas.openxmlformats.org/drawingml/2006/table">
            <a:tbl>
              <a:tblPr firstRow="1" bandRow="1">
                <a:tableStyleId>{5C22544A-7EE6-4342-B048-85BDC9FD1C3A}</a:tableStyleId>
              </a:tblPr>
              <a:tblGrid>
                <a:gridCol w="5906691"/>
                <a:gridCol w="2684859"/>
              </a:tblGrid>
              <a:tr h="628650">
                <a:tc>
                  <a:txBody>
                    <a:bodyPr/>
                    <a:lstStyle/>
                    <a:p>
                      <a:pPr algn="l"/>
                      <a:r>
                        <a:rPr sz="2200" b="1">
                          <a:solidFill>
                            <a:srgbClr val="FFFFFF"/>
                          </a:solidFill>
                          <a:latin typeface="Segoe UI"/>
                        </a:rPr>
                        <a:t>Seq 08 sample (204 frames)</a:t>
                      </a:r>
                    </a:p>
                  </a:txBody>
                  <a:tcPr anchor="ctr" marL="114300" marR="114300">
                    <a:solidFill>
                      <a:srgbClr val="1F2933"/>
                    </a:solidFill>
                  </a:tcPr>
                </a:tc>
                <a:tc>
                  <a:txBody>
                    <a:bodyPr/>
                    <a:lstStyle/>
                    <a:p>
                      <a:pPr algn="ctr"/>
                      <a:r>
                        <a:rPr sz="2200" b="1">
                          <a:solidFill>
                            <a:srgbClr val="FFFFFF"/>
                          </a:solidFill>
                          <a:latin typeface="Segoe UI"/>
                        </a:rPr>
                        <a:t>Car instances</a:t>
                      </a:r>
                    </a:p>
                  </a:txBody>
                  <a:tcPr anchor="ctr" marL="114300" marR="114300">
                    <a:solidFill>
                      <a:srgbClr val="1F2933"/>
                    </a:solidFill>
                  </a:tcPr>
                </a:tc>
              </a:tr>
              <a:tr h="628650">
                <a:tc>
                  <a:txBody>
                    <a:bodyPr/>
                    <a:lstStyle/>
                    <a:p>
                      <a:pPr algn="l"/>
                      <a:r>
                        <a:rPr sz="2200" b="0">
                          <a:solidFill>
                            <a:srgbClr val="1F2933"/>
                          </a:solidFill>
                          <a:latin typeface="Segoe UI"/>
                        </a:rPr>
                        <a:t>Annotated</a:t>
                      </a:r>
                    </a:p>
                  </a:txBody>
                  <a:tcPr anchor="ctr" marL="114300" marR="114300">
                    <a:solidFill>
                      <a:srgbClr val="FFFFFF"/>
                    </a:solidFill>
                  </a:tcPr>
                </a:tc>
                <a:tc>
                  <a:txBody>
                    <a:bodyPr/>
                    <a:lstStyle/>
                    <a:p>
                      <a:pPr algn="ctr"/>
                      <a:r>
                        <a:rPr sz="2200" b="0">
                          <a:solidFill>
                            <a:srgbClr val="1F2933"/>
                          </a:solidFill>
                          <a:latin typeface="Segoe UI"/>
                        </a:rPr>
                        <a:t>2,332</a:t>
                      </a:r>
                    </a:p>
                  </a:txBody>
                  <a:tcPr anchor="ctr" marL="114300" marR="114300">
                    <a:solidFill>
                      <a:srgbClr val="FFFFFF"/>
                    </a:solidFill>
                  </a:tcPr>
                </a:tc>
              </a:tr>
              <a:tr h="628650">
                <a:tc>
                  <a:txBody>
                    <a:bodyPr/>
                    <a:lstStyle/>
                    <a:p>
                      <a:pPr algn="l"/>
                      <a:r>
                        <a:rPr sz="2200" b="0">
                          <a:solidFill>
                            <a:srgbClr val="1F2933"/>
                          </a:solidFill>
                          <a:latin typeface="Segoe UI"/>
                        </a:rPr>
                        <a:t>Eligible (≥ 10 surviving points)</a:t>
                      </a:r>
                    </a:p>
                  </a:txBody>
                  <a:tcPr anchor="ctr" marL="114300" marR="114300">
                    <a:solidFill>
                      <a:srgbClr val="EEF0F2"/>
                    </a:solidFill>
                  </a:tcPr>
                </a:tc>
                <a:tc>
                  <a:txBody>
                    <a:bodyPr/>
                    <a:lstStyle/>
                    <a:p>
                      <a:pPr algn="ctr"/>
                      <a:r>
                        <a:rPr sz="2200" b="0">
                          <a:solidFill>
                            <a:srgbClr val="1F2933"/>
                          </a:solidFill>
                          <a:latin typeface="Segoe UI"/>
                        </a:rPr>
                        <a:t>1,737</a:t>
                      </a:r>
                    </a:p>
                  </a:txBody>
                  <a:tcPr anchor="ctr" marL="114300" marR="114300">
                    <a:solidFill>
                      <a:srgbClr val="EEF0F2"/>
                    </a:solidFill>
                  </a:tcPr>
                </a:tc>
              </a:tr>
              <a:tr h="628650">
                <a:tc>
                  <a:txBody>
                    <a:bodyPr/>
                    <a:lstStyle/>
                    <a:p>
                      <a:pPr algn="l"/>
                      <a:r>
                        <a:rPr sz="2200" b="0">
                          <a:solidFill>
                            <a:srgbClr val="1F2933"/>
                          </a:solidFill>
                          <a:latin typeface="Segoe UI"/>
                        </a:rPr>
                        <a:t>Excluded</a:t>
                      </a:r>
                    </a:p>
                  </a:txBody>
                  <a:tcPr anchor="ctr" marL="114300" marR="114300">
                    <a:solidFill>
                      <a:srgbClr val="FFFFFF"/>
                    </a:solidFill>
                  </a:tcPr>
                </a:tc>
                <a:tc>
                  <a:txBody>
                    <a:bodyPr/>
                    <a:lstStyle/>
                    <a:p>
                      <a:pPr algn="ctr"/>
                      <a:r>
                        <a:rPr sz="2200" b="1">
                          <a:solidFill>
                            <a:srgbClr val="1F2933"/>
                          </a:solidFill>
                          <a:latin typeface="Segoe UI"/>
                        </a:rPr>
                        <a:t>25.5%</a:t>
                      </a:r>
                    </a:p>
                  </a:txBody>
                  <a:tcPr anchor="ctr" marL="114300" marR="114300">
                    <a:solidFill>
                      <a:srgbClr val="FFFFFF"/>
                    </a:solidFill>
                  </a:tcPr>
                </a:tc>
              </a:tr>
            </a:tbl>
          </a:graphicData>
        </a:graphic>
      </p:graphicFrame>
      <p:graphicFrame>
        <p:nvGraphicFramePr>
          <p:cNvPr id="6" name="Table 5"/>
          <p:cNvGraphicFramePr>
            <a:graphicFrameLocks noGrp="1"/>
          </p:cNvGraphicFramePr>
          <p:nvPr/>
        </p:nvGraphicFramePr>
        <p:xfrm>
          <a:off x="8553450" y="5181600"/>
          <a:ext cx="8591550" cy="1885950"/>
        </p:xfrm>
        <a:graphic>
          <a:graphicData uri="http://schemas.openxmlformats.org/drawingml/2006/table">
            <a:tbl>
              <a:tblPr firstRow="1" bandRow="1">
                <a:tableStyleId>{5C22544A-7EE6-4342-B048-85BDC9FD1C3A}</a:tableStyleId>
              </a:tblPr>
              <a:tblGrid>
                <a:gridCol w="5906691"/>
                <a:gridCol w="2684859"/>
              </a:tblGrid>
              <a:tr h="628650">
                <a:tc>
                  <a:txBody>
                    <a:bodyPr/>
                    <a:lstStyle/>
                    <a:p>
                      <a:pPr algn="l"/>
                      <a:r>
                        <a:rPr sz="2200" b="1">
                          <a:solidFill>
                            <a:srgbClr val="FFFFFF"/>
                          </a:solidFill>
                          <a:latin typeface="Segoe UI"/>
                        </a:rPr>
                        <a:t>Recall measured against</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r>
              <a:tr h="628650">
                <a:tc>
                  <a:txBody>
                    <a:bodyPr/>
                    <a:lstStyle/>
                    <a:p>
                      <a:pPr algn="l"/>
                      <a:r>
                        <a:rPr sz="2200" b="0">
                          <a:solidFill>
                            <a:srgbClr val="1F2933"/>
                          </a:solidFill>
                          <a:latin typeface="Segoe UI"/>
                        </a:rPr>
                        <a:t>Eligible cars (headline)</a:t>
                      </a:r>
                    </a:p>
                  </a:txBody>
                  <a:tcPr anchor="ctr" marL="114300" marR="114300">
                    <a:solidFill>
                      <a:srgbClr val="FFFFFF"/>
                    </a:solidFill>
                  </a:tcPr>
                </a:tc>
                <a:tc>
                  <a:txBody>
                    <a:bodyPr/>
                    <a:lstStyle/>
                    <a:p>
                      <a:pPr algn="ctr"/>
                      <a:r>
                        <a:rPr sz="2200" b="1">
                          <a:solidFill>
                            <a:srgbClr val="1F2933"/>
                          </a:solidFill>
                          <a:latin typeface="Segoe UI"/>
                        </a:rPr>
                        <a:t>0.732</a:t>
                      </a:r>
                    </a:p>
                  </a:txBody>
                  <a:tcPr anchor="ctr" marL="114300" marR="114300">
                    <a:solidFill>
                      <a:srgbClr val="FFFFFF"/>
                    </a:solidFill>
                  </a:tcPr>
                </a:tc>
              </a:tr>
              <a:tr h="628650">
                <a:tc>
                  <a:txBody>
                    <a:bodyPr/>
                    <a:lstStyle/>
                    <a:p>
                      <a:pPr algn="l"/>
                      <a:r>
                        <a:rPr sz="2200" b="0">
                          <a:solidFill>
                            <a:srgbClr val="1F2933"/>
                          </a:solidFill>
                          <a:latin typeface="Segoe UI"/>
                        </a:rPr>
                        <a:t>All annotated cars (inferred)</a:t>
                      </a:r>
                    </a:p>
                  </a:txBody>
                  <a:tcPr anchor="ctr" marL="114300" marR="114300">
                    <a:solidFill>
                      <a:srgbClr val="EEF0F2"/>
                    </a:solidFill>
                  </a:tcPr>
                </a:tc>
                <a:tc>
                  <a:txBody>
                    <a:bodyPr/>
                    <a:lstStyle/>
                    <a:p>
                      <a:pPr algn="ctr"/>
                      <a:r>
                        <a:rPr sz="2200" b="0">
                          <a:solidFill>
                            <a:srgbClr val="1F2933"/>
                          </a:solidFill>
                          <a:latin typeface="Segoe UI"/>
                        </a:rPr>
                        <a:t>≈ 0.55</a:t>
                      </a:r>
                    </a:p>
                  </a:txBody>
                  <a:tcPr anchor="ctr" marL="114300" marR="114300">
                    <a:solidFill>
                      <a:srgbClr val="EEF0F2"/>
                    </a:solidFill>
                  </a:tcPr>
                </a:tc>
              </a:tr>
            </a:tbl>
          </a:graphicData>
        </a:graphic>
      </p:graphicFrame>
      <p:sp>
        <p:nvSpPr>
          <p:cNvPr id="7" name="TextBox 6"/>
          <p:cNvSpPr txBox="1"/>
          <p:nvPr/>
        </p:nvSpPr>
        <p:spPr>
          <a:xfrm>
            <a:off x="8553450" y="7219950"/>
            <a:ext cx="8591550" cy="571500"/>
          </a:xfrm>
          <a:prstGeom prst="rect">
            <a:avLst/>
          </a:prstGeom>
          <a:noFill/>
        </p:spPr>
        <p:txBody>
          <a:bodyPr wrap="square" anchor="t" lIns="0" rIns="0" tIns="0" bIns="0">
            <a:spAutoFit/>
          </a:bodyPr>
          <a:lstStyle/>
          <a:p>
            <a:pPr algn="l">
              <a:spcAft>
                <a:spcPts val="0"/>
              </a:spcAft>
            </a:pPr>
            <a:r>
              <a:rPr sz="2200" b="0" i="0">
                <a:solidFill>
                  <a:srgbClr val="6B7280"/>
                </a:solidFill>
                <a:latin typeface="Segoe UI"/>
              </a:rPr>
              <a:t>0.732 × (1,737 / 2,332) ≈ 0.55</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3.2 EXPERIMENTAL SETUP</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3.2.1 BASELINES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each part of the pipeline is compared against.</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3871452"/>
                <a:gridCol w="5420032"/>
                <a:gridCol w="6710516"/>
              </a:tblGrid>
              <a:tr h="990600">
                <a:tc>
                  <a:txBody>
                    <a:bodyPr/>
                    <a:lstStyle/>
                    <a:p>
                      <a:pPr algn="l"/>
                      <a:r>
                        <a:rPr sz="2200" b="1">
                          <a:solidFill>
                            <a:srgbClr val="FFFFFF"/>
                          </a:solidFill>
                          <a:latin typeface="Segoe UI"/>
                        </a:rPr>
                        <a:t>Part</a:t>
                      </a:r>
                    </a:p>
                  </a:txBody>
                  <a:tcPr anchor="ctr" marL="114300" marR="114300">
                    <a:solidFill>
                      <a:srgbClr val="1F2933"/>
                    </a:solidFill>
                  </a:tcPr>
                </a:tc>
                <a:tc>
                  <a:txBody>
                    <a:bodyPr/>
                    <a:lstStyle/>
                    <a:p>
                      <a:pPr algn="l"/>
                      <a:r>
                        <a:rPr sz="2200" b="1">
                          <a:solidFill>
                            <a:srgbClr val="FFFFFF"/>
                          </a:solidFill>
                          <a:latin typeface="Segoe UI"/>
                        </a:rPr>
                        <a:t>Compared against</a:t>
                      </a:r>
                    </a:p>
                  </a:txBody>
                  <a:tcPr anchor="ctr" marL="114300" marR="114300">
                    <a:solidFill>
                      <a:srgbClr val="1F2933"/>
                    </a:solidFill>
                  </a:tcPr>
                </a:tc>
                <a:tc>
                  <a:txBody>
                    <a:bodyPr/>
                    <a:lstStyle/>
                    <a:p>
                      <a:pPr algn="l"/>
                      <a:r>
                        <a:rPr sz="2200" b="1">
                          <a:solidFill>
                            <a:srgbClr val="FFFFFF"/>
                          </a:solidFill>
                          <a:latin typeface="Segoe UI"/>
                        </a:rPr>
                        <a:t>Why</a:t>
                      </a:r>
                    </a:p>
                  </a:txBody>
                  <a:tcPr anchor="ctr" marL="114300" marR="114300">
                    <a:solidFill>
                      <a:srgbClr val="1F2933"/>
                    </a:solidFill>
                  </a:tcPr>
                </a:tc>
              </a:tr>
              <a:tr h="990600">
                <a:tc>
                  <a:txBody>
                    <a:bodyPr/>
                    <a:lstStyle/>
                    <a:p>
                      <a:pPr algn="l"/>
                      <a:r>
                        <a:rPr sz="2200" b="1">
                          <a:solidFill>
                            <a:srgbClr val="1F2933"/>
                          </a:solidFill>
                          <a:latin typeface="Segoe UI"/>
                        </a:rPr>
                        <a:t>Detection stages</a:t>
                      </a:r>
                    </a:p>
                  </a:txBody>
                  <a:tcPr anchor="ctr" marL="114300" marR="114300">
                    <a:solidFill>
                      <a:srgbClr val="FFFFFF"/>
                    </a:solidFill>
                  </a:tcPr>
                </a:tc>
                <a:tc>
                  <a:txBody>
                    <a:bodyPr/>
                    <a:lstStyle/>
                    <a:p>
                      <a:pPr algn="l"/>
                      <a:r>
                        <a:rPr sz="2200" b="0">
                          <a:solidFill>
                            <a:srgbClr val="1F2933"/>
                          </a:solidFill>
                          <a:latin typeface="Segoe UI"/>
                        </a:rPr>
                        <a:t>each other: geometric filter → + classifier → + track filter</a:t>
                      </a:r>
                    </a:p>
                  </a:txBody>
                  <a:tcPr anchor="ctr" marL="114300" marR="114300">
                    <a:solidFill>
                      <a:srgbClr val="FFFFFF"/>
                    </a:solidFill>
                  </a:tcPr>
                </a:tc>
                <a:tc>
                  <a:txBody>
                    <a:bodyPr/>
                    <a:lstStyle/>
                    <a:p>
                      <a:pPr algn="l"/>
                      <a:r>
                        <a:rPr sz="2200" b="0">
                          <a:solidFill>
                            <a:srgbClr val="1F2933"/>
                          </a:solidFill>
                          <a:latin typeface="Segoe UI"/>
                        </a:rPr>
                        <a:t>shows what each stage adds (slides 29, 44)</a:t>
                      </a:r>
                    </a:p>
                  </a:txBody>
                  <a:tcPr anchor="ctr" marL="114300" marR="114300">
                    <a:solidFill>
                      <a:srgbClr val="FFFFFF"/>
                    </a:solidFill>
                  </a:tcPr>
                </a:tc>
              </a:tr>
              <a:tr h="990600">
                <a:tc>
                  <a:txBody>
                    <a:bodyPr/>
                    <a:lstStyle/>
                    <a:p>
                      <a:pPr algn="l"/>
                      <a:r>
                        <a:rPr sz="2200" b="1">
                          <a:solidFill>
                            <a:srgbClr val="1F2933"/>
                          </a:solidFill>
                          <a:latin typeface="Segoe UI"/>
                        </a:rPr>
                        <a:t>Detection vs supervised networks</a:t>
                      </a:r>
                    </a:p>
                  </a:txBody>
                  <a:tcPr anchor="ctr" marL="114300" marR="114300">
                    <a:solidFill>
                      <a:srgbClr val="EEF0F2"/>
                    </a:solidFill>
                  </a:tcPr>
                </a:tc>
                <a:tc>
                  <a:txBody>
                    <a:bodyPr/>
                    <a:lstStyle/>
                    <a:p>
                      <a:pPr algn="l"/>
                      <a:r>
                        <a:rPr sz="2200" b="0">
                          <a:solidFill>
                            <a:srgbClr val="1F2933"/>
                          </a:solidFill>
                          <a:latin typeface="Segoe UI"/>
                        </a:rPr>
                        <a:t>not compared head to head</a:t>
                      </a:r>
                    </a:p>
                  </a:txBody>
                  <a:tcPr anchor="ctr" marL="114300" marR="114300">
                    <a:solidFill>
                      <a:srgbClr val="EEF0F2"/>
                    </a:solidFill>
                  </a:tcPr>
                </a:tc>
                <a:tc>
                  <a:txBody>
                    <a:bodyPr/>
                    <a:lstStyle/>
                    <a:p>
                      <a:pPr algn="l"/>
                      <a:r>
                        <a:rPr sz="2200" b="0">
                          <a:solidFill>
                            <a:srgbClr val="1F2933"/>
                          </a:solidFill>
                          <a:latin typeface="Segoe UI"/>
                        </a:rPr>
                        <a:t>they score all classes (mIoU, PQ) with dense per-point labels; we score cars by point F1</a:t>
                      </a:r>
                    </a:p>
                  </a:txBody>
                  <a:tcPr anchor="ctr" marL="114300" marR="114300">
                    <a:solidFill>
                      <a:srgbClr val="EEF0F2"/>
                    </a:solidFill>
                  </a:tcPr>
                </a:tc>
              </a:tr>
              <a:tr h="990600">
                <a:tc>
                  <a:txBody>
                    <a:bodyPr/>
                    <a:lstStyle/>
                    <a:p>
                      <a:pPr algn="l"/>
                      <a:r>
                        <a:rPr sz="2200" b="1">
                          <a:solidFill>
                            <a:srgbClr val="1F2933"/>
                          </a:solidFill>
                          <a:latin typeface="Segoe UI"/>
                        </a:rPr>
                        <a:t>Completion</a:t>
                      </a:r>
                    </a:p>
                  </a:txBody>
                  <a:tcPr anchor="ctr" marL="114300" marR="114300">
                    <a:solidFill>
                      <a:srgbClr val="FFFFFF"/>
                    </a:solidFill>
                  </a:tcPr>
                </a:tc>
                <a:tc>
                  <a:txBody>
                    <a:bodyPr/>
                    <a:lstStyle/>
                    <a:p>
                      <a:pPr algn="l"/>
                      <a:r>
                        <a:rPr sz="2200" b="0">
                          <a:solidFill>
                            <a:srgbClr val="1F2933"/>
                          </a:solidFill>
                          <a:latin typeface="Segoe UI"/>
                        </a:rPr>
                        <a:t>the raw scan it started from</a:t>
                      </a:r>
                    </a:p>
                  </a:txBody>
                  <a:tcPr anchor="ctr" marL="114300" marR="114300">
                    <a:solidFill>
                      <a:srgbClr val="FFFFFF"/>
                    </a:solidFill>
                  </a:tcPr>
                </a:tc>
                <a:tc>
                  <a:txBody>
                    <a:bodyPr/>
                    <a:lstStyle/>
                    <a:p>
                      <a:pPr algn="l"/>
                      <a:r>
                        <a:rPr sz="2200" b="0">
                          <a:solidFill>
                            <a:srgbClr val="1F2933"/>
                          </a:solidFill>
                          <a:latin typeface="Segoe UI"/>
                        </a:rPr>
                        <a:t>the paired baseline completion must beat</a:t>
                      </a:r>
                    </a:p>
                  </a:txBody>
                  <a:tcPr anchor="ctr" marL="114300" marR="114300">
                    <a:solidFill>
                      <a:srgbClr val="FFFFFF"/>
                    </a:solidFill>
                  </a:tcPr>
                </a:tc>
              </a:tr>
              <a:tr h="990600">
                <a:tc>
                  <a:txBody>
                    <a:bodyPr/>
                    <a:lstStyle/>
                    <a:p>
                      <a:pPr algn="l"/>
                      <a:r>
                        <a:rPr sz="2200" b="1">
                          <a:solidFill>
                            <a:srgbClr val="1F2933"/>
                          </a:solidFill>
                          <a:latin typeface="Segoe UI"/>
                        </a:rPr>
                        <a:t>Completion</a:t>
                      </a:r>
                    </a:p>
                  </a:txBody>
                  <a:tcPr anchor="ctr" marL="114300" marR="114300">
                    <a:solidFill>
                      <a:srgbClr val="EEF0F2"/>
                    </a:solidFill>
                  </a:tcPr>
                </a:tc>
                <a:tc>
                  <a:txBody>
                    <a:bodyPr/>
                    <a:lstStyle/>
                    <a:p>
                      <a:pPr algn="l"/>
                      <a:r>
                        <a:rPr sz="2200" b="0">
                          <a:solidFill>
                            <a:srgbClr val="1F2933"/>
                          </a:solidFill>
                          <a:latin typeface="Segoe UI"/>
                        </a:rPr>
                        <a:t>dense multi-frame scans of parked cars</a:t>
                      </a:r>
                    </a:p>
                  </a:txBody>
                  <a:tcPr anchor="ctr" marL="114300" marR="114300">
                    <a:solidFill>
                      <a:srgbClr val="EEF0F2"/>
                    </a:solidFill>
                  </a:tcPr>
                </a:tc>
                <a:tc>
                  <a:txBody>
                    <a:bodyPr/>
                    <a:lstStyle/>
                    <a:p>
                      <a:pPr algn="l"/>
                      <a:r>
                        <a:rPr sz="2200" b="0">
                          <a:solidFill>
                            <a:srgbClr val="1F2933"/>
                          </a:solidFill>
                          <a:latin typeface="Segoe UI"/>
                        </a:rPr>
                        <a:t>the shape-quality upper bound</a:t>
                      </a:r>
                    </a:p>
                  </a:txBody>
                  <a:tcPr anchor="ctr" marL="114300" marR="114300">
                    <a:solidFill>
                      <a:srgbClr val="EEF0F2"/>
                    </a:solidFill>
                  </a:tcPr>
                </a:tc>
              </a:tr>
              <a:tr h="990600">
                <a:tc>
                  <a:txBody>
                    <a:bodyPr/>
                    <a:lstStyle/>
                    <a:p>
                      <a:pPr algn="l"/>
                      <a:r>
                        <a:rPr sz="2200" b="1">
                          <a:solidFill>
                            <a:srgbClr val="1F2933"/>
                          </a:solidFill>
                          <a:latin typeface="Segoe UI"/>
                        </a:rPr>
                        <a:t>Completion network</a:t>
                      </a:r>
                    </a:p>
                  </a:txBody>
                  <a:tcPr anchor="ctr" marL="114300" marR="114300">
                    <a:solidFill>
                      <a:srgbClr val="FFFFFF"/>
                    </a:solidFill>
                  </a:tcPr>
                </a:tc>
                <a:tc>
                  <a:txBody>
                    <a:bodyPr/>
                    <a:lstStyle/>
                    <a:p>
                      <a:pPr algn="l"/>
                      <a:r>
                        <a:rPr sz="2200" b="0">
                          <a:solidFill>
                            <a:srgbClr val="1F2933"/>
                          </a:solidFill>
                          <a:latin typeface="Segoe UI"/>
                        </a:rPr>
                        <a:t>PoinTr</a:t>
                      </a:r>
                    </a:p>
                  </a:txBody>
                  <a:tcPr anchor="ctr" marL="114300" marR="114300">
                    <a:solidFill>
                      <a:srgbClr val="FFFFFF"/>
                    </a:solidFill>
                  </a:tcPr>
                </a:tc>
                <a:tc>
                  <a:txBody>
                    <a:bodyPr/>
                    <a:lstStyle/>
                    <a:p>
                      <a:pPr algn="l"/>
                      <a:r>
                        <a:rPr sz="2200" b="0">
                          <a:solidFill>
                            <a:srgbClr val="1F2933"/>
                          </a:solidFill>
                          <a:latin typeface="Segoe UI"/>
                        </a:rPr>
                        <a:t>a heavier transformer alternative (slide 48)</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3.2.2 METRICS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Detections are matched to real cars by point overlap (IoU); completions are scored by an independent car classifier.</a:t>
            </a:r>
          </a:p>
        </p:txBody>
      </p:sp>
      <p:pic>
        <p:nvPicPr>
          <p:cNvPr id="4" name="Picture 3" descr="thesis_bg_iou.png"/>
          <p:cNvPicPr>
            <a:picLocks noChangeAspect="1"/>
          </p:cNvPicPr>
          <p:nvPr/>
        </p:nvPicPr>
        <p:blipFill>
          <a:blip r:embed="rId2"/>
          <a:stretch>
            <a:fillRect/>
          </a:stretch>
        </p:blipFill>
        <p:spPr>
          <a:xfrm>
            <a:off x="2432358" y="2095500"/>
            <a:ext cx="6481465" cy="4953000"/>
          </a:xfrm>
          <a:prstGeom prst="rect">
            <a:avLst/>
          </a:prstGeom>
        </p:spPr>
      </p:pic>
      <p:sp>
        <p:nvSpPr>
          <p:cNvPr id="5" name="TextBox 4"/>
          <p:cNvSpPr txBox="1"/>
          <p:nvPr/>
        </p:nvSpPr>
        <p:spPr>
          <a:xfrm>
            <a:off x="1143000" y="7239000"/>
            <a:ext cx="9060180" cy="1905000"/>
          </a:xfrm>
          <a:prstGeom prst="rect">
            <a:avLst/>
          </a:prstGeom>
          <a:noFill/>
        </p:spPr>
        <p:txBody>
          <a:bodyPr wrap="square" anchor="t" lIns="0" rIns="0" tIns="0" bIns="0">
            <a:spAutoFit/>
          </a:bodyPr>
          <a:lstStyle/>
          <a:p>
            <a:pPr algn="l">
              <a:spcAft>
                <a:spcPts val="800"/>
              </a:spcAft>
            </a:pPr>
            <a:r>
              <a:rPr sz="2200" b="0" i="0">
                <a:solidFill>
                  <a:srgbClr val="1F2933"/>
                </a:solidFill>
                <a:latin typeface="Segoe UI"/>
              </a:rPr>
              <a:t>Best overlap first, one-to-one: matched = TP, unmatched detection = FP, missed car = FN.</a:t>
            </a:r>
          </a:p>
          <a:p>
            <a:pPr algn="l">
              <a:spcAft>
                <a:spcPts val="800"/>
              </a:spcAft>
            </a:pPr>
            <a:r>
              <a:rPr sz="2200" b="0" i="0">
                <a:solidFill>
                  <a:srgbClr val="1F2933"/>
                </a:solidFill>
                <a:latin typeface="Segoe UI"/>
              </a:rPr>
              <a:t>Counts are summed over every frame of the sequence.</a:t>
            </a:r>
          </a:p>
        </p:txBody>
      </p:sp>
      <p:sp>
        <p:nvSpPr>
          <p:cNvPr id="6" name="Rectangle 5"/>
          <p:cNvSpPr/>
          <p:nvPr/>
        </p:nvSpPr>
        <p:spPr>
          <a:xfrm>
            <a:off x="10584180" y="2095500"/>
            <a:ext cx="656082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869930" y="2476500"/>
            <a:ext cx="598932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Completion: plausibility</a:t>
            </a:r>
          </a:p>
          <a:p>
            <a:pPr algn="ctr">
              <a:spcAft>
                <a:spcPts val="0"/>
              </a:spcAft>
            </a:pPr>
            <a:r>
              <a:rPr sz="2800" b="0" i="0">
                <a:solidFill>
                  <a:srgbClr val="1F2933"/>
                </a:solidFill>
                <a:latin typeface="Segoe UI"/>
              </a:rPr>
              <a:t>An independent judge, a PointNet++ classifier trained on ModelNet40 shapes, labels each completed car. Score = the share it calls a car.</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3.2.3 DATA SPLIT: LEAVE-ONE-SEQUENCE-OUT</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Train on ten sequences, test on the eleventh, and repeat for every sequence.</a:t>
            </a:r>
          </a:p>
        </p:txBody>
      </p:sp>
      <p:pic>
        <p:nvPicPr>
          <p:cNvPr id="4" name="Picture 3" descr="loso_grid.png"/>
          <p:cNvPicPr>
            <a:picLocks noChangeAspect="1"/>
          </p:cNvPicPr>
          <p:nvPr/>
        </p:nvPicPr>
        <p:blipFill>
          <a:blip r:embed="rId2"/>
          <a:stretch>
            <a:fillRect/>
          </a:stretch>
        </p:blipFill>
        <p:spPr>
          <a:xfrm>
            <a:off x="1143000" y="2411703"/>
            <a:ext cx="7810500" cy="6416093"/>
          </a:xfrm>
          <a:prstGeom prst="rect">
            <a:avLst/>
          </a:prstGeom>
        </p:spPr>
      </p:pic>
      <p:graphicFrame>
        <p:nvGraphicFramePr>
          <p:cNvPr id="5" name="Table 4"/>
          <p:cNvGraphicFramePr>
            <a:graphicFrameLocks noGrp="1"/>
          </p:cNvGraphicFramePr>
          <p:nvPr/>
        </p:nvGraphicFramePr>
        <p:xfrm>
          <a:off x="9334500" y="2476500"/>
          <a:ext cx="7810500" cy="2743200"/>
        </p:xfrm>
        <a:graphic>
          <a:graphicData uri="http://schemas.openxmlformats.org/drawingml/2006/table">
            <a:tbl>
              <a:tblPr firstRow="1" bandRow="1">
                <a:tableStyleId>{5C22544A-7EE6-4342-B048-85BDC9FD1C3A}</a:tableStyleId>
              </a:tblPr>
              <a:tblGrid>
                <a:gridCol w="3326694"/>
                <a:gridCol w="1735667"/>
                <a:gridCol w="1446389"/>
                <a:gridCol w="1301750"/>
              </a:tblGrid>
              <a:tr h="685800">
                <a:tc>
                  <a:txBody>
                    <a:bodyPr/>
                    <a:lstStyle/>
                    <a:p>
                      <a:pPr algn="l"/>
                      <a:r>
                        <a:rPr sz="2200" b="1">
                          <a:solidFill>
                            <a:srgbClr val="FFFFFF"/>
                          </a:solidFill>
                          <a:latin typeface="Segoe UI"/>
                        </a:rPr>
                        <a:t/>
                      </a:r>
                    </a:p>
                  </a:txBody>
                  <a:tcPr anchor="ctr" marL="114300" marR="114300">
                    <a:solidFill>
                      <a:srgbClr val="1F2933"/>
                    </a:solidFill>
                  </a:tcPr>
                </a:tc>
                <a:tc>
                  <a:txBody>
                    <a:bodyPr/>
                    <a:lstStyle/>
                    <a:p>
                      <a:pPr algn="ctr"/>
                      <a:r>
                        <a:rPr sz="2200" b="1">
                          <a:solidFill>
                            <a:srgbClr val="FFFFFF"/>
                          </a:solidFill>
                          <a:latin typeface="Segoe UI"/>
                        </a:rPr>
                        <a:t>Precision</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c>
                  <a:txBody>
                    <a:bodyPr/>
                    <a:lstStyle/>
                    <a:p>
                      <a:pPr algn="ctr"/>
                      <a:r>
                        <a:rPr sz="2200" b="1">
                          <a:solidFill>
                            <a:srgbClr val="FFFFFF"/>
                          </a:solidFill>
                          <a:latin typeface="Segoe UI"/>
                        </a:rPr>
                        <a:t>F1</a:t>
                      </a:r>
                    </a:p>
                  </a:txBody>
                  <a:tcPr anchor="ctr" marL="114300" marR="114300">
                    <a:solidFill>
                      <a:srgbClr val="1F2933"/>
                    </a:solidFill>
                  </a:tcPr>
                </a:tc>
              </a:tr>
              <a:tr h="685800">
                <a:tc>
                  <a:txBody>
                    <a:bodyPr/>
                    <a:lstStyle/>
                    <a:p>
                      <a:pPr algn="l"/>
                      <a:r>
                        <a:rPr sz="2200" b="0">
                          <a:solidFill>
                            <a:srgbClr val="1F2933"/>
                          </a:solidFill>
                          <a:latin typeface="Segoe UI"/>
                        </a:rPr>
                        <a:t>Seq 08, final classifier</a:t>
                      </a:r>
                    </a:p>
                  </a:txBody>
                  <a:tcPr anchor="ctr" marL="114300" marR="114300">
                    <a:solidFill>
                      <a:srgbClr val="FFFFFF"/>
                    </a:solidFill>
                  </a:tcPr>
                </a:tc>
                <a:tc>
                  <a:txBody>
                    <a:bodyPr/>
                    <a:lstStyle/>
                    <a:p>
                      <a:pPr algn="ctr"/>
                      <a:r>
                        <a:rPr sz="2200" b="0">
                          <a:solidFill>
                            <a:srgbClr val="1F2933"/>
                          </a:solidFill>
                          <a:latin typeface="Segoe UI"/>
                        </a:rPr>
                        <a:t>0.911</a:t>
                      </a:r>
                    </a:p>
                  </a:txBody>
                  <a:tcPr anchor="ctr" marL="114300" marR="114300">
                    <a:solidFill>
                      <a:srgbClr val="FFFFFF"/>
                    </a:solidFill>
                  </a:tcPr>
                </a:tc>
                <a:tc>
                  <a:txBody>
                    <a:bodyPr/>
                    <a:lstStyle/>
                    <a:p>
                      <a:pPr algn="ctr"/>
                      <a:r>
                        <a:rPr sz="2200" b="0">
                          <a:solidFill>
                            <a:srgbClr val="1F2933"/>
                          </a:solidFill>
                          <a:latin typeface="Segoe UI"/>
                        </a:rPr>
                        <a:t>0.732</a:t>
                      </a:r>
                    </a:p>
                  </a:txBody>
                  <a:tcPr anchor="ctr" marL="114300" marR="114300">
                    <a:solidFill>
                      <a:srgbClr val="FFFFFF"/>
                    </a:solidFill>
                  </a:tcPr>
                </a:tc>
                <a:tc>
                  <a:txBody>
                    <a:bodyPr/>
                    <a:lstStyle/>
                    <a:p>
                      <a:pPr algn="ctr"/>
                      <a:r>
                        <a:rPr sz="2200" b="0">
                          <a:solidFill>
                            <a:srgbClr val="1F2933"/>
                          </a:solidFill>
                          <a:latin typeface="Segoe UI"/>
                        </a:rPr>
                        <a:t>0.812</a:t>
                      </a:r>
                    </a:p>
                  </a:txBody>
                  <a:tcPr anchor="ctr" marL="114300" marR="114300">
                    <a:solidFill>
                      <a:srgbClr val="FFFFFF"/>
                    </a:solidFill>
                  </a:tcPr>
                </a:tc>
              </a:tr>
              <a:tr h="685800">
                <a:tc>
                  <a:txBody>
                    <a:bodyPr/>
                    <a:lstStyle/>
                    <a:p>
                      <a:pPr algn="l"/>
                      <a:r>
                        <a:rPr sz="2200" b="0">
                          <a:solidFill>
                            <a:srgbClr val="1F2933"/>
                          </a:solidFill>
                          <a:latin typeface="Segoe UI"/>
                        </a:rPr>
                        <a:t>Seq 08, blind fold</a:t>
                      </a:r>
                    </a:p>
                  </a:txBody>
                  <a:tcPr anchor="ctr" marL="114300" marR="114300">
                    <a:solidFill>
                      <a:srgbClr val="EEF0F2"/>
                    </a:solidFill>
                  </a:tcPr>
                </a:tc>
                <a:tc>
                  <a:txBody>
                    <a:bodyPr/>
                    <a:lstStyle/>
                    <a:p>
                      <a:pPr algn="ctr"/>
                      <a:r>
                        <a:rPr sz="2200" b="0">
                          <a:solidFill>
                            <a:srgbClr val="1F2933"/>
                          </a:solidFill>
                          <a:latin typeface="Segoe UI"/>
                        </a:rPr>
                        <a:t>0.888</a:t>
                      </a:r>
                    </a:p>
                  </a:txBody>
                  <a:tcPr anchor="ctr" marL="114300" marR="114300">
                    <a:solidFill>
                      <a:srgbClr val="EEF0F2"/>
                    </a:solidFill>
                  </a:tcPr>
                </a:tc>
                <a:tc>
                  <a:txBody>
                    <a:bodyPr/>
                    <a:lstStyle/>
                    <a:p>
                      <a:pPr algn="ctr"/>
                      <a:r>
                        <a:rPr sz="2200" b="0">
                          <a:solidFill>
                            <a:srgbClr val="1F2933"/>
                          </a:solidFill>
                          <a:latin typeface="Segoe UI"/>
                        </a:rPr>
                        <a:t>0.736</a:t>
                      </a:r>
                    </a:p>
                  </a:txBody>
                  <a:tcPr anchor="ctr" marL="114300" marR="114300">
                    <a:solidFill>
                      <a:srgbClr val="EEF0F2"/>
                    </a:solidFill>
                  </a:tcPr>
                </a:tc>
                <a:tc>
                  <a:txBody>
                    <a:bodyPr/>
                    <a:lstStyle/>
                    <a:p>
                      <a:pPr algn="ctr"/>
                      <a:r>
                        <a:rPr sz="2200" b="0">
                          <a:solidFill>
                            <a:srgbClr val="1F2933"/>
                          </a:solidFill>
                          <a:latin typeface="Segoe UI"/>
                        </a:rPr>
                        <a:t>0.805</a:t>
                      </a:r>
                    </a:p>
                  </a:txBody>
                  <a:tcPr anchor="ctr" marL="114300" marR="114300">
                    <a:solidFill>
                      <a:srgbClr val="EEF0F2"/>
                    </a:solidFill>
                  </a:tcPr>
                </a:tc>
              </a:tr>
              <a:tr h="685800">
                <a:tc>
                  <a:txBody>
                    <a:bodyPr/>
                    <a:lstStyle/>
                    <a:p>
                      <a:pPr algn="l"/>
                      <a:r>
                        <a:rPr sz="2200" b="1">
                          <a:solidFill>
                            <a:srgbClr val="1F2933"/>
                          </a:solidFill>
                          <a:latin typeface="Segoe UI"/>
                        </a:rPr>
                        <a:t>All 11 folds, pooled</a:t>
                      </a:r>
                    </a:p>
                  </a:txBody>
                  <a:tcPr anchor="ctr" marL="114300" marR="114300">
                    <a:solidFill>
                      <a:srgbClr val="FFFFFF"/>
                    </a:solidFill>
                  </a:tcPr>
                </a:tc>
                <a:tc>
                  <a:txBody>
                    <a:bodyPr/>
                    <a:lstStyle/>
                    <a:p>
                      <a:pPr algn="ctr"/>
                      <a:r>
                        <a:rPr sz="2200" b="1">
                          <a:solidFill>
                            <a:srgbClr val="1F2933"/>
                          </a:solidFill>
                          <a:latin typeface="Segoe UI"/>
                        </a:rPr>
                        <a:t>0.888</a:t>
                      </a:r>
                    </a:p>
                  </a:txBody>
                  <a:tcPr anchor="ctr" marL="114300" marR="114300">
                    <a:solidFill>
                      <a:srgbClr val="FFFFFF"/>
                    </a:solidFill>
                  </a:tcPr>
                </a:tc>
                <a:tc>
                  <a:txBody>
                    <a:bodyPr/>
                    <a:lstStyle/>
                    <a:p>
                      <a:pPr algn="ctr"/>
                      <a:r>
                        <a:rPr sz="2200" b="1">
                          <a:solidFill>
                            <a:srgbClr val="1F2933"/>
                          </a:solidFill>
                          <a:latin typeface="Segoe UI"/>
                        </a:rPr>
                        <a:t>0.717</a:t>
                      </a:r>
                    </a:p>
                  </a:txBody>
                  <a:tcPr anchor="ctr" marL="114300" marR="114300">
                    <a:solidFill>
                      <a:srgbClr val="FFFFFF"/>
                    </a:solidFill>
                  </a:tcPr>
                </a:tc>
                <a:tc>
                  <a:txBody>
                    <a:bodyPr/>
                    <a:lstStyle/>
                    <a:p>
                      <a:pPr algn="ctr"/>
                      <a:r>
                        <a:rPr sz="2200" b="1">
                          <a:solidFill>
                            <a:srgbClr val="1F2933"/>
                          </a:solidFill>
                          <a:latin typeface="Segoe UI"/>
                        </a:rPr>
                        <a:t>0.793</a:t>
                      </a:r>
                    </a:p>
                  </a:txBody>
                  <a:tcPr anchor="ctr" marL="114300" marR="114300">
                    <a:solidFill>
                      <a:srgbClr val="FFFFFF"/>
                    </a:solidFill>
                  </a:tcPr>
                </a:tc>
              </a:tr>
            </a:tbl>
          </a:graphicData>
        </a:graphic>
      </p:graphicFrame>
      <p:sp>
        <p:nvSpPr>
          <p:cNvPr id="6" name="TextBox 5"/>
          <p:cNvSpPr txBox="1"/>
          <p:nvPr/>
        </p:nvSpPr>
        <p:spPr>
          <a:xfrm>
            <a:off x="9334500" y="5505450"/>
            <a:ext cx="7810500" cy="2476500"/>
          </a:xfrm>
          <a:prstGeom prst="rect">
            <a:avLst/>
          </a:prstGeom>
          <a:noFill/>
        </p:spPr>
        <p:txBody>
          <a:bodyPr wrap="square" anchor="t" lIns="0" rIns="0" tIns="0" bIns="0">
            <a:spAutoFit/>
          </a:bodyPr>
          <a:lstStyle/>
          <a:p>
            <a:pPr algn="l">
              <a:spcAft>
                <a:spcPts val="1200"/>
              </a:spcAft>
            </a:pPr>
            <a:r>
              <a:rPr sz="2200" b="0" i="0">
                <a:solidFill>
                  <a:srgbClr val="1F2933"/>
                </a:solidFill>
                <a:latin typeface="Segoe UI"/>
              </a:rPr>
              <a:t>Each fold: 15 epochs, last checkpoint kept, no selection on the test sequence.</a:t>
            </a:r>
          </a:p>
          <a:p>
            <a:pPr algn="l">
              <a:spcAft>
                <a:spcPts val="1200"/>
              </a:spcAft>
            </a:pPr>
            <a:r>
              <a:rPr sz="2200" b="0" i="0">
                <a:solidFill>
                  <a:srgbClr val="1F2933"/>
                </a:solidFill>
                <a:latin typeface="Segoe UI"/>
              </a:rPr>
              <a:t>Choosing the final checkpoint on seq 08 bought about 2 precision points and no recall.</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3.3 DETECTION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3.3.1 OVERALL DETECTION RESULTS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F1 0.812 on seq 08 (0.793 cross-validated), and each stage has a measurable job.</a:t>
            </a:r>
          </a:p>
        </p:txBody>
      </p:sp>
      <p:pic>
        <p:nvPicPr>
          <p:cNvPr id="4" name="Picture 3" descr="d9_stage_funnel.png"/>
          <p:cNvPicPr>
            <a:picLocks noChangeAspect="1"/>
          </p:cNvPicPr>
          <p:nvPr/>
        </p:nvPicPr>
        <p:blipFill>
          <a:blip r:embed="rId2"/>
          <a:stretch>
            <a:fillRect/>
          </a:stretch>
        </p:blipFill>
        <p:spPr>
          <a:xfrm>
            <a:off x="1143000" y="2199070"/>
            <a:ext cx="9060180" cy="6841360"/>
          </a:xfrm>
          <a:prstGeom prst="rect">
            <a:avLst/>
          </a:prstGeom>
        </p:spPr>
      </p:pic>
      <p:sp>
        <p:nvSpPr>
          <p:cNvPr id="5" name="TextBox 4"/>
          <p:cNvSpPr txBox="1"/>
          <p:nvPr/>
        </p:nvSpPr>
        <p:spPr>
          <a:xfrm>
            <a:off x="10584180" y="2476500"/>
            <a:ext cx="656082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Detection results</a:t>
            </a:r>
          </a:p>
        </p:txBody>
      </p:sp>
      <p:graphicFrame>
        <p:nvGraphicFramePr>
          <p:cNvPr id="6" name="Table 5"/>
          <p:cNvGraphicFramePr>
            <a:graphicFrameLocks noGrp="1"/>
          </p:cNvGraphicFramePr>
          <p:nvPr/>
        </p:nvGraphicFramePr>
        <p:xfrm>
          <a:off x="10584180" y="3143250"/>
          <a:ext cx="6560820" cy="2228850"/>
        </p:xfrm>
        <a:graphic>
          <a:graphicData uri="http://schemas.openxmlformats.org/drawingml/2006/table">
            <a:tbl>
              <a:tblPr firstRow="1" bandRow="1">
                <a:tableStyleId>{5C22544A-7EE6-4342-B048-85BDC9FD1C3A}</a:tableStyleId>
              </a:tblPr>
              <a:tblGrid>
                <a:gridCol w="2862903"/>
                <a:gridCol w="1431452"/>
                <a:gridCol w="1192876"/>
                <a:gridCol w="1073589"/>
              </a:tblGrid>
              <a:tr h="742950">
                <a:tc>
                  <a:txBody>
                    <a:bodyPr/>
                    <a:lstStyle/>
                    <a:p>
                      <a:pPr algn="l"/>
                      <a:r>
                        <a:rPr sz="2100" b="1">
                          <a:solidFill>
                            <a:srgbClr val="FFFFFF"/>
                          </a:solidFill>
                          <a:latin typeface="Segoe UI"/>
                        </a:rPr>
                        <a:t/>
                      </a:r>
                    </a:p>
                  </a:txBody>
                  <a:tcPr anchor="ctr" marL="114300" marR="114300">
                    <a:solidFill>
                      <a:srgbClr val="1F2933"/>
                    </a:solidFill>
                  </a:tcPr>
                </a:tc>
                <a:tc>
                  <a:txBody>
                    <a:bodyPr/>
                    <a:lstStyle/>
                    <a:p>
                      <a:pPr algn="ctr"/>
                      <a:r>
                        <a:rPr sz="2100" b="1">
                          <a:solidFill>
                            <a:srgbClr val="FFFFFF"/>
                          </a:solidFill>
                          <a:latin typeface="Segoe UI"/>
                        </a:rPr>
                        <a:t>Precision</a:t>
                      </a:r>
                    </a:p>
                  </a:txBody>
                  <a:tcPr anchor="ctr" marL="114300" marR="114300">
                    <a:solidFill>
                      <a:srgbClr val="1F2933"/>
                    </a:solidFill>
                  </a:tcPr>
                </a:tc>
                <a:tc>
                  <a:txBody>
                    <a:bodyPr/>
                    <a:lstStyle/>
                    <a:p>
                      <a:pPr algn="ctr"/>
                      <a:r>
                        <a:rPr sz="2100" b="1">
                          <a:solidFill>
                            <a:srgbClr val="FFFFFF"/>
                          </a:solidFill>
                          <a:latin typeface="Segoe UI"/>
                        </a:rPr>
                        <a:t>Recall</a:t>
                      </a:r>
                    </a:p>
                  </a:txBody>
                  <a:tcPr anchor="ctr" marL="114300" marR="114300">
                    <a:solidFill>
                      <a:srgbClr val="1F2933"/>
                    </a:solidFill>
                  </a:tcPr>
                </a:tc>
                <a:tc>
                  <a:txBody>
                    <a:bodyPr/>
                    <a:lstStyle/>
                    <a:p>
                      <a:pPr algn="ctr"/>
                      <a:r>
                        <a:rPr sz="2100" b="1">
                          <a:solidFill>
                            <a:srgbClr val="FFFFFF"/>
                          </a:solidFill>
                          <a:latin typeface="Segoe UI"/>
                        </a:rPr>
                        <a:t>F1</a:t>
                      </a:r>
                    </a:p>
                  </a:txBody>
                  <a:tcPr anchor="ctr" marL="114300" marR="114300">
                    <a:solidFill>
                      <a:srgbClr val="1F2933"/>
                    </a:solidFill>
                  </a:tcPr>
                </a:tc>
              </a:tr>
              <a:tr h="742950">
                <a:tc>
                  <a:txBody>
                    <a:bodyPr/>
                    <a:lstStyle/>
                    <a:p>
                      <a:pPr algn="l"/>
                      <a:r>
                        <a:rPr sz="2100" b="1">
                          <a:solidFill>
                            <a:srgbClr val="1F2933"/>
                          </a:solidFill>
                          <a:latin typeface="Segoe UI"/>
                        </a:rPr>
                        <a:t>Seq 08</a:t>
                      </a:r>
                    </a:p>
                  </a:txBody>
                  <a:tcPr anchor="ctr" marL="114300" marR="114300">
                    <a:solidFill>
                      <a:srgbClr val="FFFFFF"/>
                    </a:solidFill>
                  </a:tcPr>
                </a:tc>
                <a:tc>
                  <a:txBody>
                    <a:bodyPr/>
                    <a:lstStyle/>
                    <a:p>
                      <a:pPr algn="ctr"/>
                      <a:r>
                        <a:rPr sz="2100" b="1">
                          <a:solidFill>
                            <a:srgbClr val="1F2933"/>
                          </a:solidFill>
                          <a:latin typeface="Segoe UI"/>
                        </a:rPr>
                        <a:t>0.911</a:t>
                      </a:r>
                    </a:p>
                  </a:txBody>
                  <a:tcPr anchor="ctr" marL="114300" marR="114300">
                    <a:solidFill>
                      <a:srgbClr val="FFFFFF"/>
                    </a:solidFill>
                  </a:tcPr>
                </a:tc>
                <a:tc>
                  <a:txBody>
                    <a:bodyPr/>
                    <a:lstStyle/>
                    <a:p>
                      <a:pPr algn="ctr"/>
                      <a:r>
                        <a:rPr sz="2100" b="1">
                          <a:solidFill>
                            <a:srgbClr val="1F2933"/>
                          </a:solidFill>
                          <a:latin typeface="Segoe UI"/>
                        </a:rPr>
                        <a:t>0.732</a:t>
                      </a:r>
                    </a:p>
                  </a:txBody>
                  <a:tcPr anchor="ctr" marL="114300" marR="114300">
                    <a:solidFill>
                      <a:srgbClr val="FFFFFF"/>
                    </a:solidFill>
                  </a:tcPr>
                </a:tc>
                <a:tc>
                  <a:txBody>
                    <a:bodyPr/>
                    <a:lstStyle/>
                    <a:p>
                      <a:pPr algn="ctr"/>
                      <a:r>
                        <a:rPr sz="2100" b="1">
                          <a:solidFill>
                            <a:srgbClr val="1F2933"/>
                          </a:solidFill>
                          <a:latin typeface="Segoe UI"/>
                        </a:rPr>
                        <a:t>0.812</a:t>
                      </a:r>
                    </a:p>
                  </a:txBody>
                  <a:tcPr anchor="ctr" marL="114300" marR="114300">
                    <a:solidFill>
                      <a:srgbClr val="FFFFFF"/>
                    </a:solidFill>
                  </a:tcPr>
                </a:tc>
              </a:tr>
              <a:tr h="742950">
                <a:tc>
                  <a:txBody>
                    <a:bodyPr/>
                    <a:lstStyle/>
                    <a:p>
                      <a:pPr algn="l"/>
                      <a:r>
                        <a:rPr sz="2100" b="0">
                          <a:solidFill>
                            <a:srgbClr val="1F2933"/>
                          </a:solidFill>
                          <a:latin typeface="Segoe UI"/>
                        </a:rPr>
                        <a:t>All 11 sequences</a:t>
                      </a:r>
                    </a:p>
                  </a:txBody>
                  <a:tcPr anchor="ctr" marL="114300" marR="114300">
                    <a:solidFill>
                      <a:srgbClr val="EEF0F2"/>
                    </a:solidFill>
                  </a:tcPr>
                </a:tc>
                <a:tc>
                  <a:txBody>
                    <a:bodyPr/>
                    <a:lstStyle/>
                    <a:p>
                      <a:pPr algn="ctr"/>
                      <a:r>
                        <a:rPr sz="2100" b="0">
                          <a:solidFill>
                            <a:srgbClr val="1F2933"/>
                          </a:solidFill>
                          <a:latin typeface="Segoe UI"/>
                        </a:rPr>
                        <a:t>0.888</a:t>
                      </a:r>
                    </a:p>
                  </a:txBody>
                  <a:tcPr anchor="ctr" marL="114300" marR="114300">
                    <a:solidFill>
                      <a:srgbClr val="EEF0F2"/>
                    </a:solidFill>
                  </a:tcPr>
                </a:tc>
                <a:tc>
                  <a:txBody>
                    <a:bodyPr/>
                    <a:lstStyle/>
                    <a:p>
                      <a:pPr algn="ctr"/>
                      <a:r>
                        <a:rPr sz="2100" b="0">
                          <a:solidFill>
                            <a:srgbClr val="1F2933"/>
                          </a:solidFill>
                          <a:latin typeface="Segoe UI"/>
                        </a:rPr>
                        <a:t>0.717</a:t>
                      </a:r>
                    </a:p>
                  </a:txBody>
                  <a:tcPr anchor="ctr" marL="114300" marR="114300">
                    <a:solidFill>
                      <a:srgbClr val="EEF0F2"/>
                    </a:solidFill>
                  </a:tcPr>
                </a:tc>
                <a:tc>
                  <a:txBody>
                    <a:bodyPr/>
                    <a:lstStyle/>
                    <a:p>
                      <a:pPr algn="ctr"/>
                      <a:r>
                        <a:rPr sz="2100" b="0">
                          <a:solidFill>
                            <a:srgbClr val="1F2933"/>
                          </a:solidFill>
                          <a:latin typeface="Segoe UI"/>
                        </a:rPr>
                        <a:t>0.793</a:t>
                      </a:r>
                    </a:p>
                  </a:txBody>
                  <a:tcPr anchor="ctr" marL="114300" marR="114300">
                    <a:solidFill>
                      <a:srgbClr val="EEF0F2"/>
                    </a:solidFill>
                  </a:tcPr>
                </a:tc>
              </a:tr>
            </a:tbl>
          </a:graphicData>
        </a:graphic>
      </p:graphicFrame>
      <p:sp>
        <p:nvSpPr>
          <p:cNvPr id="7" name="TextBox 6"/>
          <p:cNvSpPr txBox="1"/>
          <p:nvPr/>
        </p:nvSpPr>
        <p:spPr>
          <a:xfrm>
            <a:off x="10584180" y="5600700"/>
            <a:ext cx="6560820" cy="1905000"/>
          </a:xfrm>
          <a:prstGeom prst="rect">
            <a:avLst/>
          </a:prstGeom>
          <a:noFill/>
        </p:spPr>
        <p:txBody>
          <a:bodyPr wrap="square" anchor="t" lIns="0" rIns="0" tIns="0" bIns="0">
            <a:spAutoFit/>
          </a:bodyPr>
          <a:lstStyle/>
          <a:p>
            <a:pPr algn="l">
              <a:spcAft>
                <a:spcPts val="1000"/>
              </a:spcAft>
            </a:pPr>
            <a:r>
              <a:rPr sz="2100" b="0" i="0">
                <a:solidFill>
                  <a:srgbClr val="1F2933"/>
                </a:solidFill>
                <a:latin typeface="Segoe UI"/>
              </a:rPr>
              <a:t>All 11 sequences are cross-validated: each is scored by a classifier trained without it.</a:t>
            </a:r>
          </a:p>
          <a:p>
            <a:pPr algn="l">
              <a:spcAft>
                <a:spcPts val="1000"/>
              </a:spcAft>
            </a:pPr>
            <a:r>
              <a:rPr sz="2100" b="0" i="0">
                <a:solidFill>
                  <a:srgbClr val="1F2933"/>
                </a:solidFill>
                <a:latin typeface="Segoe UI"/>
              </a:rPr>
              <a:t>Within about 2 points of seq 08 on every metric.</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3.3.2 DETECTIONS ON A REAL FRAME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One seq-08 frame: found cars, false detections and missed cars.</a:t>
            </a:r>
          </a:p>
        </p:txBody>
      </p:sp>
      <p:pic>
        <p:nvPicPr>
          <p:cNvPr id="4" name="Picture 3" descr="thesis_bev_detections.png"/>
          <p:cNvPicPr>
            <a:picLocks noChangeAspect="1"/>
          </p:cNvPicPr>
          <p:nvPr/>
        </p:nvPicPr>
        <p:blipFill>
          <a:blip r:embed="rId2"/>
          <a:stretch>
            <a:fillRect/>
          </a:stretch>
        </p:blipFill>
        <p:spPr>
          <a:xfrm>
            <a:off x="4047798" y="2095500"/>
            <a:ext cx="10192404"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3.3.3 WHAT LIMITS RECALL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Clustering splits cars into fragments; the classifier is not the limit.</a:t>
            </a:r>
          </a:p>
        </p:txBody>
      </p:sp>
      <p:pic>
        <p:nvPicPr>
          <p:cNvPr id="4" name="Picture 3" descr="d10_split_car_frame250.png"/>
          <p:cNvPicPr>
            <a:picLocks noChangeAspect="1"/>
          </p:cNvPicPr>
          <p:nvPr/>
        </p:nvPicPr>
        <p:blipFill>
          <a:blip r:embed="rId2"/>
          <a:stretch>
            <a:fillRect/>
          </a:stretch>
        </p:blipFill>
        <p:spPr>
          <a:xfrm>
            <a:off x="1642167" y="2095500"/>
            <a:ext cx="15003665" cy="4762500"/>
          </a:xfrm>
          <a:prstGeom prst="rect">
            <a:avLst/>
          </a:prstGeom>
        </p:spPr>
      </p:pic>
      <p:graphicFrame>
        <p:nvGraphicFramePr>
          <p:cNvPr id="5" name="Table 4"/>
          <p:cNvGraphicFramePr>
            <a:graphicFrameLocks noGrp="1"/>
          </p:cNvGraphicFramePr>
          <p:nvPr/>
        </p:nvGraphicFramePr>
        <p:xfrm>
          <a:off x="1143000" y="7086600"/>
          <a:ext cx="16001998" cy="1714500"/>
        </p:xfrm>
        <a:graphic>
          <a:graphicData uri="http://schemas.openxmlformats.org/drawingml/2006/table">
            <a:tbl>
              <a:tblPr firstRow="1" bandRow="1">
                <a:tableStyleId>{5C22544A-7EE6-4342-B048-85BDC9FD1C3A}</a:tableStyleId>
              </a:tblPr>
              <a:tblGrid>
                <a:gridCol w="6000750"/>
                <a:gridCol w="2500312"/>
                <a:gridCol w="2500312"/>
                <a:gridCol w="2500312"/>
                <a:gridCol w="2500312"/>
              </a:tblGrid>
              <a:tr h="571500">
                <a:tc>
                  <a:txBody>
                    <a:bodyPr/>
                    <a:lstStyle/>
                    <a:p>
                      <a:pPr algn="l"/>
                      <a:r>
                        <a:rPr sz="2200" b="1">
                          <a:solidFill>
                            <a:srgbClr val="FFFFFF"/>
                          </a:solidFill>
                          <a:latin typeface="Segoe UI"/>
                        </a:rPr>
                        <a:t>Range</a:t>
                      </a:r>
                    </a:p>
                  </a:txBody>
                  <a:tcPr anchor="ctr" marL="114300" marR="114300">
                    <a:solidFill>
                      <a:srgbClr val="1F2933"/>
                    </a:solidFill>
                  </a:tcPr>
                </a:tc>
                <a:tc>
                  <a:txBody>
                    <a:bodyPr/>
                    <a:lstStyle/>
                    <a:p>
                      <a:pPr algn="ctr"/>
                      <a:r>
                        <a:rPr sz="2200" b="1">
                          <a:solidFill>
                            <a:srgbClr val="FFFFFF"/>
                          </a:solidFill>
                          <a:latin typeface="Segoe UI"/>
                        </a:rPr>
                        <a:t>0–10 m</a:t>
                      </a:r>
                    </a:p>
                  </a:txBody>
                  <a:tcPr anchor="ctr" marL="114300" marR="114300">
                    <a:solidFill>
                      <a:srgbClr val="1F2933"/>
                    </a:solidFill>
                  </a:tcPr>
                </a:tc>
                <a:tc>
                  <a:txBody>
                    <a:bodyPr/>
                    <a:lstStyle/>
                    <a:p>
                      <a:pPr algn="ctr"/>
                      <a:r>
                        <a:rPr sz="2200" b="1">
                          <a:solidFill>
                            <a:srgbClr val="FFFFFF"/>
                          </a:solidFill>
                          <a:latin typeface="Segoe UI"/>
                        </a:rPr>
                        <a:t>10–20 m</a:t>
                      </a:r>
                    </a:p>
                  </a:txBody>
                  <a:tcPr anchor="ctr" marL="114300" marR="114300">
                    <a:solidFill>
                      <a:srgbClr val="1F2933"/>
                    </a:solidFill>
                  </a:tcPr>
                </a:tc>
                <a:tc>
                  <a:txBody>
                    <a:bodyPr/>
                    <a:lstStyle/>
                    <a:p>
                      <a:pPr algn="ctr"/>
                      <a:r>
                        <a:rPr sz="2200" b="1">
                          <a:solidFill>
                            <a:srgbClr val="FFFFFF"/>
                          </a:solidFill>
                          <a:latin typeface="Segoe UI"/>
                        </a:rPr>
                        <a:t>20–40 m</a:t>
                      </a:r>
                    </a:p>
                  </a:txBody>
                  <a:tcPr anchor="ctr" marL="114300" marR="114300">
                    <a:solidFill>
                      <a:srgbClr val="1F2933"/>
                    </a:solidFill>
                  </a:tcPr>
                </a:tc>
                <a:tc>
                  <a:txBody>
                    <a:bodyPr/>
                    <a:lstStyle/>
                    <a:p>
                      <a:pPr algn="ctr"/>
                      <a:r>
                        <a:rPr sz="2200" b="1">
                          <a:solidFill>
                            <a:srgbClr val="FFFFFF"/>
                          </a:solidFill>
                          <a:latin typeface="Segoe UI"/>
                        </a:rPr>
                        <a:t>40 m+</a:t>
                      </a:r>
                    </a:p>
                  </a:txBody>
                  <a:tcPr anchor="ctr" marL="114300" marR="114300">
                    <a:solidFill>
                      <a:srgbClr val="1F2933"/>
                    </a:solidFill>
                  </a:tcPr>
                </a:tc>
              </a:tr>
              <a:tr h="571500">
                <a:tc>
                  <a:txBody>
                    <a:bodyPr/>
                    <a:lstStyle/>
                    <a:p>
                      <a:pPr algn="l"/>
                      <a:r>
                        <a:rPr sz="2200" b="0">
                          <a:solidFill>
                            <a:srgbClr val="1F2933"/>
                          </a:solidFill>
                          <a:latin typeface="Segoe UI"/>
                        </a:rPr>
                        <a:t>Cars split by clustering</a:t>
                      </a:r>
                    </a:p>
                  </a:txBody>
                  <a:tcPr anchor="ctr" marL="114300" marR="114300">
                    <a:solidFill>
                      <a:srgbClr val="FFFFFF"/>
                    </a:solidFill>
                  </a:tcPr>
                </a:tc>
                <a:tc>
                  <a:txBody>
                    <a:bodyPr/>
                    <a:lstStyle/>
                    <a:p>
                      <a:pPr algn="ctr"/>
                      <a:r>
                        <a:rPr sz="2200" b="1">
                          <a:solidFill>
                            <a:srgbClr val="1F2933"/>
                          </a:solidFill>
                          <a:latin typeface="Segoe UI"/>
                        </a:rPr>
                        <a:t>53.5%</a:t>
                      </a:r>
                    </a:p>
                  </a:txBody>
                  <a:tcPr anchor="ctr" marL="114300" marR="114300">
                    <a:solidFill>
                      <a:srgbClr val="FFFFFF"/>
                    </a:solidFill>
                  </a:tcPr>
                </a:tc>
                <a:tc>
                  <a:txBody>
                    <a:bodyPr/>
                    <a:lstStyle/>
                    <a:p>
                      <a:pPr algn="ctr"/>
                      <a:r>
                        <a:rPr sz="2200" b="0">
                          <a:solidFill>
                            <a:srgbClr val="1F2933"/>
                          </a:solidFill>
                          <a:latin typeface="Segoe UI"/>
                        </a:rPr>
                        <a:t>40.2%</a:t>
                      </a:r>
                    </a:p>
                  </a:txBody>
                  <a:tcPr anchor="ctr" marL="114300" marR="114300">
                    <a:solidFill>
                      <a:srgbClr val="FFFFFF"/>
                    </a:solidFill>
                  </a:tcPr>
                </a:tc>
                <a:tc>
                  <a:txBody>
                    <a:bodyPr/>
                    <a:lstStyle/>
                    <a:p>
                      <a:pPr algn="ctr"/>
                      <a:r>
                        <a:rPr sz="2200" b="0">
                          <a:solidFill>
                            <a:srgbClr val="1F2933"/>
                          </a:solidFill>
                          <a:latin typeface="Segoe UI"/>
                        </a:rPr>
                        <a:t>22.3%</a:t>
                      </a:r>
                    </a:p>
                  </a:txBody>
                  <a:tcPr anchor="ctr" marL="114300" marR="114300">
                    <a:solidFill>
                      <a:srgbClr val="FFFFFF"/>
                    </a:solidFill>
                  </a:tcPr>
                </a:tc>
                <a:tc>
                  <a:txBody>
                    <a:bodyPr/>
                    <a:lstStyle/>
                    <a:p>
                      <a:pPr algn="ctr"/>
                      <a:r>
                        <a:rPr sz="2200" b="0">
                          <a:solidFill>
                            <a:srgbClr val="1F2933"/>
                          </a:solidFill>
                          <a:latin typeface="Segoe UI"/>
                        </a:rPr>
                        <a:t>3.5%</a:t>
                      </a:r>
                    </a:p>
                  </a:txBody>
                  <a:tcPr anchor="ctr" marL="114300" marR="114300">
                    <a:solidFill>
                      <a:srgbClr val="FFFFFF"/>
                    </a:solidFill>
                  </a:tcPr>
                </a:tc>
              </a:tr>
              <a:tr h="571500">
                <a:tc>
                  <a:txBody>
                    <a:bodyPr/>
                    <a:lstStyle/>
                    <a:p>
                      <a:pPr algn="l"/>
                      <a:r>
                        <a:rPr sz="2200" b="0">
                          <a:solidFill>
                            <a:srgbClr val="1F2933"/>
                          </a:solidFill>
                          <a:latin typeface="Segoe UI"/>
                        </a:rPr>
                        <a:t>Recall (per frame)</a:t>
                      </a:r>
                    </a:p>
                  </a:txBody>
                  <a:tcPr anchor="ctr" marL="114300" marR="114300">
                    <a:solidFill>
                      <a:srgbClr val="EEF0F2"/>
                    </a:solidFill>
                  </a:tcPr>
                </a:tc>
                <a:tc>
                  <a:txBody>
                    <a:bodyPr/>
                    <a:lstStyle/>
                    <a:p>
                      <a:pPr algn="ctr"/>
                      <a:r>
                        <a:rPr sz="2200" b="0">
                          <a:solidFill>
                            <a:srgbClr val="1F2933"/>
                          </a:solidFill>
                          <a:latin typeface="Segoe UI"/>
                        </a:rPr>
                        <a:t>0.787</a:t>
                      </a:r>
                    </a:p>
                  </a:txBody>
                  <a:tcPr anchor="ctr" marL="114300" marR="114300">
                    <a:solidFill>
                      <a:srgbClr val="EEF0F2"/>
                    </a:solidFill>
                  </a:tcPr>
                </a:tc>
                <a:tc>
                  <a:txBody>
                    <a:bodyPr/>
                    <a:lstStyle/>
                    <a:p>
                      <a:pPr algn="ctr"/>
                      <a:r>
                        <a:rPr sz="2200" b="1">
                          <a:solidFill>
                            <a:srgbClr val="1F2933"/>
                          </a:solidFill>
                          <a:latin typeface="Segoe UI"/>
                        </a:rPr>
                        <a:t>0.862</a:t>
                      </a:r>
                    </a:p>
                  </a:txBody>
                  <a:tcPr anchor="ctr" marL="114300" marR="114300">
                    <a:solidFill>
                      <a:srgbClr val="EEF0F2"/>
                    </a:solidFill>
                  </a:tcPr>
                </a:tc>
                <a:tc>
                  <a:txBody>
                    <a:bodyPr/>
                    <a:lstStyle/>
                    <a:p>
                      <a:pPr algn="ctr"/>
                      <a:r>
                        <a:rPr sz="2200" b="0">
                          <a:solidFill>
                            <a:srgbClr val="1F2933"/>
                          </a:solidFill>
                          <a:latin typeface="Segoe UI"/>
                        </a:rPr>
                        <a:t>0.550</a:t>
                      </a:r>
                    </a:p>
                  </a:txBody>
                  <a:tcPr anchor="ctr" marL="114300" marR="114300">
                    <a:solidFill>
                      <a:srgbClr val="EEF0F2"/>
                    </a:solidFill>
                  </a:tcPr>
                </a:tc>
                <a:tc>
                  <a:txBody>
                    <a:bodyPr/>
                    <a:lstStyle/>
                    <a:p>
                      <a:pPr algn="ctr"/>
                      <a:r>
                        <a:rPr sz="2200" b="0">
                          <a:solidFill>
                            <a:srgbClr val="1F2933"/>
                          </a:solidFill>
                          <a:latin typeface="Segoe UI"/>
                        </a:rPr>
                        <a:t>0.196</a:t>
                      </a:r>
                    </a:p>
                  </a:txBody>
                  <a:tcPr anchor="ctr" marL="114300" marR="114300">
                    <a:solidFill>
                      <a:srgbClr val="EEF0F2"/>
                    </a:solidFill>
                  </a:tcPr>
                </a:tc>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3.3.4 ACCURACY VS RANGE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Recall peaks at 10–20 m: near cars get split, far cars are too sparse.</a:t>
            </a:r>
          </a:p>
        </p:txBody>
      </p:sp>
      <p:graphicFrame>
        <p:nvGraphicFramePr>
          <p:cNvPr id="4" name="Table 3"/>
          <p:cNvGraphicFramePr>
            <a:graphicFrameLocks noGrp="1"/>
          </p:cNvGraphicFramePr>
          <p:nvPr/>
        </p:nvGraphicFramePr>
        <p:xfrm>
          <a:off x="1143000" y="2286000"/>
          <a:ext cx="16002000" cy="4000500"/>
        </p:xfrm>
        <a:graphic>
          <a:graphicData uri="http://schemas.openxmlformats.org/drawingml/2006/table">
            <a:tbl>
              <a:tblPr firstRow="1" bandRow="1">
                <a:tableStyleId>{5C22544A-7EE6-4342-B048-85BDC9FD1C3A}</a:tableStyleId>
              </a:tblPr>
              <a:tblGrid>
                <a:gridCol w="2630466"/>
                <a:gridCol w="2411260"/>
                <a:gridCol w="2192055"/>
                <a:gridCol w="1972849"/>
                <a:gridCol w="2411260"/>
                <a:gridCol w="4384110"/>
              </a:tblGrid>
              <a:tr h="666750">
                <a:tc>
                  <a:txBody>
                    <a:bodyPr/>
                    <a:lstStyle/>
                    <a:p>
                      <a:pPr algn="l"/>
                      <a:r>
                        <a:rPr sz="2400" b="1">
                          <a:solidFill>
                            <a:srgbClr val="FFFFFF"/>
                          </a:solidFill>
                          <a:latin typeface="Segoe UI"/>
                        </a:rPr>
                        <a:t>Range (m)</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666750">
                <a:tc>
                  <a:txBody>
                    <a:bodyPr/>
                    <a:lstStyle/>
                    <a:p>
                      <a:pPr algn="l"/>
                      <a:r>
                        <a:rPr sz="2400" b="0">
                          <a:solidFill>
                            <a:srgbClr val="1F2933"/>
                          </a:solidFill>
                          <a:latin typeface="Segoe UI"/>
                        </a:rPr>
                        <a:t>0–10</a:t>
                      </a:r>
                    </a:p>
                  </a:txBody>
                  <a:tcPr anchor="ctr" marL="114300" marR="114300">
                    <a:solidFill>
                      <a:srgbClr val="FFFFFF"/>
                    </a:solidFill>
                  </a:tcPr>
                </a:tc>
                <a:tc>
                  <a:txBody>
                    <a:bodyPr/>
                    <a:lstStyle/>
                    <a:p>
                      <a:pPr algn="ctr"/>
                      <a:r>
                        <a:rPr sz="2400" b="0">
                          <a:solidFill>
                            <a:srgbClr val="1F2933"/>
                          </a:solidFill>
                          <a:latin typeface="Segoe UI"/>
                        </a:rPr>
                        <a:t>0.899</a:t>
                      </a:r>
                    </a:p>
                  </a:txBody>
                  <a:tcPr anchor="ctr" marL="114300" marR="114300">
                    <a:solidFill>
                      <a:srgbClr val="FFFFFF"/>
                    </a:solidFill>
                  </a:tcPr>
                </a:tc>
                <a:tc>
                  <a:txBody>
                    <a:bodyPr/>
                    <a:lstStyle/>
                    <a:p>
                      <a:pPr algn="ctr"/>
                      <a:r>
                        <a:rPr sz="2400" b="0">
                          <a:solidFill>
                            <a:srgbClr val="1F2933"/>
                          </a:solidFill>
                          <a:latin typeface="Segoe UI"/>
                        </a:rPr>
                        <a:t>0.787</a:t>
                      </a:r>
                    </a:p>
                  </a:txBody>
                  <a:tcPr anchor="ctr" marL="114300" marR="114300">
                    <a:solidFill>
                      <a:srgbClr val="FFFFFF"/>
                    </a:solidFill>
                  </a:tcPr>
                </a:tc>
                <a:tc>
                  <a:txBody>
                    <a:bodyPr/>
                    <a:lstStyle/>
                    <a:p>
                      <a:pPr algn="ctr"/>
                      <a:r>
                        <a:rPr sz="2400" b="0">
                          <a:solidFill>
                            <a:srgbClr val="1F2933"/>
                          </a:solidFill>
                          <a:latin typeface="Segoe UI"/>
                        </a:rPr>
                        <a:t>0.839</a:t>
                      </a:r>
                    </a:p>
                  </a:txBody>
                  <a:tcPr anchor="ctr" marL="114300" marR="114300">
                    <a:solidFill>
                      <a:srgbClr val="FFFFFF"/>
                    </a:solidFill>
                  </a:tcPr>
                </a:tc>
                <a:tc>
                  <a:txBody>
                    <a:bodyPr/>
                    <a:lstStyle/>
                    <a:p>
                      <a:pPr algn="ctr"/>
                      <a:r>
                        <a:rPr sz="2400" b="0">
                          <a:solidFill>
                            <a:srgbClr val="1F2933"/>
                          </a:solidFill>
                          <a:latin typeface="Segoe UI"/>
                        </a:rPr>
                        <a:t>0.902</a:t>
                      </a:r>
                    </a:p>
                  </a:txBody>
                  <a:tcPr anchor="ctr" marL="114300" marR="114300">
                    <a:solidFill>
                      <a:srgbClr val="FFFFFF"/>
                    </a:solidFill>
                  </a:tcPr>
                </a:tc>
                <a:tc>
                  <a:txBody>
                    <a:bodyPr/>
                    <a:lstStyle/>
                    <a:p>
                      <a:pPr algn="ctr"/>
                      <a:r>
                        <a:rPr sz="2400" b="0">
                          <a:solidFill>
                            <a:srgbClr val="1F2933"/>
                          </a:solidFill>
                          <a:latin typeface="Segoe UI"/>
                        </a:rPr>
                        <a:t>311 / 35 / 84</a:t>
                      </a:r>
                    </a:p>
                  </a:txBody>
                  <a:tcPr anchor="ctr" marL="114300" marR="114300">
                    <a:solidFill>
                      <a:srgbClr val="FFFFFF"/>
                    </a:solidFill>
                  </a:tcPr>
                </a:tc>
              </a:tr>
              <a:tr h="666750">
                <a:tc>
                  <a:txBody>
                    <a:bodyPr/>
                    <a:lstStyle/>
                    <a:p>
                      <a:pPr algn="l"/>
                      <a:r>
                        <a:rPr sz="2400" b="0">
                          <a:solidFill>
                            <a:srgbClr val="1F2933"/>
                          </a:solidFill>
                          <a:latin typeface="Segoe UI"/>
                        </a:rPr>
                        <a:t>10–20</a:t>
                      </a:r>
                    </a:p>
                  </a:txBody>
                  <a:tcPr anchor="ctr" marL="114300" marR="114300">
                    <a:solidFill>
                      <a:srgbClr val="EEF0F2"/>
                    </a:solidFill>
                  </a:tcPr>
                </a:tc>
                <a:tc>
                  <a:txBody>
                    <a:bodyPr/>
                    <a:lstStyle/>
                    <a:p>
                      <a:pPr algn="ctr"/>
                      <a:r>
                        <a:rPr sz="2400" b="0">
                          <a:solidFill>
                            <a:srgbClr val="1F2933"/>
                          </a:solidFill>
                          <a:latin typeface="Segoe UI"/>
                        </a:rPr>
                        <a:t>0.869</a:t>
                      </a:r>
                    </a:p>
                  </a:txBody>
                  <a:tcPr anchor="ctr" marL="114300" marR="114300">
                    <a:solidFill>
                      <a:srgbClr val="EEF0F2"/>
                    </a:solidFill>
                  </a:tcPr>
                </a:tc>
                <a:tc>
                  <a:txBody>
                    <a:bodyPr/>
                    <a:lstStyle/>
                    <a:p>
                      <a:pPr algn="ctr"/>
                      <a:r>
                        <a:rPr sz="2400" b="1">
                          <a:solidFill>
                            <a:srgbClr val="1F2933"/>
                          </a:solidFill>
                          <a:latin typeface="Segoe UI"/>
                        </a:rPr>
                        <a:t>0.862</a:t>
                      </a:r>
                    </a:p>
                  </a:txBody>
                  <a:tcPr anchor="ctr" marL="114300" marR="114300">
                    <a:solidFill>
                      <a:srgbClr val="EEF0F2"/>
                    </a:solidFill>
                  </a:tcPr>
                </a:tc>
                <a:tc>
                  <a:txBody>
                    <a:bodyPr/>
                    <a:lstStyle/>
                    <a:p>
                      <a:pPr algn="ctr"/>
                      <a:r>
                        <a:rPr sz="2400" b="0">
                          <a:solidFill>
                            <a:srgbClr val="1F2933"/>
                          </a:solidFill>
                          <a:latin typeface="Segoe UI"/>
                        </a:rPr>
                        <a:t>0.866</a:t>
                      </a:r>
                    </a:p>
                  </a:txBody>
                  <a:tcPr anchor="ctr" marL="114300" marR="114300">
                    <a:solidFill>
                      <a:srgbClr val="EEF0F2"/>
                    </a:solidFill>
                  </a:tcPr>
                </a:tc>
                <a:tc>
                  <a:txBody>
                    <a:bodyPr/>
                    <a:lstStyle/>
                    <a:p>
                      <a:pPr algn="ctr"/>
                      <a:r>
                        <a:rPr sz="2400" b="0">
                          <a:solidFill>
                            <a:srgbClr val="1F2933"/>
                          </a:solidFill>
                          <a:latin typeface="Segoe UI"/>
                        </a:rPr>
                        <a:t>0.926</a:t>
                      </a:r>
                    </a:p>
                  </a:txBody>
                  <a:tcPr anchor="ctr" marL="114300" marR="114300">
                    <a:solidFill>
                      <a:srgbClr val="EEF0F2"/>
                    </a:solidFill>
                  </a:tcPr>
                </a:tc>
                <a:tc>
                  <a:txBody>
                    <a:bodyPr/>
                    <a:lstStyle/>
                    <a:p>
                      <a:pPr algn="ctr"/>
                      <a:r>
                        <a:rPr sz="2400" b="0">
                          <a:solidFill>
                            <a:srgbClr val="1F2933"/>
                          </a:solidFill>
                          <a:latin typeface="Segoe UI"/>
                        </a:rPr>
                        <a:t>432 / 65 / 69</a:t>
                      </a:r>
                    </a:p>
                  </a:txBody>
                  <a:tcPr anchor="ctr" marL="114300" marR="114300">
                    <a:solidFill>
                      <a:srgbClr val="EEF0F2"/>
                    </a:solidFill>
                  </a:tcPr>
                </a:tc>
              </a:tr>
              <a:tr h="666750">
                <a:tc>
                  <a:txBody>
                    <a:bodyPr/>
                    <a:lstStyle/>
                    <a:p>
                      <a:pPr algn="l"/>
                      <a:r>
                        <a:rPr sz="2400" b="0">
                          <a:solidFill>
                            <a:srgbClr val="1F2933"/>
                          </a:solidFill>
                          <a:latin typeface="Segoe UI"/>
                        </a:rPr>
                        <a:t>20–40</a:t>
                      </a:r>
                    </a:p>
                  </a:txBody>
                  <a:tcPr anchor="ctr" marL="114300" marR="114300">
                    <a:solidFill>
                      <a:srgbClr val="FFFFFF"/>
                    </a:solidFill>
                  </a:tcPr>
                </a:tc>
                <a:tc>
                  <a:txBody>
                    <a:bodyPr/>
                    <a:lstStyle/>
                    <a:p>
                      <a:pPr algn="ctr"/>
                      <a:r>
                        <a:rPr sz="2400" b="0">
                          <a:solidFill>
                            <a:srgbClr val="1F2933"/>
                          </a:solidFill>
                          <a:latin typeface="Segoe UI"/>
                        </a:rPr>
                        <a:t>0.799</a:t>
                      </a:r>
                    </a:p>
                  </a:txBody>
                  <a:tcPr anchor="ctr" marL="114300" marR="114300">
                    <a:solidFill>
                      <a:srgbClr val="FFFFFF"/>
                    </a:solidFill>
                  </a:tcPr>
                </a:tc>
                <a:tc>
                  <a:txBody>
                    <a:bodyPr/>
                    <a:lstStyle/>
                    <a:p>
                      <a:pPr algn="ctr"/>
                      <a:r>
                        <a:rPr sz="2400" b="0">
                          <a:solidFill>
                            <a:srgbClr val="1F2933"/>
                          </a:solidFill>
                          <a:latin typeface="Segoe UI"/>
                        </a:rPr>
                        <a:t>0.550</a:t>
                      </a:r>
                    </a:p>
                  </a:txBody>
                  <a:tcPr anchor="ctr" marL="114300" marR="114300">
                    <a:solidFill>
                      <a:srgbClr val="FFFFFF"/>
                    </a:solidFill>
                  </a:tcPr>
                </a:tc>
                <a:tc>
                  <a:txBody>
                    <a:bodyPr/>
                    <a:lstStyle/>
                    <a:p>
                      <a:pPr algn="ctr"/>
                      <a:r>
                        <a:rPr sz="2400" b="0">
                          <a:solidFill>
                            <a:srgbClr val="1F2933"/>
                          </a:solidFill>
                          <a:latin typeface="Segoe UI"/>
                        </a:rPr>
                        <a:t>0.652</a:t>
                      </a:r>
                    </a:p>
                  </a:txBody>
                  <a:tcPr anchor="ctr" marL="114300" marR="114300">
                    <a:solidFill>
                      <a:srgbClr val="FFFFFF"/>
                    </a:solidFill>
                  </a:tcPr>
                </a:tc>
                <a:tc>
                  <a:txBody>
                    <a:bodyPr/>
                    <a:lstStyle/>
                    <a:p>
                      <a:pPr algn="ctr"/>
                      <a:r>
                        <a:rPr sz="2400" b="0">
                          <a:solidFill>
                            <a:srgbClr val="1F2933"/>
                          </a:solidFill>
                          <a:latin typeface="Segoe UI"/>
                        </a:rPr>
                        <a:t>0.934</a:t>
                      </a:r>
                    </a:p>
                  </a:txBody>
                  <a:tcPr anchor="ctr" marL="114300" marR="114300">
                    <a:solidFill>
                      <a:srgbClr val="FFFFFF"/>
                    </a:solidFill>
                  </a:tcPr>
                </a:tc>
                <a:tc>
                  <a:txBody>
                    <a:bodyPr/>
                    <a:lstStyle/>
                    <a:p>
                      <a:pPr algn="ctr"/>
                      <a:r>
                        <a:rPr sz="2400" b="0">
                          <a:solidFill>
                            <a:srgbClr val="1F2933"/>
                          </a:solidFill>
                          <a:latin typeface="Segoe UI"/>
                        </a:rPr>
                        <a:t>401 / 101 / 328</a:t>
                      </a:r>
                    </a:p>
                  </a:txBody>
                  <a:tcPr anchor="ctr" marL="114300" marR="114300">
                    <a:solidFill>
                      <a:srgbClr val="FFFFFF"/>
                    </a:solidFill>
                  </a:tcPr>
                </a:tc>
              </a:tr>
              <a:tr h="666750">
                <a:tc>
                  <a:txBody>
                    <a:bodyPr/>
                    <a:lstStyle/>
                    <a:p>
                      <a:pPr algn="l"/>
                      <a:r>
                        <a:rPr sz="2400" b="0">
                          <a:solidFill>
                            <a:srgbClr val="1F2933"/>
                          </a:solidFill>
                          <a:latin typeface="Segoe UI"/>
                        </a:rPr>
                        <a:t>40+</a:t>
                      </a:r>
                    </a:p>
                  </a:txBody>
                  <a:tcPr anchor="ctr" marL="114300" marR="114300">
                    <a:solidFill>
                      <a:srgbClr val="EEF0F2"/>
                    </a:solidFill>
                  </a:tcPr>
                </a:tc>
                <a:tc>
                  <a:txBody>
                    <a:bodyPr/>
                    <a:lstStyle/>
                    <a:p>
                      <a:pPr algn="ctr"/>
                      <a:r>
                        <a:rPr sz="2400" b="0">
                          <a:solidFill>
                            <a:srgbClr val="1F2933"/>
                          </a:solidFill>
                          <a:latin typeface="Segoe UI"/>
                        </a:rPr>
                        <a:t>0.512</a:t>
                      </a:r>
                    </a:p>
                  </a:txBody>
                  <a:tcPr anchor="ctr" marL="114300" marR="114300">
                    <a:solidFill>
                      <a:srgbClr val="EEF0F2"/>
                    </a:solidFill>
                  </a:tcPr>
                </a:tc>
                <a:tc>
                  <a:txBody>
                    <a:bodyPr/>
                    <a:lstStyle/>
                    <a:p>
                      <a:pPr algn="ctr"/>
                      <a:r>
                        <a:rPr sz="2400" b="0">
                          <a:solidFill>
                            <a:srgbClr val="1F2933"/>
                          </a:solidFill>
                          <a:latin typeface="Segoe UI"/>
                        </a:rPr>
                        <a:t>0.196</a:t>
                      </a:r>
                    </a:p>
                  </a:txBody>
                  <a:tcPr anchor="ctr" marL="114300" marR="114300">
                    <a:solidFill>
                      <a:srgbClr val="EEF0F2"/>
                    </a:solidFill>
                  </a:tcPr>
                </a:tc>
                <a:tc>
                  <a:txBody>
                    <a:bodyPr/>
                    <a:lstStyle/>
                    <a:p>
                      <a:pPr algn="ctr"/>
                      <a:r>
                        <a:rPr sz="2400" b="0">
                          <a:solidFill>
                            <a:srgbClr val="1F2933"/>
                          </a:solidFill>
                          <a:latin typeface="Segoe UI"/>
                        </a:rPr>
                        <a:t>0.284</a:t>
                      </a:r>
                    </a:p>
                  </a:txBody>
                  <a:tcPr anchor="ctr" marL="114300" marR="114300">
                    <a:solidFill>
                      <a:srgbClr val="EEF0F2"/>
                    </a:solidFill>
                  </a:tcPr>
                </a:tc>
                <a:tc>
                  <a:txBody>
                    <a:bodyPr/>
                    <a:lstStyle/>
                    <a:p>
                      <a:pPr algn="ctr"/>
                      <a:r>
                        <a:rPr sz="2400" b="0">
                          <a:solidFill>
                            <a:srgbClr val="1F2933"/>
                          </a:solidFill>
                          <a:latin typeface="Segoe UI"/>
                        </a:rPr>
                        <a:t>0.943</a:t>
                      </a:r>
                    </a:p>
                  </a:txBody>
                  <a:tcPr anchor="ctr" marL="114300" marR="114300">
                    <a:solidFill>
                      <a:srgbClr val="EEF0F2"/>
                    </a:solidFill>
                  </a:tcPr>
                </a:tc>
                <a:tc>
                  <a:txBody>
                    <a:bodyPr/>
                    <a:lstStyle/>
                    <a:p>
                      <a:pPr algn="ctr"/>
                      <a:r>
                        <a:rPr sz="2400" b="0">
                          <a:solidFill>
                            <a:srgbClr val="1F2933"/>
                          </a:solidFill>
                          <a:latin typeface="Segoe UI"/>
                        </a:rPr>
                        <a:t>22 / 21 / 90</a:t>
                      </a:r>
                    </a:p>
                  </a:txBody>
                  <a:tcPr anchor="ctr" marL="114300" marR="114300">
                    <a:solidFill>
                      <a:srgbClr val="EEF0F2"/>
                    </a:solidFill>
                  </a:tcPr>
                </a:tc>
              </a:tr>
              <a:tr h="666750">
                <a:tc>
                  <a:txBody>
                    <a:bodyPr/>
                    <a:lstStyle/>
                    <a:p>
                      <a:pPr algn="l"/>
                      <a:r>
                        <a:rPr sz="2400" b="0">
                          <a:solidFill>
                            <a:srgbClr val="1F2933"/>
                          </a:solidFill>
                          <a:latin typeface="Segoe UI"/>
                        </a:rPr>
                        <a:t>Pooled</a:t>
                      </a:r>
                    </a:p>
                  </a:txBody>
                  <a:tcPr anchor="ctr" marL="114300" marR="114300">
                    <a:solidFill>
                      <a:srgbClr val="FFFFFF"/>
                    </a:solidFill>
                  </a:tcPr>
                </a:tc>
                <a:tc>
                  <a:txBody>
                    <a:bodyPr/>
                    <a:lstStyle/>
                    <a:p>
                      <a:pPr algn="ctr"/>
                      <a:r>
                        <a:rPr sz="2400" b="0">
                          <a:solidFill>
                            <a:srgbClr val="1F2933"/>
                          </a:solidFill>
                          <a:latin typeface="Segoe UI"/>
                        </a:rPr>
                        <a:t>0.840</a:t>
                      </a:r>
                    </a:p>
                  </a:txBody>
                  <a:tcPr anchor="ctr" marL="114300" marR="114300">
                    <a:solidFill>
                      <a:srgbClr val="FFFFFF"/>
                    </a:solidFill>
                  </a:tcPr>
                </a:tc>
                <a:tc>
                  <a:txBody>
                    <a:bodyPr/>
                    <a:lstStyle/>
                    <a:p>
                      <a:pPr algn="ctr"/>
                      <a:r>
                        <a:rPr sz="2400" b="0">
                          <a:solidFill>
                            <a:srgbClr val="1F2933"/>
                          </a:solidFill>
                          <a:latin typeface="Segoe UI"/>
                        </a:rPr>
                        <a:t>0.671</a:t>
                      </a:r>
                    </a:p>
                  </a:txBody>
                  <a:tcPr anchor="ctr" marL="114300" marR="114300">
                    <a:solidFill>
                      <a:srgbClr val="FFFFFF"/>
                    </a:solidFill>
                  </a:tcPr>
                </a:tc>
                <a:tc>
                  <a:txBody>
                    <a:bodyPr/>
                    <a:lstStyle/>
                    <a:p>
                      <a:pPr algn="ctr"/>
                      <a:r>
                        <a:rPr sz="2400" b="0">
                          <a:solidFill>
                            <a:srgbClr val="1F2933"/>
                          </a:solidFill>
                          <a:latin typeface="Segoe UI"/>
                        </a:rPr>
                        <a:t>0.746</a:t>
                      </a:r>
                    </a:p>
                  </a:txBody>
                  <a:tcPr anchor="ctr" marL="114300" marR="114300">
                    <a:solidFill>
                      <a:srgbClr val="FFFFFF"/>
                    </a:solidFill>
                  </a:tcPr>
                </a:tc>
                <a:tc>
                  <a:txBody>
                    <a:bodyPr/>
                    <a:lstStyle/>
                    <a:p>
                      <a:pPr algn="ctr"/>
                      <a:r>
                        <a:rPr sz="2400" b="0">
                          <a:solidFill>
                            <a:srgbClr val="1F2933"/>
                          </a:solidFill>
                          <a:latin typeface="Segoe UI"/>
                        </a:rPr>
                        <a:t>0.923</a:t>
                      </a:r>
                    </a:p>
                  </a:txBody>
                  <a:tcPr anchor="ctr" marL="114300" marR="114300">
                    <a:solidFill>
                      <a:srgbClr val="FFFFFF"/>
                    </a:solidFill>
                  </a:tcPr>
                </a:tc>
                <a:tc>
                  <a:txBody>
                    <a:bodyPr/>
                    <a:lstStyle/>
                    <a:p>
                      <a:pPr algn="ctr"/>
                      <a:r>
                        <a:rPr sz="2400" b="0">
                          <a:solidFill>
                            <a:srgbClr val="1F2933"/>
                          </a:solidFill>
                          <a:latin typeface="Segoe UI"/>
                        </a:rPr>
                        <a:t>1,166 / 222 / 571</a:t>
                      </a:r>
                    </a:p>
                  </a:txBody>
                  <a:tcPr anchor="ctr" marL="114300" marR="114300">
                    <a:solidFill>
                      <a:srgbClr val="FFFFFF"/>
                    </a:solidFill>
                  </a:tcPr>
                </a:tc>
              </a:tr>
            </a:tbl>
          </a:graphicData>
        </a:graphic>
      </p:graphicFrame>
      <p:sp>
        <p:nvSpPr>
          <p:cNvPr id="5" name="TextBox 4"/>
          <p:cNvSpPr txBox="1"/>
          <p:nvPr/>
        </p:nvSpPr>
        <p:spPr>
          <a:xfrm>
            <a:off x="1143000" y="65341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Nearest cars: lower recall than 10–20 m despite more points, because half of them are split.</a:t>
            </a:r>
          </a:p>
          <a:p>
            <a:pPr algn="l">
              <a:spcAft>
                <a:spcPts val="1000"/>
              </a:spcAft>
            </a:pPr>
            <a:r>
              <a:rPr sz="2400" b="0" i="0">
                <a:solidFill>
                  <a:srgbClr val="1F2933"/>
                </a:solidFill>
                <a:latin typeface="Segoe UI"/>
              </a:rPr>
              <a:t>Beyond 20 m: ordinary sparsity. Per frame with the track filter off, so read it as a trend.</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3.3.5 DETECTION RESULT ANALYSIS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each detection stage contributes, and where it fails.</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Clustering</a:t>
            </a:r>
          </a:p>
          <a:p>
            <a:pPr algn="ctr">
              <a:spcAft>
                <a:spcPts val="0"/>
              </a:spcAft>
            </a:pPr>
            <a:r>
              <a:rPr sz="2800" b="0" i="0">
                <a:solidFill>
                  <a:srgbClr val="1F2933"/>
                </a:solidFill>
                <a:latin typeface="Segoe UI"/>
              </a:rPr>
              <a:t>The recall limit: a third of cars are split into pieces.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Geometric filter</a:t>
            </a:r>
          </a:p>
          <a:p>
            <a:pPr algn="ctr">
              <a:spcAft>
                <a:spcPts val="0"/>
              </a:spcAft>
            </a:pPr>
            <a:r>
              <a:rPr sz="2800" b="0" i="0">
                <a:solidFill>
                  <a:srgbClr val="1F2933"/>
                </a:solidFill>
                <a:latin typeface="Segoe UI"/>
              </a:rPr>
              <a:t>Keeps most cars (recall 0.773), but 4 in 5 detections are junk.</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Classifier</a:t>
            </a:r>
          </a:p>
          <a:p>
            <a:pPr algn="ctr">
              <a:spcAft>
                <a:spcPts val="0"/>
              </a:spcAft>
            </a:pPr>
            <a:r>
              <a:rPr sz="2800" b="0" i="0">
                <a:solidFill>
                  <a:srgbClr val="1F2933"/>
                </a:solidFill>
                <a:latin typeface="Segoe UI"/>
              </a:rPr>
              <a:t>The precision step: removes about 104,000 false positives.</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Track filter</a:t>
            </a:r>
          </a:p>
          <a:p>
            <a:pPr algn="ctr">
              <a:spcAft>
                <a:spcPts val="0"/>
              </a:spcAft>
            </a:pPr>
            <a:r>
              <a:rPr sz="2800" b="0" i="0">
                <a:solidFill>
                  <a:srgbClr val="1F2933"/>
                </a:solidFill>
                <a:latin typeface="Segoe UI"/>
              </a:rPr>
              <a:t>Wins back 1,968 true positives and drops 1,790 false positives.</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3.4 COMPLETION RESULTS</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3.4.1 COMPLETION EXAMPLE: ONE REAL CAR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single-frame scan sees one corner of the car; completion fills in the hidden sides.</a:t>
            </a:r>
          </a:p>
        </p:txBody>
      </p:sp>
      <p:pic>
        <p:nvPicPr>
          <p:cNvPr id="4" name="Picture 3" descr="d13_completion_example.png"/>
          <p:cNvPicPr>
            <a:picLocks noChangeAspect="1"/>
          </p:cNvPicPr>
          <p:nvPr/>
        </p:nvPicPr>
        <p:blipFill>
          <a:blip r:embed="rId2"/>
          <a:stretch>
            <a:fillRect/>
          </a:stretch>
        </p:blipFill>
        <p:spPr>
          <a:xfrm>
            <a:off x="1143000" y="2108878"/>
            <a:ext cx="16002000" cy="702174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3.4.2 JUDGING COMPLETION WITHOUT GROUND TRUTH</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With no true shape on real cars, an independent judge decides what looks like a car.</a:t>
            </a:r>
          </a:p>
        </p:txBody>
      </p:sp>
      <p:pic>
        <p:nvPicPr>
          <p:cNvPr id="4" name="Picture 3" descr="d12a_judge.drawio.png"/>
          <p:cNvPicPr>
            <a:picLocks noChangeAspect="1"/>
          </p:cNvPicPr>
          <p:nvPr/>
        </p:nvPicPr>
        <p:blipFill>
          <a:blip r:embed="rId2"/>
          <a:stretch>
            <a:fillRect/>
          </a:stretch>
        </p:blipFill>
        <p:spPr>
          <a:xfrm>
            <a:off x="1143000" y="2221911"/>
            <a:ext cx="7810500" cy="6795679"/>
          </a:xfrm>
          <a:prstGeom prst="rect">
            <a:avLst/>
          </a:prstGeom>
        </p:spPr>
      </p:pic>
      <p:graphicFrame>
        <p:nvGraphicFramePr>
          <p:cNvPr id="5" name="Chart 4"/>
          <p:cNvGraphicFramePr>
            <a:graphicFrameLocks noGrp="1"/>
          </p:cNvGraphicFramePr>
          <p:nvPr/>
        </p:nvGraphicFramePr>
        <p:xfrm>
          <a:off x="9334500" y="2095500"/>
          <a:ext cx="7810500" cy="5334000"/>
        </p:xfrm>
        <a:graphic>
          <a:graphicData uri="http://schemas.openxmlformats.org/drawingml/2006/chart">
            <c:chart xmlns:c="http://schemas.openxmlformats.org/drawingml/2006/chart" r:id="rId3"/>
          </a:graphicData>
        </a:graphic>
      </p:graphicFrame>
      <p:sp>
        <p:nvSpPr>
          <p:cNvPr id="6" name="TextBox 5"/>
          <p:cNvSpPr txBox="1"/>
          <p:nvPr/>
        </p:nvSpPr>
        <p:spPr>
          <a:xfrm>
            <a:off x="9334500" y="7715250"/>
            <a:ext cx="7810500" cy="1428750"/>
          </a:xfrm>
          <a:prstGeom prst="rect">
            <a:avLst/>
          </a:prstGeom>
          <a:noFill/>
        </p:spPr>
        <p:txBody>
          <a:bodyPr wrap="square" anchor="t" lIns="0" rIns="0" tIns="0" bIns="0">
            <a:spAutoFit/>
          </a:bodyPr>
          <a:lstStyle/>
          <a:p>
            <a:pPr algn="l">
              <a:spcAft>
                <a:spcPts val="1000"/>
              </a:spcAft>
            </a:pPr>
            <a:r>
              <a:rPr sz="2100" b="0" i="0">
                <a:solidFill>
                  <a:srgbClr val="1F2933"/>
                </a:solidFill>
                <a:latin typeface="Segoe UI"/>
              </a:rPr>
              <a:t>2,822 real cars, all 11 sequences; dense reference: 140 parked cars.</a:t>
            </a:r>
          </a:p>
          <a:p>
            <a:pPr algn="l">
              <a:spcAft>
                <a:spcPts val="1000"/>
              </a:spcAft>
            </a:pPr>
            <a:r>
              <a:rPr sz="2100" b="0" i="0">
                <a:solidFill>
                  <a:srgbClr val="1F2933"/>
                </a:solidFill>
                <a:latin typeface="Segoe UI"/>
              </a:rPr>
              <a:t>1,615 cars rejected as a raw scan are accepted once completed; 115 go the other way.</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3.4.3 SYNTHETIC FIDELITY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On held-out synthetic cars, the network reproduces the complete shape.</a:t>
            </a:r>
          </a:p>
        </p:txBody>
      </p:sp>
      <p:pic>
        <p:nvPicPr>
          <p:cNvPr id="4" name="Picture 3" descr="d16_synthetic_example.png"/>
          <p:cNvPicPr>
            <a:picLocks noChangeAspect="1"/>
          </p:cNvPicPr>
          <p:nvPr/>
        </p:nvPicPr>
        <p:blipFill>
          <a:blip r:embed="rId2"/>
          <a:stretch>
            <a:fillRect/>
          </a:stretch>
        </p:blipFill>
        <p:spPr>
          <a:xfrm>
            <a:off x="1499585" y="2095500"/>
            <a:ext cx="15288831" cy="5334000"/>
          </a:xfrm>
          <a:prstGeom prst="rect">
            <a:avLst/>
          </a:prstGeom>
        </p:spPr>
      </p:pic>
      <p:graphicFrame>
        <p:nvGraphicFramePr>
          <p:cNvPr id="5" name="Table 4"/>
          <p:cNvGraphicFramePr>
            <a:graphicFrameLocks noGrp="1"/>
          </p:cNvGraphicFramePr>
          <p:nvPr/>
        </p:nvGraphicFramePr>
        <p:xfrm>
          <a:off x="3619500" y="7658100"/>
          <a:ext cx="11049000" cy="1104900"/>
        </p:xfrm>
        <a:graphic>
          <a:graphicData uri="http://schemas.openxmlformats.org/drawingml/2006/table">
            <a:tbl>
              <a:tblPr firstRow="1" bandRow="1">
                <a:tableStyleId>{5C22544A-7EE6-4342-B048-85BDC9FD1C3A}</a:tableStyleId>
              </a:tblPr>
              <a:tblGrid>
                <a:gridCol w="4603750"/>
                <a:gridCol w="3222625"/>
                <a:gridCol w="3222625"/>
              </a:tblGrid>
              <a:tr h="552450">
                <a:tc>
                  <a:txBody>
                    <a:bodyPr/>
                    <a:lstStyle/>
                    <a:p>
                      <a:pPr algn="l"/>
                      <a:r>
                        <a:rPr sz="2200" b="1">
                          <a:solidFill>
                            <a:srgbClr val="FFFFFF"/>
                          </a:solidFill>
                          <a:latin typeface="Segoe UI"/>
                        </a:rPr>
                        <a:t>Held-out synthetic cars</a:t>
                      </a:r>
                    </a:p>
                  </a:txBody>
                  <a:tcPr anchor="ctr" marL="114300" marR="114300">
                    <a:solidFill>
                      <a:srgbClr val="1F2933"/>
                    </a:solidFill>
                  </a:tcPr>
                </a:tc>
                <a:tc>
                  <a:txBody>
                    <a:bodyPr/>
                    <a:lstStyle/>
                    <a:p>
                      <a:pPr algn="ctr"/>
                      <a:r>
                        <a:rPr sz="2200" b="1">
                          <a:solidFill>
                            <a:srgbClr val="FFFFFF"/>
                          </a:solidFill>
                          <a:latin typeface="Segoe UI"/>
                        </a:rPr>
                        <a:t>Chamfer distance ↓</a:t>
                      </a:r>
                    </a:p>
                  </a:txBody>
                  <a:tcPr anchor="ctr" marL="114300" marR="114300">
                    <a:solidFill>
                      <a:srgbClr val="1F2933"/>
                    </a:solidFill>
                  </a:tcPr>
                </a:tc>
                <a:tc>
                  <a:txBody>
                    <a:bodyPr/>
                    <a:lstStyle/>
                    <a:p>
                      <a:pPr algn="ctr"/>
                      <a:r>
                        <a:rPr sz="2200" b="1">
                          <a:solidFill>
                            <a:srgbClr val="FFFFFF"/>
                          </a:solidFill>
                          <a:latin typeface="Segoe UI"/>
                        </a:rPr>
                        <a:t>F-score @ 0.1 m ↑</a:t>
                      </a:r>
                    </a:p>
                  </a:txBody>
                  <a:tcPr anchor="ctr" marL="114300" marR="114300">
                    <a:solidFill>
                      <a:srgbClr val="1F2933"/>
                    </a:solidFill>
                  </a:tcPr>
                </a:tc>
              </a:tr>
              <a:tr h="552450">
                <a:tc>
                  <a:txBody>
                    <a:bodyPr/>
                    <a:lstStyle/>
                    <a:p>
                      <a:pPr algn="l"/>
                      <a:r>
                        <a:rPr sz="2200" b="0">
                          <a:solidFill>
                            <a:srgbClr val="1F2933"/>
                          </a:solidFill>
                          <a:latin typeface="Segoe UI"/>
                        </a:rPr>
                        <a:t>PCN</a:t>
                      </a:r>
                    </a:p>
                  </a:txBody>
                  <a:tcPr anchor="ctr" marL="114300" marR="114300">
                    <a:solidFill>
                      <a:srgbClr val="FFFFFF"/>
                    </a:solidFill>
                  </a:tcPr>
                </a:tc>
                <a:tc>
                  <a:txBody>
                    <a:bodyPr/>
                    <a:lstStyle/>
                    <a:p>
                      <a:pPr algn="ctr"/>
                      <a:r>
                        <a:rPr sz="2200" b="1">
                          <a:solidFill>
                            <a:srgbClr val="1F2933"/>
                          </a:solidFill>
                          <a:latin typeface="Segoe UI"/>
                        </a:rPr>
                        <a:t>0.16 m</a:t>
                      </a:r>
                    </a:p>
                  </a:txBody>
                  <a:tcPr anchor="ctr" marL="114300" marR="114300">
                    <a:solidFill>
                      <a:srgbClr val="FFFFFF"/>
                    </a:solidFill>
                  </a:tcPr>
                </a:tc>
                <a:tc>
                  <a:txBody>
                    <a:bodyPr/>
                    <a:lstStyle/>
                    <a:p>
                      <a:pPr algn="ctr"/>
                      <a:r>
                        <a:rPr sz="2200" b="1">
                          <a:solidFill>
                            <a:srgbClr val="1F2933"/>
                          </a:solidFill>
                          <a:latin typeface="Segoe UI"/>
                        </a:rPr>
                        <a:t>0.76</a:t>
                      </a:r>
                    </a:p>
                  </a:txBody>
                  <a:tcPr anchor="ctr" marL="114300" marR="114300">
                    <a:solidFill>
                      <a:srgbClr val="FFFFFF"/>
                    </a:solidFill>
                  </a:tcPr>
                </a:tc>
              </a:tr>
            </a:tbl>
          </a:graphicData>
        </a:graphic>
      </p:graphicFrame>
      <p:sp>
        <p:nvSpPr>
          <p:cNvPr id="6" name="TextBox 5"/>
          <p:cNvSpPr txBox="1"/>
          <p:nvPr/>
        </p:nvSpPr>
        <p:spPr>
          <a:xfrm>
            <a:off x="3619500" y="8915400"/>
            <a:ext cx="11049000" cy="476250"/>
          </a:xfrm>
          <a:prstGeom prst="rect">
            <a:avLst/>
          </a:prstGeom>
          <a:noFill/>
        </p:spPr>
        <p:txBody>
          <a:bodyPr wrap="square" anchor="t" lIns="0" rIns="0" tIns="0" bIns="0">
            <a:spAutoFit/>
          </a:bodyPr>
          <a:lstStyle/>
          <a:p>
            <a:pPr algn="l">
              <a:spcAft>
                <a:spcPts val="0"/>
              </a:spcAft>
            </a:pPr>
            <a:r>
              <a:rPr sz="2000" b="0" i="1">
                <a:solidFill>
                  <a:srgbClr val="6B7280"/>
                </a:solidFill>
                <a:latin typeface="Segoe UI"/>
              </a:rPr>
              <a:t>The network itself works; real scans have no true model, so they are judged separately (slide 36).</a:t>
            </a:r>
          </a:p>
        </p:txBody>
      </p:sp>
      <p:sp>
        <p:nvSpPr>
          <p:cNvPr id="7" name="Rectangle 6"/>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9" name="TextBox 8"/>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3.4.4 PLAUSIBILITY ROBUSTNESS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plausibility gain holds on every sequence, for moving cars, and under a heading flip.</a:t>
            </a:r>
          </a:p>
        </p:txBody>
      </p:sp>
      <p:graphicFrame>
        <p:nvGraphicFramePr>
          <p:cNvPr id="4" name="Table 3"/>
          <p:cNvGraphicFramePr>
            <a:graphicFrameLocks noGrp="1"/>
          </p:cNvGraphicFramePr>
          <p:nvPr/>
        </p:nvGraphicFramePr>
        <p:xfrm>
          <a:off x="1143000" y="2095500"/>
          <a:ext cx="16002000" cy="2514600"/>
        </p:xfrm>
        <a:graphic>
          <a:graphicData uri="http://schemas.openxmlformats.org/drawingml/2006/table">
            <a:tbl>
              <a:tblPr firstRow="1" bandRow="1">
                <a:tableStyleId>{5C22544A-7EE6-4342-B048-85BDC9FD1C3A}</a:tableStyleId>
              </a:tblPr>
              <a:tblGrid>
                <a:gridCol w="2142000"/>
                <a:gridCol w="1260000"/>
                <a:gridCol w="1260000"/>
                <a:gridCol w="1260000"/>
                <a:gridCol w="1260000"/>
                <a:gridCol w="1260000"/>
                <a:gridCol w="1260000"/>
                <a:gridCol w="1260000"/>
                <a:gridCol w="1260000"/>
                <a:gridCol w="1260000"/>
                <a:gridCol w="1260000"/>
                <a:gridCol w="1260000"/>
              </a:tblGrid>
              <a:tr h="628650">
                <a:tc>
                  <a:txBody>
                    <a:bodyPr/>
                    <a:lstStyle/>
                    <a:p>
                      <a:pPr algn="l"/>
                      <a:r>
                        <a:rPr sz="2100" b="1">
                          <a:solidFill>
                            <a:srgbClr val="FFFFFF"/>
                          </a:solidFill>
                          <a:latin typeface="Segoe UI"/>
                        </a:rPr>
                        <a:t>Seq</a:t>
                      </a:r>
                    </a:p>
                  </a:txBody>
                  <a:tcPr anchor="ctr" marL="114300" marR="114300">
                    <a:solidFill>
                      <a:srgbClr val="1F2933"/>
                    </a:solidFill>
                  </a:tcPr>
                </a:tc>
                <a:tc>
                  <a:txBody>
                    <a:bodyPr/>
                    <a:lstStyle/>
                    <a:p>
                      <a:pPr algn="ctr"/>
                      <a:r>
                        <a:rPr sz="2100" b="1">
                          <a:solidFill>
                            <a:srgbClr val="FFFFFF"/>
                          </a:solidFill>
                          <a:latin typeface="Segoe UI"/>
                        </a:rPr>
                        <a:t>00</a:t>
                      </a:r>
                    </a:p>
                  </a:txBody>
                  <a:tcPr anchor="ctr" marL="114300" marR="114300">
                    <a:solidFill>
                      <a:srgbClr val="1F2933"/>
                    </a:solidFill>
                  </a:tcPr>
                </a:tc>
                <a:tc>
                  <a:txBody>
                    <a:bodyPr/>
                    <a:lstStyle/>
                    <a:p>
                      <a:pPr algn="ctr"/>
                      <a:r>
                        <a:rPr sz="2100" b="1">
                          <a:solidFill>
                            <a:srgbClr val="FFFFFF"/>
                          </a:solidFill>
                          <a:latin typeface="Segoe UI"/>
                        </a:rPr>
                        <a:t>01</a:t>
                      </a:r>
                    </a:p>
                  </a:txBody>
                  <a:tcPr anchor="ctr" marL="114300" marR="114300">
                    <a:solidFill>
                      <a:srgbClr val="1F2933"/>
                    </a:solidFill>
                  </a:tcPr>
                </a:tc>
                <a:tc>
                  <a:txBody>
                    <a:bodyPr/>
                    <a:lstStyle/>
                    <a:p>
                      <a:pPr algn="ctr"/>
                      <a:r>
                        <a:rPr sz="2100" b="1">
                          <a:solidFill>
                            <a:srgbClr val="FFFFFF"/>
                          </a:solidFill>
                          <a:latin typeface="Segoe UI"/>
                        </a:rPr>
                        <a:t>02</a:t>
                      </a:r>
                    </a:p>
                  </a:txBody>
                  <a:tcPr anchor="ctr" marL="114300" marR="114300">
                    <a:solidFill>
                      <a:srgbClr val="1F2933"/>
                    </a:solidFill>
                  </a:tcPr>
                </a:tc>
                <a:tc>
                  <a:txBody>
                    <a:bodyPr/>
                    <a:lstStyle/>
                    <a:p>
                      <a:pPr algn="ctr"/>
                      <a:r>
                        <a:rPr sz="2100" b="1">
                          <a:solidFill>
                            <a:srgbClr val="FFFFFF"/>
                          </a:solidFill>
                          <a:latin typeface="Segoe UI"/>
                        </a:rPr>
                        <a:t>03</a:t>
                      </a:r>
                    </a:p>
                  </a:txBody>
                  <a:tcPr anchor="ctr" marL="114300" marR="114300">
                    <a:solidFill>
                      <a:srgbClr val="1F2933"/>
                    </a:solidFill>
                  </a:tcPr>
                </a:tc>
                <a:tc>
                  <a:txBody>
                    <a:bodyPr/>
                    <a:lstStyle/>
                    <a:p>
                      <a:pPr algn="ctr"/>
                      <a:r>
                        <a:rPr sz="2100" b="1">
                          <a:solidFill>
                            <a:srgbClr val="FFFFFF"/>
                          </a:solidFill>
                          <a:latin typeface="Segoe UI"/>
                        </a:rPr>
                        <a:t>04</a:t>
                      </a:r>
                    </a:p>
                  </a:txBody>
                  <a:tcPr anchor="ctr" marL="114300" marR="114300">
                    <a:solidFill>
                      <a:srgbClr val="1F2933"/>
                    </a:solidFill>
                  </a:tcPr>
                </a:tc>
                <a:tc>
                  <a:txBody>
                    <a:bodyPr/>
                    <a:lstStyle/>
                    <a:p>
                      <a:pPr algn="ctr"/>
                      <a:r>
                        <a:rPr sz="2100" b="1">
                          <a:solidFill>
                            <a:srgbClr val="FFFFFF"/>
                          </a:solidFill>
                          <a:latin typeface="Segoe UI"/>
                        </a:rPr>
                        <a:t>05</a:t>
                      </a:r>
                    </a:p>
                  </a:txBody>
                  <a:tcPr anchor="ctr" marL="114300" marR="114300">
                    <a:solidFill>
                      <a:srgbClr val="1F2933"/>
                    </a:solidFill>
                  </a:tcPr>
                </a:tc>
                <a:tc>
                  <a:txBody>
                    <a:bodyPr/>
                    <a:lstStyle/>
                    <a:p>
                      <a:pPr algn="ctr"/>
                      <a:r>
                        <a:rPr sz="2100" b="1">
                          <a:solidFill>
                            <a:srgbClr val="FFFFFF"/>
                          </a:solidFill>
                          <a:latin typeface="Segoe UI"/>
                        </a:rPr>
                        <a:t>06</a:t>
                      </a:r>
                    </a:p>
                  </a:txBody>
                  <a:tcPr anchor="ctr" marL="114300" marR="114300">
                    <a:solidFill>
                      <a:srgbClr val="1F2933"/>
                    </a:solidFill>
                  </a:tcPr>
                </a:tc>
                <a:tc>
                  <a:txBody>
                    <a:bodyPr/>
                    <a:lstStyle/>
                    <a:p>
                      <a:pPr algn="ctr"/>
                      <a:r>
                        <a:rPr sz="2100" b="1">
                          <a:solidFill>
                            <a:srgbClr val="FFFFFF"/>
                          </a:solidFill>
                          <a:latin typeface="Segoe UI"/>
                        </a:rPr>
                        <a:t>07</a:t>
                      </a:r>
                    </a:p>
                  </a:txBody>
                  <a:tcPr anchor="ctr" marL="114300" marR="114300">
                    <a:solidFill>
                      <a:srgbClr val="1F2933"/>
                    </a:solidFill>
                  </a:tcPr>
                </a:tc>
                <a:tc>
                  <a:txBody>
                    <a:bodyPr/>
                    <a:lstStyle/>
                    <a:p>
                      <a:pPr algn="ctr"/>
                      <a:r>
                        <a:rPr sz="2100" b="1">
                          <a:solidFill>
                            <a:srgbClr val="FFFFFF"/>
                          </a:solidFill>
                          <a:latin typeface="Segoe UI"/>
                        </a:rPr>
                        <a:t>08</a:t>
                      </a:r>
                    </a:p>
                  </a:txBody>
                  <a:tcPr anchor="ctr" marL="114300" marR="114300">
                    <a:solidFill>
                      <a:srgbClr val="1F2933"/>
                    </a:solidFill>
                  </a:tcPr>
                </a:tc>
                <a:tc>
                  <a:txBody>
                    <a:bodyPr/>
                    <a:lstStyle/>
                    <a:p>
                      <a:pPr algn="ctr"/>
                      <a:r>
                        <a:rPr sz="2100" b="1">
                          <a:solidFill>
                            <a:srgbClr val="FFFFFF"/>
                          </a:solidFill>
                          <a:latin typeface="Segoe UI"/>
                        </a:rPr>
                        <a:t>09</a:t>
                      </a:r>
                    </a:p>
                  </a:txBody>
                  <a:tcPr anchor="ctr" marL="114300" marR="114300">
                    <a:solidFill>
                      <a:srgbClr val="1F2933"/>
                    </a:solidFill>
                  </a:tcPr>
                </a:tc>
                <a:tc>
                  <a:txBody>
                    <a:bodyPr/>
                    <a:lstStyle/>
                    <a:p>
                      <a:pPr algn="ctr"/>
                      <a:r>
                        <a:rPr sz="2100" b="1">
                          <a:solidFill>
                            <a:srgbClr val="FFFFFF"/>
                          </a:solidFill>
                          <a:latin typeface="Segoe UI"/>
                        </a:rPr>
                        <a:t>10</a:t>
                      </a:r>
                    </a:p>
                  </a:txBody>
                  <a:tcPr anchor="ctr" marL="114300" marR="114300">
                    <a:solidFill>
                      <a:srgbClr val="1F2933"/>
                    </a:solidFill>
                  </a:tcPr>
                </a:tc>
              </a:tr>
              <a:tr h="628650">
                <a:tc>
                  <a:txBody>
                    <a:bodyPr/>
                    <a:lstStyle/>
                    <a:p>
                      <a:pPr algn="l"/>
                      <a:r>
                        <a:rPr sz="2100" b="0">
                          <a:solidFill>
                            <a:srgbClr val="1F2933"/>
                          </a:solidFill>
                          <a:latin typeface="Segoe UI"/>
                        </a:rPr>
                        <a:t>Cars</a:t>
                      </a:r>
                    </a:p>
                  </a:txBody>
                  <a:tcPr anchor="ctr" marL="114300" marR="114300">
                    <a:solidFill>
                      <a:srgbClr val="FFFFFF"/>
                    </a:solidFill>
                  </a:tcPr>
                </a:tc>
                <a:tc>
                  <a:txBody>
                    <a:bodyPr/>
                    <a:lstStyle/>
                    <a:p>
                      <a:pPr algn="ctr"/>
                      <a:r>
                        <a:rPr sz="2100" b="0">
                          <a:solidFill>
                            <a:srgbClr val="1F2933"/>
                          </a:solidFill>
                          <a:latin typeface="Segoe UI"/>
                        </a:rPr>
                        <a:t>926</a:t>
                      </a:r>
                    </a:p>
                  </a:txBody>
                  <a:tcPr anchor="ctr" marL="114300" marR="114300">
                    <a:solidFill>
                      <a:srgbClr val="FFFFFF"/>
                    </a:solidFill>
                  </a:tcPr>
                </a:tc>
                <a:tc>
                  <a:txBody>
                    <a:bodyPr/>
                    <a:lstStyle/>
                    <a:p>
                      <a:pPr algn="ctr"/>
                      <a:r>
                        <a:rPr sz="2100" b="0">
                          <a:solidFill>
                            <a:srgbClr val="1F2933"/>
                          </a:solidFill>
                          <a:latin typeface="Segoe UI"/>
                        </a:rPr>
                        <a:t>96</a:t>
                      </a:r>
                    </a:p>
                  </a:txBody>
                  <a:tcPr anchor="ctr" marL="114300" marR="114300">
                    <a:solidFill>
                      <a:srgbClr val="FFFFFF"/>
                    </a:solidFill>
                  </a:tcPr>
                </a:tc>
                <a:tc>
                  <a:txBody>
                    <a:bodyPr/>
                    <a:lstStyle/>
                    <a:p>
                      <a:pPr algn="ctr"/>
                      <a:r>
                        <a:rPr sz="2100" b="0">
                          <a:solidFill>
                            <a:srgbClr val="1F2933"/>
                          </a:solidFill>
                          <a:latin typeface="Segoe UI"/>
                        </a:rPr>
                        <a:t>329</a:t>
                      </a:r>
                    </a:p>
                  </a:txBody>
                  <a:tcPr anchor="ctr" marL="114300" marR="114300">
                    <a:solidFill>
                      <a:srgbClr val="FFFFFF"/>
                    </a:solidFill>
                  </a:tcPr>
                </a:tc>
                <a:tc>
                  <a:txBody>
                    <a:bodyPr/>
                    <a:lstStyle/>
                    <a:p>
                      <a:pPr algn="ctr"/>
                      <a:r>
                        <a:rPr sz="2100" b="0">
                          <a:solidFill>
                            <a:srgbClr val="1F2933"/>
                          </a:solidFill>
                          <a:latin typeface="Segoe UI"/>
                        </a:rPr>
                        <a:t>48</a:t>
                      </a:r>
                    </a:p>
                  </a:txBody>
                  <a:tcPr anchor="ctr" marL="114300" marR="114300">
                    <a:solidFill>
                      <a:srgbClr val="FFFFFF"/>
                    </a:solidFill>
                  </a:tcPr>
                </a:tc>
                <a:tc>
                  <a:txBody>
                    <a:bodyPr/>
                    <a:lstStyle/>
                    <a:p>
                      <a:pPr algn="ctr"/>
                      <a:r>
                        <a:rPr sz="2100" b="0">
                          <a:solidFill>
                            <a:srgbClr val="1F2933"/>
                          </a:solidFill>
                          <a:latin typeface="Segoe UI"/>
                        </a:rPr>
                        <a:t>59</a:t>
                      </a:r>
                    </a:p>
                  </a:txBody>
                  <a:tcPr anchor="ctr" marL="114300" marR="114300">
                    <a:solidFill>
                      <a:srgbClr val="FFFFFF"/>
                    </a:solidFill>
                  </a:tcPr>
                </a:tc>
                <a:tc>
                  <a:txBody>
                    <a:bodyPr/>
                    <a:lstStyle/>
                    <a:p>
                      <a:pPr algn="ctr"/>
                      <a:r>
                        <a:rPr sz="2100" b="0">
                          <a:solidFill>
                            <a:srgbClr val="1F2933"/>
                          </a:solidFill>
                          <a:latin typeface="Segoe UI"/>
                        </a:rPr>
                        <a:t>258</a:t>
                      </a:r>
                    </a:p>
                  </a:txBody>
                  <a:tcPr anchor="ctr" marL="114300" marR="114300">
                    <a:solidFill>
                      <a:srgbClr val="FFFFFF"/>
                    </a:solidFill>
                  </a:tcPr>
                </a:tc>
                <a:tc>
                  <a:txBody>
                    <a:bodyPr/>
                    <a:lstStyle/>
                    <a:p>
                      <a:pPr algn="ctr"/>
                      <a:r>
                        <a:rPr sz="2100" b="0">
                          <a:solidFill>
                            <a:srgbClr val="1F2933"/>
                          </a:solidFill>
                          <a:latin typeface="Segoe UI"/>
                        </a:rPr>
                        <a:t>164</a:t>
                      </a:r>
                    </a:p>
                  </a:txBody>
                  <a:tcPr anchor="ctr" marL="114300" marR="114300">
                    <a:solidFill>
                      <a:srgbClr val="FFFFFF"/>
                    </a:solidFill>
                  </a:tcPr>
                </a:tc>
                <a:tc>
                  <a:txBody>
                    <a:bodyPr/>
                    <a:lstStyle/>
                    <a:p>
                      <a:pPr algn="ctr"/>
                      <a:r>
                        <a:rPr sz="2100" b="0">
                          <a:solidFill>
                            <a:srgbClr val="1F2933"/>
                          </a:solidFill>
                          <a:latin typeface="Segoe UI"/>
                        </a:rPr>
                        <a:t>213</a:t>
                      </a:r>
                    </a:p>
                  </a:txBody>
                  <a:tcPr anchor="ctr" marL="114300" marR="114300">
                    <a:solidFill>
                      <a:srgbClr val="FFFFFF"/>
                    </a:solidFill>
                  </a:tcPr>
                </a:tc>
                <a:tc>
                  <a:txBody>
                    <a:bodyPr/>
                    <a:lstStyle/>
                    <a:p>
                      <a:pPr algn="ctr"/>
                      <a:r>
                        <a:rPr sz="2100" b="0">
                          <a:solidFill>
                            <a:srgbClr val="1F2933"/>
                          </a:solidFill>
                          <a:latin typeface="Segoe UI"/>
                        </a:rPr>
                        <a:t>518</a:t>
                      </a:r>
                    </a:p>
                  </a:txBody>
                  <a:tcPr anchor="ctr" marL="114300" marR="114300">
                    <a:solidFill>
                      <a:srgbClr val="FFFFFF"/>
                    </a:solidFill>
                  </a:tcPr>
                </a:tc>
                <a:tc>
                  <a:txBody>
                    <a:bodyPr/>
                    <a:lstStyle/>
                    <a:p>
                      <a:pPr algn="ctr"/>
                      <a:r>
                        <a:rPr sz="2100" b="0">
                          <a:solidFill>
                            <a:srgbClr val="1F2933"/>
                          </a:solidFill>
                          <a:latin typeface="Segoe UI"/>
                        </a:rPr>
                        <a:t>141</a:t>
                      </a:r>
                    </a:p>
                  </a:txBody>
                  <a:tcPr anchor="ctr" marL="114300" marR="114300">
                    <a:solidFill>
                      <a:srgbClr val="FFFFFF"/>
                    </a:solidFill>
                  </a:tcPr>
                </a:tc>
                <a:tc>
                  <a:txBody>
                    <a:bodyPr/>
                    <a:lstStyle/>
                    <a:p>
                      <a:pPr algn="ctr"/>
                      <a:r>
                        <a:rPr sz="2100" b="0">
                          <a:solidFill>
                            <a:srgbClr val="1F2933"/>
                          </a:solidFill>
                          <a:latin typeface="Segoe UI"/>
                        </a:rPr>
                        <a:t>70</a:t>
                      </a:r>
                    </a:p>
                  </a:txBody>
                  <a:tcPr anchor="ctr" marL="114300" marR="114300">
                    <a:solidFill>
                      <a:srgbClr val="FFFFFF"/>
                    </a:solidFill>
                  </a:tcPr>
                </a:tc>
              </a:tr>
              <a:tr h="628650">
                <a:tc>
                  <a:txBody>
                    <a:bodyPr/>
                    <a:lstStyle/>
                    <a:p>
                      <a:pPr algn="l"/>
                      <a:r>
                        <a:rPr sz="2100" b="0">
                          <a:solidFill>
                            <a:srgbClr val="1F2933"/>
                          </a:solidFill>
                          <a:latin typeface="Segoe UI"/>
                        </a:rPr>
                        <a:t>Raw scan</a:t>
                      </a:r>
                    </a:p>
                  </a:txBody>
                  <a:tcPr anchor="ctr" marL="114300" marR="114300">
                    <a:solidFill>
                      <a:srgbClr val="EEF0F2"/>
                    </a:solidFill>
                  </a:tcPr>
                </a:tc>
                <a:tc>
                  <a:txBody>
                    <a:bodyPr/>
                    <a:lstStyle/>
                    <a:p>
                      <a:pPr algn="ctr"/>
                      <a:r>
                        <a:rPr sz="2100" b="0">
                          <a:solidFill>
                            <a:srgbClr val="1F2933"/>
                          </a:solidFill>
                          <a:latin typeface="Segoe UI"/>
                        </a:rPr>
                        <a:t>0.30</a:t>
                      </a:r>
                    </a:p>
                  </a:txBody>
                  <a:tcPr anchor="ctr" marL="114300" marR="114300">
                    <a:solidFill>
                      <a:srgbClr val="EEF0F2"/>
                    </a:solidFill>
                  </a:tcPr>
                </a:tc>
                <a:tc>
                  <a:txBody>
                    <a:bodyPr/>
                    <a:lstStyle/>
                    <a:p>
                      <a:pPr algn="ctr"/>
                      <a:r>
                        <a:rPr sz="2100" b="0">
                          <a:solidFill>
                            <a:srgbClr val="1F2933"/>
                          </a:solidFill>
                          <a:latin typeface="Segoe UI"/>
                        </a:rPr>
                        <a:t>0.07</a:t>
                      </a:r>
                    </a:p>
                  </a:txBody>
                  <a:tcPr anchor="ctr" marL="114300" marR="114300">
                    <a:solidFill>
                      <a:srgbClr val="EEF0F2"/>
                    </a:solidFill>
                  </a:tcPr>
                </a:tc>
                <a:tc>
                  <a:txBody>
                    <a:bodyPr/>
                    <a:lstStyle/>
                    <a:p>
                      <a:pPr algn="ctr"/>
                      <a:r>
                        <a:rPr sz="2100" b="0">
                          <a:solidFill>
                            <a:srgbClr val="1F2933"/>
                          </a:solidFill>
                          <a:latin typeface="Segoe UI"/>
                        </a:rPr>
                        <a:t>0.20</a:t>
                      </a:r>
                    </a:p>
                  </a:txBody>
                  <a:tcPr anchor="ctr" marL="114300" marR="114300">
                    <a:solidFill>
                      <a:srgbClr val="EEF0F2"/>
                    </a:solidFill>
                  </a:tcPr>
                </a:tc>
                <a:tc>
                  <a:txBody>
                    <a:bodyPr/>
                    <a:lstStyle/>
                    <a:p>
                      <a:pPr algn="ctr"/>
                      <a:r>
                        <a:rPr sz="2100" b="0">
                          <a:solidFill>
                            <a:srgbClr val="1F2933"/>
                          </a:solidFill>
                          <a:latin typeface="Segoe UI"/>
                        </a:rPr>
                        <a:t>0.13</a:t>
                      </a:r>
                    </a:p>
                  </a:txBody>
                  <a:tcPr anchor="ctr" marL="114300" marR="114300">
                    <a:solidFill>
                      <a:srgbClr val="EEF0F2"/>
                    </a:solidFill>
                  </a:tcPr>
                </a:tc>
                <a:tc>
                  <a:txBody>
                    <a:bodyPr/>
                    <a:lstStyle/>
                    <a:p>
                      <a:pPr algn="ctr"/>
                      <a:r>
                        <a:rPr sz="2100" b="0">
                          <a:solidFill>
                            <a:srgbClr val="1F2933"/>
                          </a:solidFill>
                          <a:latin typeface="Segoe UI"/>
                        </a:rPr>
                        <a:t>0.24</a:t>
                      </a:r>
                    </a:p>
                  </a:txBody>
                  <a:tcPr anchor="ctr" marL="114300" marR="114300">
                    <a:solidFill>
                      <a:srgbClr val="EEF0F2"/>
                    </a:solidFill>
                  </a:tcPr>
                </a:tc>
                <a:tc>
                  <a:txBody>
                    <a:bodyPr/>
                    <a:lstStyle/>
                    <a:p>
                      <a:pPr algn="ctr"/>
                      <a:r>
                        <a:rPr sz="2100" b="0">
                          <a:solidFill>
                            <a:srgbClr val="1F2933"/>
                          </a:solidFill>
                          <a:latin typeface="Segoe UI"/>
                        </a:rPr>
                        <a:t>0.33</a:t>
                      </a:r>
                    </a:p>
                  </a:txBody>
                  <a:tcPr anchor="ctr" marL="114300" marR="114300">
                    <a:solidFill>
                      <a:srgbClr val="EEF0F2"/>
                    </a:solidFill>
                  </a:tcPr>
                </a:tc>
                <a:tc>
                  <a:txBody>
                    <a:bodyPr/>
                    <a:lstStyle/>
                    <a:p>
                      <a:pPr algn="ctr"/>
                      <a:r>
                        <a:rPr sz="2100" b="0">
                          <a:solidFill>
                            <a:srgbClr val="1F2933"/>
                          </a:solidFill>
                          <a:latin typeface="Segoe UI"/>
                        </a:rPr>
                        <a:t>0.11</a:t>
                      </a:r>
                    </a:p>
                  </a:txBody>
                  <a:tcPr anchor="ctr" marL="114300" marR="114300">
                    <a:solidFill>
                      <a:srgbClr val="EEF0F2"/>
                    </a:solidFill>
                  </a:tcPr>
                </a:tc>
                <a:tc>
                  <a:txBody>
                    <a:bodyPr/>
                    <a:lstStyle/>
                    <a:p>
                      <a:pPr algn="ctr"/>
                      <a:r>
                        <a:rPr sz="2100" b="0">
                          <a:solidFill>
                            <a:srgbClr val="1F2933"/>
                          </a:solidFill>
                          <a:latin typeface="Segoe UI"/>
                        </a:rPr>
                        <a:t>0.26</a:t>
                      </a:r>
                    </a:p>
                  </a:txBody>
                  <a:tcPr anchor="ctr" marL="114300" marR="114300">
                    <a:solidFill>
                      <a:srgbClr val="EEF0F2"/>
                    </a:solidFill>
                  </a:tcPr>
                </a:tc>
                <a:tc>
                  <a:txBody>
                    <a:bodyPr/>
                    <a:lstStyle/>
                    <a:p>
                      <a:pPr algn="ctr"/>
                      <a:r>
                        <a:rPr sz="2100" b="0">
                          <a:solidFill>
                            <a:srgbClr val="1F2933"/>
                          </a:solidFill>
                          <a:latin typeface="Segoe UI"/>
                        </a:rPr>
                        <a:t>0.31</a:t>
                      </a:r>
                    </a:p>
                  </a:txBody>
                  <a:tcPr anchor="ctr" marL="114300" marR="114300">
                    <a:solidFill>
                      <a:srgbClr val="EEF0F2"/>
                    </a:solidFill>
                  </a:tcPr>
                </a:tc>
                <a:tc>
                  <a:txBody>
                    <a:bodyPr/>
                    <a:lstStyle/>
                    <a:p>
                      <a:pPr algn="ctr"/>
                      <a:r>
                        <a:rPr sz="2100" b="0">
                          <a:solidFill>
                            <a:srgbClr val="1F2933"/>
                          </a:solidFill>
                          <a:latin typeface="Segoe UI"/>
                        </a:rPr>
                        <a:t>0.13</a:t>
                      </a:r>
                    </a:p>
                  </a:txBody>
                  <a:tcPr anchor="ctr" marL="114300" marR="114300">
                    <a:solidFill>
                      <a:srgbClr val="EEF0F2"/>
                    </a:solidFill>
                  </a:tcPr>
                </a:tc>
                <a:tc>
                  <a:txBody>
                    <a:bodyPr/>
                    <a:lstStyle/>
                    <a:p>
                      <a:pPr algn="ctr"/>
                      <a:r>
                        <a:rPr sz="2100" b="0">
                          <a:solidFill>
                            <a:srgbClr val="1F2933"/>
                          </a:solidFill>
                          <a:latin typeface="Segoe UI"/>
                        </a:rPr>
                        <a:t>0.03</a:t>
                      </a:r>
                    </a:p>
                  </a:txBody>
                  <a:tcPr anchor="ctr" marL="114300" marR="114300">
                    <a:solidFill>
                      <a:srgbClr val="EEF0F2"/>
                    </a:solidFill>
                  </a:tcPr>
                </a:tc>
              </a:tr>
              <a:tr h="628650">
                <a:tc>
                  <a:txBody>
                    <a:bodyPr/>
                    <a:lstStyle/>
                    <a:p>
                      <a:pPr algn="l"/>
                      <a:r>
                        <a:rPr sz="2100" b="1">
                          <a:solidFill>
                            <a:srgbClr val="1F2933"/>
                          </a:solidFill>
                          <a:latin typeface="Segoe UI"/>
                        </a:rPr>
                        <a:t>Completed</a:t>
                      </a:r>
                    </a:p>
                  </a:txBody>
                  <a:tcPr anchor="ctr" marL="114300" marR="114300">
                    <a:solidFill>
                      <a:srgbClr val="FFFFFF"/>
                    </a:solidFill>
                  </a:tcPr>
                </a:tc>
                <a:tc>
                  <a:txBody>
                    <a:bodyPr/>
                    <a:lstStyle/>
                    <a:p>
                      <a:pPr algn="ctr"/>
                      <a:r>
                        <a:rPr sz="2100" b="1">
                          <a:solidFill>
                            <a:srgbClr val="1F2933"/>
                          </a:solidFill>
                          <a:latin typeface="Segoe UI"/>
                        </a:rPr>
                        <a:t>0.78</a:t>
                      </a:r>
                    </a:p>
                  </a:txBody>
                  <a:tcPr anchor="ctr" marL="114300" marR="114300">
                    <a:solidFill>
                      <a:srgbClr val="FFFFFF"/>
                    </a:solidFill>
                  </a:tcPr>
                </a:tc>
                <a:tc>
                  <a:txBody>
                    <a:bodyPr/>
                    <a:lstStyle/>
                    <a:p>
                      <a:pPr algn="ctr"/>
                      <a:r>
                        <a:rPr sz="2100" b="1">
                          <a:solidFill>
                            <a:srgbClr val="1F2933"/>
                          </a:solidFill>
                          <a:latin typeface="Segoe UI"/>
                        </a:rPr>
                        <a:t>0.89</a:t>
                      </a:r>
                    </a:p>
                  </a:txBody>
                  <a:tcPr anchor="ctr" marL="114300" marR="114300">
                    <a:solidFill>
                      <a:srgbClr val="FFFFFF"/>
                    </a:solidFill>
                  </a:tcPr>
                </a:tc>
                <a:tc>
                  <a:txBody>
                    <a:bodyPr/>
                    <a:lstStyle/>
                    <a:p>
                      <a:pPr algn="ctr"/>
                      <a:r>
                        <a:rPr sz="2100" b="1">
                          <a:solidFill>
                            <a:srgbClr val="1F2933"/>
                          </a:solidFill>
                          <a:latin typeface="Segoe UI"/>
                        </a:rPr>
                        <a:t>0.82</a:t>
                      </a:r>
                    </a:p>
                  </a:txBody>
                  <a:tcPr anchor="ctr" marL="114300" marR="114300">
                    <a:solidFill>
                      <a:srgbClr val="FFFFFF"/>
                    </a:solidFill>
                  </a:tcPr>
                </a:tc>
                <a:tc>
                  <a:txBody>
                    <a:bodyPr/>
                    <a:lstStyle/>
                    <a:p>
                      <a:pPr algn="ctr"/>
                      <a:r>
                        <a:rPr sz="2100" b="1">
                          <a:solidFill>
                            <a:srgbClr val="1F2933"/>
                          </a:solidFill>
                          <a:latin typeface="Segoe UI"/>
                        </a:rPr>
                        <a:t>0.65</a:t>
                      </a:r>
                    </a:p>
                  </a:txBody>
                  <a:tcPr anchor="ctr" marL="114300" marR="114300">
                    <a:solidFill>
                      <a:srgbClr val="FFFFFF"/>
                    </a:solidFill>
                  </a:tcPr>
                </a:tc>
                <a:tc>
                  <a:txBody>
                    <a:bodyPr/>
                    <a:lstStyle/>
                    <a:p>
                      <a:pPr algn="ctr"/>
                      <a:r>
                        <a:rPr sz="2100" b="1">
                          <a:solidFill>
                            <a:srgbClr val="1F2933"/>
                          </a:solidFill>
                          <a:latin typeface="Segoe UI"/>
                        </a:rPr>
                        <a:t>0.86</a:t>
                      </a:r>
                    </a:p>
                  </a:txBody>
                  <a:tcPr anchor="ctr" marL="114300" marR="114300">
                    <a:solidFill>
                      <a:srgbClr val="FFFFFF"/>
                    </a:solidFill>
                  </a:tcPr>
                </a:tc>
                <a:tc>
                  <a:txBody>
                    <a:bodyPr/>
                    <a:lstStyle/>
                    <a:p>
                      <a:pPr algn="ctr"/>
                      <a:r>
                        <a:rPr sz="2100" b="1">
                          <a:solidFill>
                            <a:srgbClr val="1F2933"/>
                          </a:solidFill>
                          <a:latin typeface="Segoe UI"/>
                        </a:rPr>
                        <a:t>0.74</a:t>
                      </a:r>
                    </a:p>
                  </a:txBody>
                  <a:tcPr anchor="ctr" marL="114300" marR="114300">
                    <a:solidFill>
                      <a:srgbClr val="FFFFFF"/>
                    </a:solidFill>
                  </a:tcPr>
                </a:tc>
                <a:tc>
                  <a:txBody>
                    <a:bodyPr/>
                    <a:lstStyle/>
                    <a:p>
                      <a:pPr algn="ctr"/>
                      <a:r>
                        <a:rPr sz="2100" b="1">
                          <a:solidFill>
                            <a:srgbClr val="1F2933"/>
                          </a:solidFill>
                          <a:latin typeface="Segoe UI"/>
                        </a:rPr>
                        <a:t>0.86</a:t>
                      </a:r>
                    </a:p>
                  </a:txBody>
                  <a:tcPr anchor="ctr" marL="114300" marR="114300">
                    <a:solidFill>
                      <a:srgbClr val="FFFFFF"/>
                    </a:solidFill>
                  </a:tcPr>
                </a:tc>
                <a:tc>
                  <a:txBody>
                    <a:bodyPr/>
                    <a:lstStyle/>
                    <a:p>
                      <a:pPr algn="ctr"/>
                      <a:r>
                        <a:rPr sz="2100" b="1">
                          <a:solidFill>
                            <a:srgbClr val="1F2933"/>
                          </a:solidFill>
                          <a:latin typeface="Segoe UI"/>
                        </a:rPr>
                        <a:t>0.72</a:t>
                      </a:r>
                    </a:p>
                  </a:txBody>
                  <a:tcPr anchor="ctr" marL="114300" marR="114300">
                    <a:solidFill>
                      <a:srgbClr val="FFFFFF"/>
                    </a:solidFill>
                  </a:tcPr>
                </a:tc>
                <a:tc>
                  <a:txBody>
                    <a:bodyPr/>
                    <a:lstStyle/>
                    <a:p>
                      <a:pPr algn="ctr"/>
                      <a:r>
                        <a:rPr sz="2100" b="1">
                          <a:solidFill>
                            <a:srgbClr val="1F2933"/>
                          </a:solidFill>
                          <a:latin typeface="Segoe UI"/>
                        </a:rPr>
                        <a:t>0.80</a:t>
                      </a:r>
                    </a:p>
                  </a:txBody>
                  <a:tcPr anchor="ctr" marL="114300" marR="114300">
                    <a:solidFill>
                      <a:srgbClr val="FFFFFF"/>
                    </a:solidFill>
                  </a:tcPr>
                </a:tc>
                <a:tc>
                  <a:txBody>
                    <a:bodyPr/>
                    <a:lstStyle/>
                    <a:p>
                      <a:pPr algn="ctr"/>
                      <a:r>
                        <a:rPr sz="2100" b="1">
                          <a:solidFill>
                            <a:srgbClr val="1F2933"/>
                          </a:solidFill>
                          <a:latin typeface="Segoe UI"/>
                        </a:rPr>
                        <a:t>0.70</a:t>
                      </a:r>
                    </a:p>
                  </a:txBody>
                  <a:tcPr anchor="ctr" marL="114300" marR="114300">
                    <a:solidFill>
                      <a:srgbClr val="FFFFFF"/>
                    </a:solidFill>
                  </a:tcPr>
                </a:tc>
                <a:tc>
                  <a:txBody>
                    <a:bodyPr/>
                    <a:lstStyle/>
                    <a:p>
                      <a:pPr algn="ctr"/>
                      <a:r>
                        <a:rPr sz="2100" b="1">
                          <a:solidFill>
                            <a:srgbClr val="1F2933"/>
                          </a:solidFill>
                          <a:latin typeface="Segoe UI"/>
                        </a:rPr>
                        <a:t>0.83</a:t>
                      </a:r>
                    </a:p>
                  </a:txBody>
                  <a:tcPr anchor="ctr" marL="114300" marR="114300">
                    <a:solidFill>
                      <a:srgbClr val="FFFFFF"/>
                    </a:solidFill>
                  </a:tcPr>
                </a:tc>
              </a:tr>
            </a:tbl>
          </a:graphicData>
        </a:graphic>
      </p:graphicFrame>
      <p:sp>
        <p:nvSpPr>
          <p:cNvPr id="5" name="TextBox 4"/>
          <p:cNvSpPr txBox="1"/>
          <p:nvPr/>
        </p:nvSpPr>
        <p:spPr>
          <a:xfrm>
            <a:off x="1143000" y="4743450"/>
            <a:ext cx="16002000" cy="381000"/>
          </a:xfrm>
          <a:prstGeom prst="rect">
            <a:avLst/>
          </a:prstGeom>
          <a:noFill/>
        </p:spPr>
        <p:txBody>
          <a:bodyPr wrap="square" anchor="t" lIns="0" rIns="0" tIns="0" bIns="0">
            <a:spAutoFit/>
          </a:bodyPr>
          <a:lstStyle/>
          <a:p>
            <a:pPr algn="l">
              <a:spcAft>
                <a:spcPts val="0"/>
              </a:spcAft>
            </a:pPr>
            <a:r>
              <a:rPr sz="2000" b="0" i="1">
                <a:solidFill>
                  <a:srgbClr val="6B7280"/>
                </a:solidFill>
                <a:latin typeface="Segoe UI"/>
              </a:rPr>
              <a:t>Acceptance by sequence. The completion constants were set on seq 08; the gain holds on all eleven.</a:t>
            </a:r>
          </a:p>
        </p:txBody>
      </p:sp>
      <p:sp>
        <p:nvSpPr>
          <p:cNvPr id="6" name="Rectangle 5"/>
          <p:cNvSpPr/>
          <p:nvPr/>
        </p:nvSpPr>
        <p:spPr>
          <a:xfrm>
            <a:off x="11430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7160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Paired test</a:t>
            </a:r>
          </a:p>
          <a:p>
            <a:pPr algn="l">
              <a:spcAft>
                <a:spcPts val="0"/>
              </a:spcAft>
            </a:pPr>
            <a:r>
              <a:rPr sz="2200" b="0" i="0">
                <a:solidFill>
                  <a:srgbClr val="1F2933"/>
                </a:solidFill>
                <a:latin typeface="Segoe UI"/>
              </a:rPr>
              <a:t>1,615 cars flip to accepted, 115 the other way (McNemar p ≈ 0)</a:t>
            </a:r>
          </a:p>
        </p:txBody>
      </p:sp>
      <p:sp>
        <p:nvSpPr>
          <p:cNvPr id="8" name="Rectangle 7"/>
          <p:cNvSpPr/>
          <p:nvPr/>
        </p:nvSpPr>
        <p:spPr>
          <a:xfrm>
            <a:off x="52387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6735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Moving cars</a:t>
            </a:r>
          </a:p>
          <a:p>
            <a:pPr algn="l">
              <a:spcAft>
                <a:spcPts val="0"/>
              </a:spcAft>
            </a:pPr>
            <a:r>
              <a:rPr sz="2200" b="0" i="0">
                <a:solidFill>
                  <a:srgbClr val="1F2933"/>
                </a:solidFill>
                <a:latin typeface="Segoe UI"/>
              </a:rPr>
              <a:t>accepted 0.837 (602 tracks): as plausible as parked ones</a:t>
            </a:r>
          </a:p>
        </p:txBody>
      </p:sp>
      <p:sp>
        <p:nvSpPr>
          <p:cNvPr id="10" name="Rectangle 9"/>
          <p:cNvSpPr/>
          <p:nvPr/>
        </p:nvSpPr>
        <p:spPr>
          <a:xfrm>
            <a:off x="933450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6310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Front and back swapped</a:t>
            </a:r>
          </a:p>
          <a:p>
            <a:pPr algn="l">
              <a:spcAft>
                <a:spcPts val="0"/>
              </a:spcAft>
            </a:pPr>
            <a:r>
              <a:rPr sz="2200" b="0" i="0">
                <a:solidFill>
                  <a:srgbClr val="1F2933"/>
                </a:solidFill>
                <a:latin typeface="Segoe UI"/>
              </a:rPr>
              <a:t>acceptance changes by only 0.009</a:t>
            </a:r>
          </a:p>
        </p:txBody>
      </p:sp>
      <p:sp>
        <p:nvSpPr>
          <p:cNvPr id="12" name="Rectangle 11"/>
          <p:cNvSpPr/>
          <p:nvPr/>
        </p:nvSpPr>
        <p:spPr>
          <a:xfrm>
            <a:off x="13430250" y="6210300"/>
            <a:ext cx="3714750" cy="2095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658850" y="6381750"/>
            <a:ext cx="3257550" cy="17526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Not just density</a:t>
            </a:r>
          </a:p>
          <a:p>
            <a:pPr algn="l">
              <a:spcAft>
                <a:spcPts val="0"/>
              </a:spcAft>
            </a:pPr>
            <a:r>
              <a:rPr sz="2200" b="0" i="0">
                <a:solidFill>
                  <a:srgbClr val="1F2933"/>
                </a:solidFill>
                <a:latin typeface="Segoe UI"/>
              </a:rPr>
              <a:t>parked cars: car probability 0.730 vs dense reference 0.728</a:t>
            </a:r>
          </a:p>
        </p:txBody>
      </p:sp>
      <p:sp>
        <p:nvSpPr>
          <p:cNvPr id="14" name="Rectangle 1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6" name="TextBox 15"/>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3.4.5 COMPLETION RESULT ANALYSIS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What the completion evidence shows, and what it does not claim.</a:t>
            </a:r>
          </a:p>
        </p:txBody>
      </p:sp>
      <p:sp>
        <p:nvSpPr>
          <p:cNvPr id="4" name="TextBox 3"/>
          <p:cNvSpPr txBox="1"/>
          <p:nvPr/>
        </p:nvSpPr>
        <p:spPr>
          <a:xfrm>
            <a:off x="11430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Distance to the scan itself (seq 08, 39 cars)</a:t>
            </a:r>
          </a:p>
        </p:txBody>
      </p:sp>
      <p:graphicFrame>
        <p:nvGraphicFramePr>
          <p:cNvPr id="5" name="Table 4"/>
          <p:cNvGraphicFramePr>
            <a:graphicFrameLocks noGrp="1"/>
          </p:cNvGraphicFramePr>
          <p:nvPr/>
        </p:nvGraphicFramePr>
        <p:xfrm>
          <a:off x="1143000" y="2762250"/>
          <a:ext cx="7810500" cy="2743200"/>
        </p:xfrm>
        <a:graphic>
          <a:graphicData uri="http://schemas.openxmlformats.org/drawingml/2006/table">
            <a:tbl>
              <a:tblPr firstRow="1" bandRow="1">
                <a:tableStyleId>{5C22544A-7EE6-4342-B048-85BDC9FD1C3A}</a:tableStyleId>
              </a:tblPr>
              <a:tblGrid>
                <a:gridCol w="3124200"/>
                <a:gridCol w="2147888"/>
                <a:gridCol w="2538412"/>
              </a:tblGrid>
              <a:tr h="685800">
                <a:tc>
                  <a:txBody>
                    <a:bodyPr/>
                    <a:lstStyle/>
                    <a:p>
                      <a:pPr algn="l"/>
                      <a:r>
                        <a:rPr sz="2200" b="1">
                          <a:solidFill>
                            <a:srgbClr val="FFFFFF"/>
                          </a:solidFill>
                          <a:latin typeface="Segoe UI"/>
                        </a:rPr>
                        <a:t>Cloud</a:t>
                      </a:r>
                    </a:p>
                  </a:txBody>
                  <a:tcPr anchor="ctr" marL="114300" marR="114300">
                    <a:solidFill>
                      <a:srgbClr val="1F2933"/>
                    </a:solidFill>
                  </a:tcPr>
                </a:tc>
                <a:tc>
                  <a:txBody>
                    <a:bodyPr/>
                    <a:lstStyle/>
                    <a:p>
                      <a:pPr algn="ctr"/>
                      <a:r>
                        <a:rPr sz="2200" b="1">
                          <a:solidFill>
                            <a:srgbClr val="FFFFFF"/>
                          </a:solidFill>
                          <a:latin typeface="Segoe UI"/>
                        </a:rPr>
                        <a:t>UCD (m) ↓</a:t>
                      </a:r>
                    </a:p>
                  </a:txBody>
                  <a:tcPr anchor="ctr" marL="114300" marR="114300">
                    <a:solidFill>
                      <a:srgbClr val="1F2933"/>
                    </a:solidFill>
                  </a:tcPr>
                </a:tc>
                <a:tc>
                  <a:txBody>
                    <a:bodyPr/>
                    <a:lstStyle/>
                    <a:p>
                      <a:pPr algn="ctr"/>
                      <a:r>
                        <a:rPr sz="2200" b="1">
                          <a:solidFill>
                            <a:srgbClr val="FFFFFF"/>
                          </a:solidFill>
                          <a:latin typeface="Segoe UI"/>
                        </a:rPr>
                        <a:t>UHD max (m) ↓</a:t>
                      </a:r>
                    </a:p>
                  </a:txBody>
                  <a:tcPr anchor="ctr" marL="114300" marR="114300">
                    <a:solidFill>
                      <a:srgbClr val="1F2933"/>
                    </a:solidFill>
                  </a:tcPr>
                </a:tc>
              </a:tr>
              <a:tr h="685800">
                <a:tc>
                  <a:txBody>
                    <a:bodyPr/>
                    <a:lstStyle/>
                    <a:p>
                      <a:pPr algn="l"/>
                      <a:r>
                        <a:rPr sz="2200" b="0">
                          <a:solidFill>
                            <a:srgbClr val="1F2933"/>
                          </a:solidFill>
                          <a:latin typeface="Segoe UI"/>
                        </a:rPr>
                        <a:t>Raw scan</a:t>
                      </a:r>
                    </a:p>
                  </a:txBody>
                  <a:tcPr anchor="ctr" marL="114300" marR="114300">
                    <a:solidFill>
                      <a:srgbClr val="FFFFFF"/>
                    </a:solidFill>
                  </a:tcPr>
                </a:tc>
                <a:tc>
                  <a:txBody>
                    <a:bodyPr/>
                    <a:lstStyle/>
                    <a:p>
                      <a:pPr algn="ctr"/>
                      <a:r>
                        <a:rPr sz="2200" b="0">
                          <a:solidFill>
                            <a:srgbClr val="1F2933"/>
                          </a:solidFill>
                          <a:latin typeface="Segoe UI"/>
                        </a:rPr>
                        <a:t>0.000</a:t>
                      </a:r>
                    </a:p>
                  </a:txBody>
                  <a:tcPr anchor="ctr" marL="114300" marR="114300">
                    <a:solidFill>
                      <a:srgbClr val="FFFFFF"/>
                    </a:solidFill>
                  </a:tcPr>
                </a:tc>
                <a:tc>
                  <a:txBody>
                    <a:bodyPr/>
                    <a:lstStyle/>
                    <a:p>
                      <a:pPr algn="ctr"/>
                      <a:r>
                        <a:rPr sz="2200" b="0">
                          <a:solidFill>
                            <a:srgbClr val="1F2933"/>
                          </a:solidFill>
                          <a:latin typeface="Segoe UI"/>
                        </a:rPr>
                        <a:t>0.000</a:t>
                      </a:r>
                    </a:p>
                  </a:txBody>
                  <a:tcPr anchor="ctr" marL="114300" marR="114300">
                    <a:solidFill>
                      <a:srgbClr val="FFFFFF"/>
                    </a:solidFill>
                  </a:tcPr>
                </a:tc>
              </a:tr>
              <a:tr h="685800">
                <a:tc>
                  <a:txBody>
                    <a:bodyPr/>
                    <a:lstStyle/>
                    <a:p>
                      <a:pPr algn="l"/>
                      <a:r>
                        <a:rPr sz="2200" b="0">
                          <a:solidFill>
                            <a:srgbClr val="1F2933"/>
                          </a:solidFill>
                          <a:latin typeface="Segoe UI"/>
                        </a:rPr>
                        <a:t>Mirrored scan</a:t>
                      </a:r>
                    </a:p>
                  </a:txBody>
                  <a:tcPr anchor="ctr" marL="114300" marR="114300">
                    <a:solidFill>
                      <a:srgbClr val="EEF0F2"/>
                    </a:solidFill>
                  </a:tcPr>
                </a:tc>
                <a:tc>
                  <a:txBody>
                    <a:bodyPr/>
                    <a:lstStyle/>
                    <a:p>
                      <a:pPr algn="ctr"/>
                      <a:r>
                        <a:rPr sz="2200" b="0">
                          <a:solidFill>
                            <a:srgbClr val="1F2933"/>
                          </a:solidFill>
                          <a:latin typeface="Segoe UI"/>
                        </a:rPr>
                        <a:t>0.000</a:t>
                      </a:r>
                    </a:p>
                  </a:txBody>
                  <a:tcPr anchor="ctr" marL="114300" marR="114300">
                    <a:solidFill>
                      <a:srgbClr val="EEF0F2"/>
                    </a:solidFill>
                  </a:tcPr>
                </a:tc>
                <a:tc>
                  <a:txBody>
                    <a:bodyPr/>
                    <a:lstStyle/>
                    <a:p>
                      <a:pPr algn="ctr"/>
                      <a:r>
                        <a:rPr sz="2200" b="0">
                          <a:solidFill>
                            <a:srgbClr val="1F2933"/>
                          </a:solidFill>
                          <a:latin typeface="Segoe UI"/>
                        </a:rPr>
                        <a:t>0.000</a:t>
                      </a:r>
                    </a:p>
                  </a:txBody>
                  <a:tcPr anchor="ctr" marL="114300" marR="114300">
                    <a:solidFill>
                      <a:srgbClr val="EEF0F2"/>
                    </a:solidFill>
                  </a:tcPr>
                </a:tc>
              </a:tr>
              <a:tr h="685800">
                <a:tc>
                  <a:txBody>
                    <a:bodyPr/>
                    <a:lstStyle/>
                    <a:p>
                      <a:pPr algn="l"/>
                      <a:r>
                        <a:rPr sz="2200" b="0">
                          <a:solidFill>
                            <a:srgbClr val="1F2933"/>
                          </a:solidFill>
                          <a:latin typeface="Segoe UI"/>
                        </a:rPr>
                        <a:t>Completed</a:t>
                      </a:r>
                    </a:p>
                  </a:txBody>
                  <a:tcPr anchor="ctr" marL="114300" marR="114300">
                    <a:solidFill>
                      <a:srgbClr val="FFFFFF"/>
                    </a:solidFill>
                  </a:tcPr>
                </a:tc>
                <a:tc>
                  <a:txBody>
                    <a:bodyPr/>
                    <a:lstStyle/>
                    <a:p>
                      <a:pPr algn="ctr"/>
                      <a:r>
                        <a:rPr sz="2200" b="0">
                          <a:solidFill>
                            <a:srgbClr val="1F2933"/>
                          </a:solidFill>
                          <a:latin typeface="Segoe UI"/>
                        </a:rPr>
                        <a:t>0.090</a:t>
                      </a:r>
                    </a:p>
                  </a:txBody>
                  <a:tcPr anchor="ctr" marL="114300" marR="114300">
                    <a:solidFill>
                      <a:srgbClr val="FFFFFF"/>
                    </a:solidFill>
                  </a:tcPr>
                </a:tc>
                <a:tc>
                  <a:txBody>
                    <a:bodyPr/>
                    <a:lstStyle/>
                    <a:p>
                      <a:pPr algn="ctr"/>
                      <a:r>
                        <a:rPr sz="2200" b="0">
                          <a:solidFill>
                            <a:srgbClr val="1F2933"/>
                          </a:solidFill>
                          <a:latin typeface="Segoe UI"/>
                        </a:rPr>
                        <a:t>0.286</a:t>
                      </a:r>
                    </a:p>
                  </a:txBody>
                  <a:tcPr anchor="ctr" marL="114300" marR="114300">
                    <a:solidFill>
                      <a:srgbClr val="FFFFFF"/>
                    </a:solidFill>
                  </a:tcPr>
                </a:tc>
              </a:tr>
            </a:tbl>
          </a:graphicData>
        </a:graphic>
      </p:graphicFrame>
      <p:sp>
        <p:nvSpPr>
          <p:cNvPr id="6" name="TextBox 5"/>
          <p:cNvSpPr txBox="1"/>
          <p:nvPr/>
        </p:nvSpPr>
        <p:spPr>
          <a:xfrm>
            <a:off x="1143000" y="5734050"/>
            <a:ext cx="7810500" cy="2476500"/>
          </a:xfrm>
          <a:prstGeom prst="rect">
            <a:avLst/>
          </a:prstGeom>
          <a:noFill/>
        </p:spPr>
        <p:txBody>
          <a:bodyPr wrap="square" anchor="t" lIns="0" rIns="0" tIns="0" bIns="0">
            <a:spAutoFit/>
          </a:bodyPr>
          <a:lstStyle/>
          <a:p>
            <a:pPr algn="l">
              <a:spcAft>
                <a:spcPts val="1200"/>
              </a:spcAft>
            </a:pPr>
            <a:r>
              <a:rPr sz="2200" b="0" i="0">
                <a:solidFill>
                  <a:srgbClr val="1F2933"/>
                </a:solidFill>
                <a:latin typeface="Segoe UI"/>
              </a:rPr>
              <a:t>Any cloud that contains the scan scores a perfect 0, so these metrics cannot credit the hidden side.</a:t>
            </a:r>
          </a:p>
          <a:p>
            <a:pPr algn="l">
              <a:spcAft>
                <a:spcPts val="1200"/>
              </a:spcAft>
            </a:pPr>
            <a:r>
              <a:rPr sz="2200" b="0" i="0">
                <a:solidFill>
                  <a:srgbClr val="1F2933"/>
                </a:solidFill>
                <a:latin typeface="Segoe UI"/>
              </a:rPr>
              <a:t>Hence the independent judge (slide 36).</a:t>
            </a:r>
          </a:p>
        </p:txBody>
      </p:sp>
      <p:sp>
        <p:nvSpPr>
          <p:cNvPr id="7" name="Rectangle 6"/>
          <p:cNvSpPr/>
          <p:nvPr/>
        </p:nvSpPr>
        <p:spPr>
          <a:xfrm>
            <a:off x="9334500" y="20955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63100" y="226695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Plausible</a:t>
            </a:r>
          </a:p>
          <a:p>
            <a:pPr algn="l">
              <a:spcAft>
                <a:spcPts val="0"/>
              </a:spcAft>
            </a:pPr>
            <a:r>
              <a:rPr sz="2200" b="0" i="0">
                <a:solidFill>
                  <a:srgbClr val="1F2933"/>
                </a:solidFill>
                <a:latin typeface="Segoe UI"/>
              </a:rPr>
              <a:t>Acceptance 0.253 → 0.785, on every sequence, moving and parked cars.</a:t>
            </a:r>
          </a:p>
        </p:txBody>
      </p:sp>
      <p:sp>
        <p:nvSpPr>
          <p:cNvPr id="9" name="Rectangle 8"/>
          <p:cNvSpPr/>
          <p:nvPr/>
        </p:nvSpPr>
        <p:spPr>
          <a:xfrm>
            <a:off x="9334500" y="454025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63100" y="471170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At the ceiling</a:t>
            </a:r>
          </a:p>
          <a:p>
            <a:pPr algn="l">
              <a:spcAft>
                <a:spcPts val="0"/>
              </a:spcAft>
            </a:pPr>
            <a:r>
              <a:rPr sz="2200" b="0" i="0">
                <a:solidFill>
                  <a:srgbClr val="1F2933"/>
                </a:solidFill>
                <a:latin typeface="Segoe UI"/>
              </a:rPr>
              <a:t>Accepted almost as often as dense multi-frame scans of parked cars: 0.785 vs 0.807.</a:t>
            </a:r>
          </a:p>
        </p:txBody>
      </p:sp>
      <p:sp>
        <p:nvSpPr>
          <p:cNvPr id="11" name="Rectangle 10"/>
          <p:cNvSpPr/>
          <p:nvPr/>
        </p:nvSpPr>
        <p:spPr>
          <a:xfrm>
            <a:off x="9334500" y="6985000"/>
            <a:ext cx="7810500" cy="21590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63100" y="7156450"/>
            <a:ext cx="7353300" cy="1816100"/>
          </a:xfrm>
          <a:prstGeom prst="rect">
            <a:avLst/>
          </a:prstGeom>
          <a:noFill/>
        </p:spPr>
        <p:txBody>
          <a:bodyPr wrap="square" anchor="ctr" lIns="0" rIns="0" tIns="0" bIns="0">
            <a:spAutoFit/>
          </a:bodyPr>
          <a:lstStyle/>
          <a:p>
            <a:pPr algn="l">
              <a:spcAft>
                <a:spcPts val="800"/>
              </a:spcAft>
            </a:pPr>
            <a:r>
              <a:rPr sz="2400" b="1" i="0">
                <a:solidFill>
                  <a:srgbClr val="1F2933"/>
                </a:solidFill>
                <a:latin typeface="Segoe UI"/>
              </a:rPr>
              <a:t>Scoped claim</a:t>
            </a:r>
          </a:p>
          <a:p>
            <a:pPr algn="l">
              <a:spcAft>
                <a:spcPts val="0"/>
              </a:spcAft>
            </a:pPr>
            <a:r>
              <a:rPr sz="2200" b="0" i="0">
                <a:solidFill>
                  <a:srgbClr val="1F2933"/>
                </a:solidFill>
                <a:latin typeface="Segoe UI"/>
              </a:rPr>
              <a:t>Plausible car shapes on real LiDAR; not exact geometry, which no real ground truth can score.</a:t>
            </a:r>
          </a:p>
        </p:txBody>
      </p:sp>
      <p:sp>
        <p:nvSpPr>
          <p:cNvPr id="13" name="Rectangle 12"/>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5" name="TextBox 1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3.5 RUNTIME EVALUATION</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3.5.1 RUNTIME BY STAGE</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 pipeline runs offline; the classical CPU stages dominate the time per scan.</a:t>
            </a:r>
          </a:p>
        </p:txBody>
      </p:sp>
      <p:graphicFrame>
        <p:nvGraphicFramePr>
          <p:cNvPr id="4" name="Table 3"/>
          <p:cNvGraphicFramePr>
            <a:graphicFrameLocks noGrp="1"/>
          </p:cNvGraphicFramePr>
          <p:nvPr/>
        </p:nvGraphicFramePr>
        <p:xfrm>
          <a:off x="1143000" y="2095500"/>
          <a:ext cx="9372600" cy="6686550"/>
        </p:xfrm>
        <a:graphic>
          <a:graphicData uri="http://schemas.openxmlformats.org/drawingml/2006/table">
            <a:tbl>
              <a:tblPr firstRow="1" bandRow="1">
                <a:tableStyleId>{5C22544A-7EE6-4342-B048-85BDC9FD1C3A}</a:tableStyleId>
              </a:tblPr>
              <a:tblGrid>
                <a:gridCol w="4890052"/>
                <a:gridCol w="2241274"/>
                <a:gridCol w="2241274"/>
              </a:tblGrid>
              <a:tr h="742950">
                <a:tc>
                  <a:txBody>
                    <a:bodyPr/>
                    <a:lstStyle/>
                    <a:p>
                      <a:pPr algn="l"/>
                      <a:r>
                        <a:rPr sz="2200" b="1">
                          <a:solidFill>
                            <a:srgbClr val="FFFFFF"/>
                          </a:solidFill>
                          <a:latin typeface="Segoe UI"/>
                        </a:rPr>
                        <a:t>Stage</a:t>
                      </a:r>
                    </a:p>
                  </a:txBody>
                  <a:tcPr anchor="ctr" marL="114300" marR="114300">
                    <a:solidFill>
                      <a:srgbClr val="1F2933"/>
                    </a:solidFill>
                  </a:tcPr>
                </a:tc>
                <a:tc>
                  <a:txBody>
                    <a:bodyPr/>
                    <a:lstStyle/>
                    <a:p>
                      <a:pPr algn="ctr"/>
                      <a:r>
                        <a:rPr sz="2200" b="1">
                          <a:solidFill>
                            <a:srgbClr val="FFFFFF"/>
                          </a:solidFill>
                          <a:latin typeface="Segoe UI"/>
                        </a:rPr>
                        <a:t>Mean (ms)</a:t>
                      </a:r>
                    </a:p>
                  </a:txBody>
                  <a:tcPr anchor="ctr" marL="114300" marR="114300">
                    <a:solidFill>
                      <a:srgbClr val="1F2933"/>
                    </a:solidFill>
                  </a:tcPr>
                </a:tc>
                <a:tc>
                  <a:txBody>
                    <a:bodyPr/>
                    <a:lstStyle/>
                    <a:p>
                      <a:pPr algn="ctr"/>
                      <a:r>
                        <a:rPr sz="2200" b="1">
                          <a:solidFill>
                            <a:srgbClr val="FFFFFF"/>
                          </a:solidFill>
                          <a:latin typeface="Segoe UI"/>
                        </a:rPr>
                        <a:t>Share</a:t>
                      </a:r>
                    </a:p>
                  </a:txBody>
                  <a:tcPr anchor="ctr" marL="114300" marR="114300">
                    <a:solidFill>
                      <a:srgbClr val="1F2933"/>
                    </a:solidFill>
                  </a:tcPr>
                </a:tc>
              </a:tr>
              <a:tr h="742950">
                <a:tc>
                  <a:txBody>
                    <a:bodyPr/>
                    <a:lstStyle/>
                    <a:p>
                      <a:pPr algn="l"/>
                      <a:r>
                        <a:rPr sz="2200" b="0">
                          <a:solidFill>
                            <a:srgbClr val="1F2933"/>
                          </a:solidFill>
                          <a:latin typeface="Segoe UI"/>
                        </a:rPr>
                        <a:t>Data load</a:t>
                      </a:r>
                    </a:p>
                  </a:txBody>
                  <a:tcPr anchor="ctr" marL="114300" marR="114300">
                    <a:solidFill>
                      <a:srgbClr val="FFFFFF"/>
                    </a:solidFill>
                  </a:tcPr>
                </a:tc>
                <a:tc>
                  <a:txBody>
                    <a:bodyPr/>
                    <a:lstStyle/>
                    <a:p>
                      <a:pPr algn="ctr"/>
                      <a:r>
                        <a:rPr sz="2200" b="0">
                          <a:solidFill>
                            <a:srgbClr val="1F2933"/>
                          </a:solidFill>
                          <a:latin typeface="Segoe UI"/>
                        </a:rPr>
                        <a:t>0.7</a:t>
                      </a:r>
                    </a:p>
                  </a:txBody>
                  <a:tcPr anchor="ctr" marL="114300" marR="114300">
                    <a:solidFill>
                      <a:srgbClr val="FFFFFF"/>
                    </a:solidFill>
                  </a:tcPr>
                </a:tc>
                <a:tc>
                  <a:txBody>
                    <a:bodyPr/>
                    <a:lstStyle/>
                    <a:p>
                      <a:pPr algn="ctr"/>
                      <a:r>
                        <a:rPr sz="2200" b="0">
                          <a:solidFill>
                            <a:srgbClr val="1F2933"/>
                          </a:solidFill>
                          <a:latin typeface="Segoe UI"/>
                        </a:rPr>
                        <a:t>0.1%</a:t>
                      </a:r>
                    </a:p>
                  </a:txBody>
                  <a:tcPr anchor="ctr" marL="114300" marR="114300">
                    <a:solidFill>
                      <a:srgbClr val="FFFFFF"/>
                    </a:solidFill>
                  </a:tcPr>
                </a:tc>
              </a:tr>
              <a:tr h="742950">
                <a:tc>
                  <a:txBody>
                    <a:bodyPr/>
                    <a:lstStyle/>
                    <a:p>
                      <a:pPr algn="l"/>
                      <a:r>
                        <a:rPr sz="2200" b="0">
                          <a:solidFill>
                            <a:srgbClr val="1F2933"/>
                          </a:solidFill>
                          <a:latin typeface="Segoe UI"/>
                        </a:rPr>
                        <a:t>Preprocessing</a:t>
                      </a:r>
                    </a:p>
                  </a:txBody>
                  <a:tcPr anchor="ctr" marL="114300" marR="114300">
                    <a:solidFill>
                      <a:srgbClr val="EEF0F2"/>
                    </a:solidFill>
                  </a:tcPr>
                </a:tc>
                <a:tc>
                  <a:txBody>
                    <a:bodyPr/>
                    <a:lstStyle/>
                    <a:p>
                      <a:pPr algn="ctr"/>
                      <a:r>
                        <a:rPr sz="2200" b="0">
                          <a:solidFill>
                            <a:srgbClr val="1F2933"/>
                          </a:solidFill>
                          <a:latin typeface="Segoe UI"/>
                        </a:rPr>
                        <a:t>125.9</a:t>
                      </a:r>
                    </a:p>
                  </a:txBody>
                  <a:tcPr anchor="ctr" marL="114300" marR="114300">
                    <a:solidFill>
                      <a:srgbClr val="EEF0F2"/>
                    </a:solidFill>
                  </a:tcPr>
                </a:tc>
                <a:tc>
                  <a:txBody>
                    <a:bodyPr/>
                    <a:lstStyle/>
                    <a:p>
                      <a:pPr algn="ctr"/>
                      <a:r>
                        <a:rPr sz="2200" b="0">
                          <a:solidFill>
                            <a:srgbClr val="1F2933"/>
                          </a:solidFill>
                          <a:latin typeface="Segoe UI"/>
                        </a:rPr>
                        <a:t>20.2%</a:t>
                      </a:r>
                    </a:p>
                  </a:txBody>
                  <a:tcPr anchor="ctr" marL="114300" marR="114300">
                    <a:solidFill>
                      <a:srgbClr val="EEF0F2"/>
                    </a:solidFill>
                  </a:tcPr>
                </a:tc>
              </a:tr>
              <a:tr h="742950">
                <a:tc>
                  <a:txBody>
                    <a:bodyPr/>
                    <a:lstStyle/>
                    <a:p>
                      <a:pPr algn="l"/>
                      <a:r>
                        <a:rPr sz="2200" b="0">
                          <a:solidFill>
                            <a:srgbClr val="1F2933"/>
                          </a:solidFill>
                          <a:latin typeface="Segoe UI"/>
                        </a:rPr>
                        <a:t>Ground removal (RANSAC)</a:t>
                      </a:r>
                    </a:p>
                  </a:txBody>
                  <a:tcPr anchor="ctr" marL="114300" marR="114300">
                    <a:solidFill>
                      <a:srgbClr val="FFFFFF"/>
                    </a:solidFill>
                  </a:tcPr>
                </a:tc>
                <a:tc>
                  <a:txBody>
                    <a:bodyPr/>
                    <a:lstStyle/>
                    <a:p>
                      <a:pPr algn="ctr"/>
                      <a:r>
                        <a:rPr sz="2200" b="0">
                          <a:solidFill>
                            <a:srgbClr val="1F2933"/>
                          </a:solidFill>
                          <a:latin typeface="Segoe UI"/>
                        </a:rPr>
                        <a:t>56.2</a:t>
                      </a:r>
                    </a:p>
                  </a:txBody>
                  <a:tcPr anchor="ctr" marL="114300" marR="114300">
                    <a:solidFill>
                      <a:srgbClr val="FFFFFF"/>
                    </a:solidFill>
                  </a:tcPr>
                </a:tc>
                <a:tc>
                  <a:txBody>
                    <a:bodyPr/>
                    <a:lstStyle/>
                    <a:p>
                      <a:pPr algn="ctr"/>
                      <a:r>
                        <a:rPr sz="2200" b="0">
                          <a:solidFill>
                            <a:srgbClr val="1F2933"/>
                          </a:solidFill>
                          <a:latin typeface="Segoe UI"/>
                        </a:rPr>
                        <a:t>9.0%</a:t>
                      </a:r>
                    </a:p>
                  </a:txBody>
                  <a:tcPr anchor="ctr" marL="114300" marR="114300">
                    <a:solidFill>
                      <a:srgbClr val="FFFFFF"/>
                    </a:solidFill>
                  </a:tcPr>
                </a:tc>
              </a:tr>
              <a:tr h="742950">
                <a:tc>
                  <a:txBody>
                    <a:bodyPr/>
                    <a:lstStyle/>
                    <a:p>
                      <a:pPr algn="l"/>
                      <a:r>
                        <a:rPr sz="2200" b="1">
                          <a:solidFill>
                            <a:srgbClr val="1F2933"/>
                          </a:solidFill>
                          <a:latin typeface="Segoe UI"/>
                        </a:rPr>
                        <a:t>Clustering (HDBSCAN)</a:t>
                      </a:r>
                    </a:p>
                  </a:txBody>
                  <a:tcPr anchor="ctr" marL="114300" marR="114300">
                    <a:solidFill>
                      <a:srgbClr val="EEF0F2"/>
                    </a:solidFill>
                  </a:tcPr>
                </a:tc>
                <a:tc>
                  <a:txBody>
                    <a:bodyPr/>
                    <a:lstStyle/>
                    <a:p>
                      <a:pPr algn="ctr"/>
                      <a:r>
                        <a:rPr sz="2200" b="1">
                          <a:solidFill>
                            <a:srgbClr val="1F2933"/>
                          </a:solidFill>
                          <a:latin typeface="Segoe UI"/>
                        </a:rPr>
                        <a:t>370.4</a:t>
                      </a:r>
                    </a:p>
                  </a:txBody>
                  <a:tcPr anchor="ctr" marL="114300" marR="114300">
                    <a:solidFill>
                      <a:srgbClr val="EEF0F2"/>
                    </a:solidFill>
                  </a:tcPr>
                </a:tc>
                <a:tc>
                  <a:txBody>
                    <a:bodyPr/>
                    <a:lstStyle/>
                    <a:p>
                      <a:pPr algn="ctr"/>
                      <a:r>
                        <a:rPr sz="2200" b="1">
                          <a:solidFill>
                            <a:srgbClr val="1F2933"/>
                          </a:solidFill>
                          <a:latin typeface="Segoe UI"/>
                        </a:rPr>
                        <a:t>59.4%</a:t>
                      </a:r>
                    </a:p>
                  </a:txBody>
                  <a:tcPr anchor="ctr" marL="114300" marR="114300">
                    <a:solidFill>
                      <a:srgbClr val="EEF0F2"/>
                    </a:solidFill>
                  </a:tcPr>
                </a:tc>
              </a:tr>
              <a:tr h="742950">
                <a:tc>
                  <a:txBody>
                    <a:bodyPr/>
                    <a:lstStyle/>
                    <a:p>
                      <a:pPr algn="l"/>
                      <a:r>
                        <a:rPr sz="2200" b="0">
                          <a:solidFill>
                            <a:srgbClr val="1F2933"/>
                          </a:solidFill>
                          <a:latin typeface="Segoe UI"/>
                        </a:rPr>
                        <a:t>Geometric filter</a:t>
                      </a:r>
                    </a:p>
                  </a:txBody>
                  <a:tcPr anchor="ctr" marL="114300" marR="114300">
                    <a:solidFill>
                      <a:srgbClr val="FFFFFF"/>
                    </a:solidFill>
                  </a:tcPr>
                </a:tc>
                <a:tc>
                  <a:txBody>
                    <a:bodyPr/>
                    <a:lstStyle/>
                    <a:p>
                      <a:pPr algn="ctr"/>
                      <a:r>
                        <a:rPr sz="2200" b="0">
                          <a:solidFill>
                            <a:srgbClr val="1F2933"/>
                          </a:solidFill>
                          <a:latin typeface="Segoe UI"/>
                        </a:rPr>
                        <a:t>36.2</a:t>
                      </a:r>
                    </a:p>
                  </a:txBody>
                  <a:tcPr anchor="ctr" marL="114300" marR="114300">
                    <a:solidFill>
                      <a:srgbClr val="FFFFFF"/>
                    </a:solidFill>
                  </a:tcPr>
                </a:tc>
                <a:tc>
                  <a:txBody>
                    <a:bodyPr/>
                    <a:lstStyle/>
                    <a:p>
                      <a:pPr algn="ctr"/>
                      <a:r>
                        <a:rPr sz="2200" b="0">
                          <a:solidFill>
                            <a:srgbClr val="1F2933"/>
                          </a:solidFill>
                          <a:latin typeface="Segoe UI"/>
                        </a:rPr>
                        <a:t>5.8%</a:t>
                      </a:r>
                    </a:p>
                  </a:txBody>
                  <a:tcPr anchor="ctr" marL="114300" marR="114300">
                    <a:solidFill>
                      <a:srgbClr val="FFFFFF"/>
                    </a:solidFill>
                  </a:tcPr>
                </a:tc>
              </a:tr>
              <a:tr h="742950">
                <a:tc>
                  <a:txBody>
                    <a:bodyPr/>
                    <a:lstStyle/>
                    <a:p>
                      <a:pPr algn="l"/>
                      <a:r>
                        <a:rPr sz="2200" b="0">
                          <a:solidFill>
                            <a:srgbClr val="1F2933"/>
                          </a:solidFill>
                          <a:latin typeface="Segoe UI"/>
                        </a:rPr>
                        <a:t>Classification</a:t>
                      </a:r>
                    </a:p>
                  </a:txBody>
                  <a:tcPr anchor="ctr" marL="114300" marR="114300">
                    <a:solidFill>
                      <a:srgbClr val="EEF0F2"/>
                    </a:solidFill>
                  </a:tcPr>
                </a:tc>
                <a:tc>
                  <a:txBody>
                    <a:bodyPr/>
                    <a:lstStyle/>
                    <a:p>
                      <a:pPr algn="ctr"/>
                      <a:r>
                        <a:rPr sz="2200" b="0">
                          <a:solidFill>
                            <a:srgbClr val="1F2933"/>
                          </a:solidFill>
                          <a:latin typeface="Segoe UI"/>
                        </a:rPr>
                        <a:t>33.7</a:t>
                      </a:r>
                    </a:p>
                  </a:txBody>
                  <a:tcPr anchor="ctr" marL="114300" marR="114300">
                    <a:solidFill>
                      <a:srgbClr val="EEF0F2"/>
                    </a:solidFill>
                  </a:tcPr>
                </a:tc>
                <a:tc>
                  <a:txBody>
                    <a:bodyPr/>
                    <a:lstStyle/>
                    <a:p>
                      <a:pPr algn="ctr"/>
                      <a:r>
                        <a:rPr sz="2200" b="0">
                          <a:solidFill>
                            <a:srgbClr val="1F2933"/>
                          </a:solidFill>
                          <a:latin typeface="Segoe UI"/>
                        </a:rPr>
                        <a:t>5.4%</a:t>
                      </a:r>
                    </a:p>
                  </a:txBody>
                  <a:tcPr anchor="ctr" marL="114300" marR="114300">
                    <a:solidFill>
                      <a:srgbClr val="EEF0F2"/>
                    </a:solidFill>
                  </a:tcPr>
                </a:tc>
              </a:tr>
              <a:tr h="742950">
                <a:tc>
                  <a:txBody>
                    <a:bodyPr/>
                    <a:lstStyle/>
                    <a:p>
                      <a:pPr algn="l"/>
                      <a:r>
                        <a:rPr sz="2200" b="0">
                          <a:solidFill>
                            <a:srgbClr val="1F2933"/>
                          </a:solidFill>
                          <a:latin typeface="Segoe UI"/>
                        </a:rPr>
                        <a:t>Tracking</a:t>
                      </a:r>
                    </a:p>
                  </a:txBody>
                  <a:tcPr anchor="ctr" marL="114300" marR="114300">
                    <a:solidFill>
                      <a:srgbClr val="FFFFFF"/>
                    </a:solidFill>
                  </a:tcPr>
                </a:tc>
                <a:tc>
                  <a:txBody>
                    <a:bodyPr/>
                    <a:lstStyle/>
                    <a:p>
                      <a:pPr algn="ctr"/>
                      <a:r>
                        <a:rPr sz="2200" b="0">
                          <a:solidFill>
                            <a:srgbClr val="1F2933"/>
                          </a:solidFill>
                          <a:latin typeface="Segoe UI"/>
                        </a:rPr>
                        <a:t>0.3</a:t>
                      </a:r>
                    </a:p>
                  </a:txBody>
                  <a:tcPr anchor="ctr" marL="114300" marR="114300">
                    <a:solidFill>
                      <a:srgbClr val="FFFFFF"/>
                    </a:solidFill>
                  </a:tcPr>
                </a:tc>
                <a:tc>
                  <a:txBody>
                    <a:bodyPr/>
                    <a:lstStyle/>
                    <a:p>
                      <a:pPr algn="ctr"/>
                      <a:r>
                        <a:rPr sz="2200" b="0">
                          <a:solidFill>
                            <a:srgbClr val="1F2933"/>
                          </a:solidFill>
                          <a:latin typeface="Segoe UI"/>
                        </a:rPr>
                        <a:t>0.1%</a:t>
                      </a:r>
                    </a:p>
                  </a:txBody>
                  <a:tcPr anchor="ctr" marL="114300" marR="114300">
                    <a:solidFill>
                      <a:srgbClr val="FFFFFF"/>
                    </a:solidFill>
                  </a:tcPr>
                </a:tc>
              </a:tr>
              <a:tr h="742950">
                <a:tc>
                  <a:txBody>
                    <a:bodyPr/>
                    <a:lstStyle/>
                    <a:p>
                      <a:pPr algn="l"/>
                      <a:r>
                        <a:rPr sz="2200" b="1">
                          <a:solidFill>
                            <a:srgbClr val="1F2933"/>
                          </a:solidFill>
                          <a:latin typeface="Segoe UI"/>
                        </a:rPr>
                        <a:t>Total</a:t>
                      </a:r>
                    </a:p>
                  </a:txBody>
                  <a:tcPr anchor="ctr" marL="114300" marR="114300">
                    <a:solidFill>
                      <a:srgbClr val="EEF0F2"/>
                    </a:solidFill>
                  </a:tcPr>
                </a:tc>
                <a:tc>
                  <a:txBody>
                    <a:bodyPr/>
                    <a:lstStyle/>
                    <a:p>
                      <a:pPr algn="ctr"/>
                      <a:r>
                        <a:rPr sz="2200" b="1">
                          <a:solidFill>
                            <a:srgbClr val="1F2933"/>
                          </a:solidFill>
                          <a:latin typeface="Segoe UI"/>
                        </a:rPr>
                        <a:t>623.5</a:t>
                      </a:r>
                    </a:p>
                  </a:txBody>
                  <a:tcPr anchor="ctr" marL="114300" marR="114300">
                    <a:solidFill>
                      <a:srgbClr val="EEF0F2"/>
                    </a:solidFill>
                  </a:tcPr>
                </a:tc>
                <a:tc>
                  <a:txBody>
                    <a:bodyPr/>
                    <a:lstStyle/>
                    <a:p>
                      <a:pPr algn="ctr"/>
                      <a:r>
                        <a:rPr sz="2200" b="1">
                          <a:solidFill>
                            <a:srgbClr val="1F2933"/>
                          </a:solidFill>
                          <a:latin typeface="Segoe UI"/>
                        </a:rPr>
                        <a:t>≈ 1.6 fps</a:t>
                      </a:r>
                    </a:p>
                  </a:txBody>
                  <a:tcPr anchor="ctr" marL="114300" marR="114300">
                    <a:solidFill>
                      <a:srgbClr val="EEF0F2"/>
                    </a:solidFill>
                  </a:tcPr>
                </a:tc>
              </a:tr>
            </a:tbl>
          </a:graphicData>
        </a:graphic>
      </p:graphicFrame>
      <p:sp>
        <p:nvSpPr>
          <p:cNvPr id="5" name="TextBox 4"/>
          <p:cNvSpPr txBox="1"/>
          <p:nvPr/>
        </p:nvSpPr>
        <p:spPr>
          <a:xfrm>
            <a:off x="10896600" y="2476500"/>
            <a:ext cx="6248400" cy="6286500"/>
          </a:xfrm>
          <a:prstGeom prst="rect">
            <a:avLst/>
          </a:prstGeom>
          <a:noFill/>
        </p:spPr>
        <p:txBody>
          <a:bodyPr wrap="square" anchor="t" lIns="0" rIns="0" tIns="0" bIns="0">
            <a:spAutoFit/>
          </a:bodyPr>
          <a:lstStyle/>
          <a:p>
            <a:pPr algn="l">
              <a:spcAft>
                <a:spcPts val="2000"/>
              </a:spcAft>
            </a:pPr>
            <a:r>
              <a:rPr sz="2400" b="0" i="0">
                <a:solidFill>
                  <a:srgbClr val="1F2933"/>
                </a:solidFill>
                <a:latin typeface="Segoe UI"/>
              </a:rPr>
              <a:t>Full seq 08, 4,068 timed frames.</a:t>
            </a:r>
          </a:p>
          <a:p>
            <a:pPr algn="l">
              <a:spcAft>
                <a:spcPts val="2000"/>
              </a:spcAft>
            </a:pPr>
            <a:r>
              <a:rPr sz="2400" b="0" i="0">
                <a:solidFill>
                  <a:srgbClr val="1F2933"/>
                </a:solidFill>
                <a:latin typeface="Segoe UI"/>
              </a:rPr>
              <a:t>Classical CPU stages: about 94% of the time.</a:t>
            </a:r>
          </a:p>
          <a:p>
            <a:pPr algn="l">
              <a:spcAft>
                <a:spcPts val="2000"/>
              </a:spcAft>
            </a:pPr>
            <a:r>
              <a:rPr sz="2400" b="0" i="0">
                <a:solidFill>
                  <a:srgbClr val="1F2933"/>
                </a:solidFill>
                <a:latin typeface="Segoe UI"/>
              </a:rPr>
              <a:t>The classifier, the only learned detection stage: 5.4%.</a:t>
            </a:r>
          </a:p>
          <a:p>
            <a:pPr algn="l">
              <a:spcAft>
                <a:spcPts val="2000"/>
              </a:spcAft>
            </a:pPr>
            <a:r>
              <a:rPr sz="2400" b="0" i="0">
                <a:solidFill>
                  <a:srgbClr val="1F2933"/>
                </a:solidFill>
                <a:latin typeface="Segoe UI"/>
              </a:rPr>
              <a:t>Offline by design: real time is out of scope.</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3.5.2 RUNTIME OPTIMISATION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Fewer RANSAC iterations and a coarser clustering voxel cut the time per scan by about a third.</a:t>
            </a:r>
          </a:p>
        </p:txBody>
      </p:sp>
      <p:graphicFrame>
        <p:nvGraphicFramePr>
          <p:cNvPr id="4" name="Table 3"/>
          <p:cNvGraphicFramePr>
            <a:graphicFrameLocks noGrp="1"/>
          </p:cNvGraphicFramePr>
          <p:nvPr/>
        </p:nvGraphicFramePr>
        <p:xfrm>
          <a:off x="3048000" y="2286000"/>
          <a:ext cx="12192001" cy="3200400"/>
        </p:xfrm>
        <a:graphic>
          <a:graphicData uri="http://schemas.openxmlformats.org/drawingml/2006/table">
            <a:tbl>
              <a:tblPr firstRow="1" bandRow="1">
                <a:tableStyleId>{5C22544A-7EE6-4342-B048-85BDC9FD1C3A}</a:tableStyleId>
              </a:tblPr>
              <a:tblGrid>
                <a:gridCol w="5830957"/>
                <a:gridCol w="3180522"/>
                <a:gridCol w="3180522"/>
              </a:tblGrid>
              <a:tr h="800100">
                <a:tc>
                  <a:txBody>
                    <a:bodyPr/>
                    <a:lstStyle/>
                    <a:p>
                      <a:pPr algn="l"/>
                      <a:r>
                        <a:rPr sz="2600" b="1">
                          <a:solidFill>
                            <a:srgbClr val="FFFFFF"/>
                          </a:solidFill>
                          <a:latin typeface="Segoe UI"/>
                        </a:rPr>
                        <a:t/>
                      </a:r>
                    </a:p>
                  </a:txBody>
                  <a:tcPr anchor="ctr" marL="114300" marR="114300">
                    <a:solidFill>
                      <a:srgbClr val="1F2933"/>
                    </a:solidFill>
                  </a:tcPr>
                </a:tc>
                <a:tc>
                  <a:txBody>
                    <a:bodyPr/>
                    <a:lstStyle/>
                    <a:p>
                      <a:pPr algn="ctr"/>
                      <a:r>
                        <a:rPr sz="2600" b="1">
                          <a:solidFill>
                            <a:srgbClr val="FFFFFF"/>
                          </a:solidFill>
                          <a:latin typeface="Segoe UI"/>
                        </a:rPr>
                        <a:t>Before</a:t>
                      </a:r>
                    </a:p>
                  </a:txBody>
                  <a:tcPr anchor="ctr" marL="114300" marR="114300">
                    <a:solidFill>
                      <a:srgbClr val="1F2933"/>
                    </a:solidFill>
                  </a:tcPr>
                </a:tc>
                <a:tc>
                  <a:txBody>
                    <a:bodyPr/>
                    <a:lstStyle/>
                    <a:p>
                      <a:pPr algn="ctr"/>
                      <a:r>
                        <a:rPr sz="2600" b="1">
                          <a:solidFill>
                            <a:srgbClr val="FFFFFF"/>
                          </a:solidFill>
                          <a:latin typeface="Segoe UI"/>
                        </a:rPr>
                        <a:t>After</a:t>
                      </a:r>
                    </a:p>
                  </a:txBody>
                  <a:tcPr anchor="ctr" marL="114300" marR="114300">
                    <a:solidFill>
                      <a:srgbClr val="1F2933"/>
                    </a:solidFill>
                  </a:tcPr>
                </a:tc>
              </a:tr>
              <a:tr h="800100">
                <a:tc>
                  <a:txBody>
                    <a:bodyPr/>
                    <a:lstStyle/>
                    <a:p>
                      <a:pPr algn="l"/>
                      <a:r>
                        <a:rPr sz="2600" b="0">
                          <a:solidFill>
                            <a:srgbClr val="1F2933"/>
                          </a:solidFill>
                          <a:latin typeface="Segoe UI"/>
                        </a:rPr>
                        <a:t>RANSAC iterations</a:t>
                      </a:r>
                    </a:p>
                  </a:txBody>
                  <a:tcPr anchor="ctr" marL="114300" marR="114300">
                    <a:solidFill>
                      <a:srgbClr val="FFFFFF"/>
                    </a:solidFill>
                  </a:tcPr>
                </a:tc>
                <a:tc>
                  <a:txBody>
                    <a:bodyPr/>
                    <a:lstStyle/>
                    <a:p>
                      <a:pPr algn="ctr"/>
                      <a:r>
                        <a:rPr sz="2600" b="0">
                          <a:solidFill>
                            <a:srgbClr val="1F2933"/>
                          </a:solidFill>
                          <a:latin typeface="Segoe UI"/>
                        </a:rPr>
                        <a:t>1,000</a:t>
                      </a:r>
                    </a:p>
                  </a:txBody>
                  <a:tcPr anchor="ctr" marL="114300" marR="114300">
                    <a:solidFill>
                      <a:srgbClr val="FFFFFF"/>
                    </a:solidFill>
                  </a:tcPr>
                </a:tc>
                <a:tc>
                  <a:txBody>
                    <a:bodyPr/>
                    <a:lstStyle/>
                    <a:p>
                      <a:pPr algn="ctr"/>
                      <a:r>
                        <a:rPr sz="2600" b="0">
                          <a:solidFill>
                            <a:srgbClr val="1F2933"/>
                          </a:solidFill>
                          <a:latin typeface="Segoe UI"/>
                        </a:rPr>
                        <a:t>300</a:t>
                      </a:r>
                    </a:p>
                  </a:txBody>
                  <a:tcPr anchor="ctr" marL="114300" marR="114300">
                    <a:solidFill>
                      <a:srgbClr val="FFFFFF"/>
                    </a:solidFill>
                  </a:tcPr>
                </a:tc>
              </a:tr>
              <a:tr h="800100">
                <a:tc>
                  <a:txBody>
                    <a:bodyPr/>
                    <a:lstStyle/>
                    <a:p>
                      <a:pPr algn="l"/>
                      <a:r>
                        <a:rPr sz="2600" b="0">
                          <a:solidFill>
                            <a:srgbClr val="1F2933"/>
                          </a:solidFill>
                          <a:latin typeface="Segoe UI"/>
                        </a:rPr>
                        <a:t>Clustering grid</a:t>
                      </a:r>
                    </a:p>
                  </a:txBody>
                  <a:tcPr anchor="ctr" marL="114300" marR="114300">
                    <a:solidFill>
                      <a:srgbClr val="EEF0F2"/>
                    </a:solidFill>
                  </a:tcPr>
                </a:tc>
                <a:tc>
                  <a:txBody>
                    <a:bodyPr/>
                    <a:lstStyle/>
                    <a:p>
                      <a:pPr algn="ctr"/>
                      <a:r>
                        <a:rPr sz="2600" b="0">
                          <a:solidFill>
                            <a:srgbClr val="1F2933"/>
                          </a:solidFill>
                          <a:latin typeface="Segoe UI"/>
                        </a:rPr>
                        <a:t>0.05 m</a:t>
                      </a:r>
                    </a:p>
                  </a:txBody>
                  <a:tcPr anchor="ctr" marL="114300" marR="114300">
                    <a:solidFill>
                      <a:srgbClr val="EEF0F2"/>
                    </a:solidFill>
                  </a:tcPr>
                </a:tc>
                <a:tc>
                  <a:txBody>
                    <a:bodyPr/>
                    <a:lstStyle/>
                    <a:p>
                      <a:pPr algn="ctr"/>
                      <a:r>
                        <a:rPr sz="2600" b="0">
                          <a:solidFill>
                            <a:srgbClr val="1F2933"/>
                          </a:solidFill>
                          <a:latin typeface="Segoe UI"/>
                        </a:rPr>
                        <a:t>0.10 m</a:t>
                      </a:r>
                    </a:p>
                  </a:txBody>
                  <a:tcPr anchor="ctr" marL="114300" marR="114300">
                    <a:solidFill>
                      <a:srgbClr val="EEF0F2"/>
                    </a:solidFill>
                  </a:tcPr>
                </a:tc>
              </a:tr>
              <a:tr h="800100">
                <a:tc>
                  <a:txBody>
                    <a:bodyPr/>
                    <a:lstStyle/>
                    <a:p>
                      <a:pPr algn="l"/>
                      <a:r>
                        <a:rPr sz="2600" b="0">
                          <a:solidFill>
                            <a:srgbClr val="1F2933"/>
                          </a:solidFill>
                          <a:latin typeface="Segoe UI"/>
                        </a:rPr>
                        <a:t>Time per scan (full seq 08)</a:t>
                      </a:r>
                    </a:p>
                  </a:txBody>
                  <a:tcPr anchor="ctr" marL="114300" marR="114300">
                    <a:solidFill>
                      <a:srgbClr val="FFFFFF"/>
                    </a:solidFill>
                  </a:tcPr>
                </a:tc>
                <a:tc>
                  <a:txBody>
                    <a:bodyPr/>
                    <a:lstStyle/>
                    <a:p>
                      <a:pPr algn="ctr"/>
                      <a:r>
                        <a:rPr sz="2600" b="0">
                          <a:solidFill>
                            <a:srgbClr val="1F2933"/>
                          </a:solidFill>
                          <a:latin typeface="Segoe UI"/>
                        </a:rPr>
                        <a:t>921.3 ms</a:t>
                      </a:r>
                    </a:p>
                  </a:txBody>
                  <a:tcPr anchor="ctr" marL="114300" marR="114300">
                    <a:solidFill>
                      <a:srgbClr val="FFFFFF"/>
                    </a:solidFill>
                  </a:tcPr>
                </a:tc>
                <a:tc>
                  <a:txBody>
                    <a:bodyPr/>
                    <a:lstStyle/>
                    <a:p>
                      <a:pPr algn="ctr"/>
                      <a:r>
                        <a:rPr sz="2600" b="1">
                          <a:solidFill>
                            <a:srgbClr val="1F2933"/>
                          </a:solidFill>
                          <a:latin typeface="Segoe UI"/>
                        </a:rPr>
                        <a:t>623.5 ms</a:t>
                      </a:r>
                    </a:p>
                  </a:txBody>
                  <a:tcPr anchor="ctr" marL="114300" marR="114300">
                    <a:solidFill>
                      <a:srgbClr val="FFFFFF"/>
                    </a:solidFill>
                  </a:tcPr>
                </a:tc>
              </a:tr>
            </a:tbl>
          </a:graphicData>
        </a:graphic>
      </p:graphicFrame>
      <p:sp>
        <p:nvSpPr>
          <p:cNvPr id="5" name="TextBox 4"/>
          <p:cNvSpPr txBox="1"/>
          <p:nvPr/>
        </p:nvSpPr>
        <p:spPr>
          <a:xfrm>
            <a:off x="3048000" y="5772150"/>
            <a:ext cx="12192000" cy="2286000"/>
          </a:xfrm>
          <a:prstGeom prst="rect">
            <a:avLst/>
          </a:prstGeom>
          <a:noFill/>
        </p:spPr>
        <p:txBody>
          <a:bodyPr wrap="square" anchor="t" lIns="0" rIns="0" tIns="0" bIns="0">
            <a:spAutoFit/>
          </a:bodyPr>
          <a:lstStyle/>
          <a:p>
            <a:pPr algn="l">
              <a:spcAft>
                <a:spcPts val="1200"/>
              </a:spcAft>
            </a:pPr>
            <a:r>
              <a:rPr sz="2400" b="0" i="0">
                <a:solidFill>
                  <a:srgbClr val="1F2933"/>
                </a:solidFill>
                <a:latin typeface="Segoe UI"/>
              </a:rPr>
              <a:t>About a third faster; the coarser grid also raised recall (0.710 → 0.732, slide 45).</a:t>
            </a:r>
          </a:p>
          <a:p>
            <a:pPr algn="l">
              <a:spcAft>
                <a:spcPts val="1200"/>
              </a:spcAft>
            </a:pPr>
            <a:r>
              <a:rPr sz="2400" b="0" i="0">
                <a:solidFill>
                  <a:srgbClr val="1F2933"/>
                </a:solidFill>
                <a:latin typeface="Segoe UI"/>
              </a:rPr>
              <a:t>Below 400 ms was not reachable: Python HDBSCAN alone has a floor of about 185 ms.</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4400" b="1" i="0">
                <a:solidFill>
                  <a:srgbClr val="1F2933"/>
                </a:solidFill>
                <a:latin typeface="Segoe UI"/>
              </a:rPr>
              <a:t>3.6 ABLATION STUDY</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3.6.1 STAGE ABLATION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Adding one filtering stage at a time shows what each contributes.</a:t>
            </a:r>
          </a:p>
        </p:txBody>
      </p:sp>
      <p:graphicFrame>
        <p:nvGraphicFramePr>
          <p:cNvPr id="4" name="Table 3"/>
          <p:cNvGraphicFramePr>
            <a:graphicFrameLocks noGrp="1"/>
          </p:cNvGraphicFramePr>
          <p:nvPr/>
        </p:nvGraphicFramePr>
        <p:xfrm>
          <a:off x="1143000" y="2476500"/>
          <a:ext cx="16002000" cy="3048000"/>
        </p:xfrm>
        <a:graphic>
          <a:graphicData uri="http://schemas.openxmlformats.org/drawingml/2006/table">
            <a:tbl>
              <a:tblPr firstRow="1" bandRow="1">
                <a:tableStyleId>{5C22544A-7EE6-4342-B048-85BDC9FD1C3A}</a:tableStyleId>
              </a:tblPr>
              <a:tblGrid>
                <a:gridCol w="4089400"/>
                <a:gridCol w="1955800"/>
                <a:gridCol w="1778000"/>
                <a:gridCol w="1600200"/>
                <a:gridCol w="1955800"/>
                <a:gridCol w="4622800"/>
              </a:tblGrid>
              <a:tr h="762000">
                <a:tc>
                  <a:txBody>
                    <a:bodyPr/>
                    <a:lstStyle/>
                    <a:p>
                      <a:pPr algn="l"/>
                      <a:r>
                        <a:rPr sz="2400" b="1">
                          <a:solidFill>
                            <a:srgbClr val="FFFFFF"/>
                          </a:solidFill>
                          <a:latin typeface="Segoe UI"/>
                        </a:rPr>
                        <a:t>Configuration</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762000">
                <a:tc>
                  <a:txBody>
                    <a:bodyPr/>
                    <a:lstStyle/>
                    <a:p>
                      <a:pPr algn="l"/>
                      <a:r>
                        <a:rPr sz="2400" b="0">
                          <a:solidFill>
                            <a:srgbClr val="1F2933"/>
                          </a:solidFill>
                          <a:latin typeface="Segoe UI"/>
                        </a:rPr>
                        <a:t>Geometric only</a:t>
                      </a:r>
                    </a:p>
                  </a:txBody>
                  <a:tcPr anchor="ctr" marL="114300" marR="114300">
                    <a:solidFill>
                      <a:srgbClr val="FFFFFF"/>
                    </a:solidFill>
                  </a:tcPr>
                </a:tc>
                <a:tc>
                  <a:txBody>
                    <a:bodyPr/>
                    <a:lstStyle/>
                    <a:p>
                      <a:pPr algn="ctr"/>
                      <a:r>
                        <a:rPr sz="2400" b="0">
                          <a:solidFill>
                            <a:srgbClr val="1F2933"/>
                          </a:solidFill>
                          <a:latin typeface="Segoe UI"/>
                        </a:rPr>
                        <a:t>0.199</a:t>
                      </a:r>
                    </a:p>
                  </a:txBody>
                  <a:tcPr anchor="ctr" marL="114300" marR="114300">
                    <a:solidFill>
                      <a:srgbClr val="FFFFFF"/>
                    </a:solidFill>
                  </a:tcPr>
                </a:tc>
                <a:tc>
                  <a:txBody>
                    <a:bodyPr/>
                    <a:lstStyle/>
                    <a:p>
                      <a:pPr algn="ctr"/>
                      <a:r>
                        <a:rPr sz="2400" b="0">
                          <a:solidFill>
                            <a:srgbClr val="1F2933"/>
                          </a:solidFill>
                          <a:latin typeface="Segoe UI"/>
                        </a:rPr>
                        <a:t>0.773</a:t>
                      </a:r>
                    </a:p>
                  </a:txBody>
                  <a:tcPr anchor="ctr" marL="114300" marR="114300">
                    <a:solidFill>
                      <a:srgbClr val="FFFFFF"/>
                    </a:solidFill>
                  </a:tcPr>
                </a:tc>
                <a:tc>
                  <a:txBody>
                    <a:bodyPr/>
                    <a:lstStyle/>
                    <a:p>
                      <a:pPr algn="ctr"/>
                      <a:r>
                        <a:rPr sz="2400" b="0">
                          <a:solidFill>
                            <a:srgbClr val="1F2933"/>
                          </a:solidFill>
                          <a:latin typeface="Segoe UI"/>
                        </a:rPr>
                        <a:t>0.316</a:t>
                      </a:r>
                    </a:p>
                  </a:txBody>
                  <a:tcPr anchor="ctr" marL="114300" marR="114300">
                    <a:solidFill>
                      <a:srgbClr val="FFFFFF"/>
                    </a:solidFill>
                  </a:tcPr>
                </a:tc>
                <a:tc>
                  <a:txBody>
                    <a:bodyPr/>
                    <a:lstStyle/>
                    <a:p>
                      <a:pPr algn="ctr"/>
                      <a:r>
                        <a:rPr sz="2400" b="0">
                          <a:solidFill>
                            <a:srgbClr val="1F2933"/>
                          </a:solidFill>
                          <a:latin typeface="Segoe UI"/>
                        </a:rPr>
                        <a:t>0.907</a:t>
                      </a:r>
                    </a:p>
                  </a:txBody>
                  <a:tcPr anchor="ctr" marL="114300" marR="114300">
                    <a:solidFill>
                      <a:srgbClr val="FFFFFF"/>
                    </a:solidFill>
                  </a:tcPr>
                </a:tc>
                <a:tc>
                  <a:txBody>
                    <a:bodyPr/>
                    <a:lstStyle/>
                    <a:p>
                      <a:pPr algn="ctr"/>
                      <a:r>
                        <a:rPr sz="2400" b="0">
                          <a:solidFill>
                            <a:srgbClr val="1F2933"/>
                          </a:solidFill>
                          <a:latin typeface="Segoe UI"/>
                        </a:rPr>
                        <a:t>27,002 / 108,831 / 7,920</a:t>
                      </a:r>
                    </a:p>
                  </a:txBody>
                  <a:tcPr anchor="ctr" marL="114300" marR="114300">
                    <a:solidFill>
                      <a:srgbClr val="FFFFFF"/>
                    </a:solidFill>
                  </a:tcPr>
                </a:tc>
              </a:tr>
              <a:tr h="762000">
                <a:tc>
                  <a:txBody>
                    <a:bodyPr/>
                    <a:lstStyle/>
                    <a:p>
                      <a:pPr algn="l"/>
                      <a:r>
                        <a:rPr sz="2400" b="0">
                          <a:solidFill>
                            <a:srgbClr val="1F2933"/>
                          </a:solidFill>
                          <a:latin typeface="Segoe UI"/>
                        </a:rPr>
                        <a:t>+ classifier</a:t>
                      </a:r>
                    </a:p>
                  </a:txBody>
                  <a:tcPr anchor="ctr" marL="114300" marR="114300">
                    <a:solidFill>
                      <a:srgbClr val="EEF0F2"/>
                    </a:solidFill>
                  </a:tcPr>
                </a:tc>
                <a:tc>
                  <a:txBody>
                    <a:bodyPr/>
                    <a:lstStyle/>
                    <a:p>
                      <a:pPr algn="ctr"/>
                      <a:r>
                        <a:rPr sz="2400" b="0">
                          <a:solidFill>
                            <a:srgbClr val="1F2933"/>
                          </a:solidFill>
                          <a:latin typeface="Segoe UI"/>
                        </a:rPr>
                        <a:t>0.846</a:t>
                      </a:r>
                    </a:p>
                  </a:txBody>
                  <a:tcPr anchor="ctr" marL="114300" marR="114300">
                    <a:solidFill>
                      <a:srgbClr val="EEF0F2"/>
                    </a:solidFill>
                  </a:tcPr>
                </a:tc>
                <a:tc>
                  <a:txBody>
                    <a:bodyPr/>
                    <a:lstStyle/>
                    <a:p>
                      <a:pPr algn="ctr"/>
                      <a:r>
                        <a:rPr sz="2400" b="0">
                          <a:solidFill>
                            <a:srgbClr val="1F2933"/>
                          </a:solidFill>
                          <a:latin typeface="Segoe UI"/>
                        </a:rPr>
                        <a:t>0.676</a:t>
                      </a:r>
                    </a:p>
                  </a:txBody>
                  <a:tcPr anchor="ctr" marL="114300" marR="114300">
                    <a:solidFill>
                      <a:srgbClr val="EEF0F2"/>
                    </a:solidFill>
                  </a:tcPr>
                </a:tc>
                <a:tc>
                  <a:txBody>
                    <a:bodyPr/>
                    <a:lstStyle/>
                    <a:p>
                      <a:pPr algn="ctr"/>
                      <a:r>
                        <a:rPr sz="2400" b="0">
                          <a:solidFill>
                            <a:srgbClr val="1F2933"/>
                          </a:solidFill>
                          <a:latin typeface="Segoe UI"/>
                        </a:rPr>
                        <a:t>0.751</a:t>
                      </a:r>
                    </a:p>
                  </a:txBody>
                  <a:tcPr anchor="ctr" marL="114300" marR="114300">
                    <a:solidFill>
                      <a:srgbClr val="EEF0F2"/>
                    </a:solidFill>
                  </a:tcPr>
                </a:tc>
                <a:tc>
                  <a:txBody>
                    <a:bodyPr/>
                    <a:lstStyle/>
                    <a:p>
                      <a:pPr algn="ctr"/>
                      <a:r>
                        <a:rPr sz="2400" b="0">
                          <a:solidFill>
                            <a:srgbClr val="1F2933"/>
                          </a:solidFill>
                          <a:latin typeface="Segoe UI"/>
                        </a:rPr>
                        <a:t>0.922</a:t>
                      </a:r>
                    </a:p>
                  </a:txBody>
                  <a:tcPr anchor="ctr" marL="114300" marR="114300">
                    <a:solidFill>
                      <a:srgbClr val="EEF0F2"/>
                    </a:solidFill>
                  </a:tcPr>
                </a:tc>
                <a:tc>
                  <a:txBody>
                    <a:bodyPr/>
                    <a:lstStyle/>
                    <a:p>
                      <a:pPr algn="ctr"/>
                      <a:r>
                        <a:rPr sz="2400" b="0">
                          <a:solidFill>
                            <a:srgbClr val="1F2933"/>
                          </a:solidFill>
                          <a:latin typeface="Segoe UI"/>
                        </a:rPr>
                        <a:t>23,600 / 4,303 / 11,322</a:t>
                      </a:r>
                    </a:p>
                  </a:txBody>
                  <a:tcPr anchor="ctr" marL="114300" marR="114300">
                    <a:solidFill>
                      <a:srgbClr val="EEF0F2"/>
                    </a:solidFill>
                  </a:tcPr>
                </a:tc>
              </a:tr>
              <a:tr h="762000">
                <a:tc>
                  <a:txBody>
                    <a:bodyPr/>
                    <a:lstStyle/>
                    <a:p>
                      <a:pPr algn="l"/>
                      <a:r>
                        <a:rPr sz="2400" b="1">
                          <a:solidFill>
                            <a:srgbClr val="1F2933"/>
                          </a:solidFill>
                          <a:latin typeface="Segoe UI"/>
                        </a:rPr>
                        <a:t>+ classifier, track filter</a:t>
                      </a:r>
                    </a:p>
                  </a:txBody>
                  <a:tcPr anchor="ctr" marL="114300" marR="114300">
                    <a:solidFill>
                      <a:srgbClr val="FFFFFF"/>
                    </a:solidFill>
                  </a:tcPr>
                </a:tc>
                <a:tc>
                  <a:txBody>
                    <a:bodyPr/>
                    <a:lstStyle/>
                    <a:p>
                      <a:pPr algn="ctr"/>
                      <a:r>
                        <a:rPr sz="2400" b="1">
                          <a:solidFill>
                            <a:srgbClr val="1F2933"/>
                          </a:solidFill>
                          <a:latin typeface="Segoe UI"/>
                        </a:rPr>
                        <a:t>0.911</a:t>
                      </a:r>
                    </a:p>
                  </a:txBody>
                  <a:tcPr anchor="ctr" marL="114300" marR="114300">
                    <a:solidFill>
                      <a:srgbClr val="FFFFFF"/>
                    </a:solidFill>
                  </a:tcPr>
                </a:tc>
                <a:tc>
                  <a:txBody>
                    <a:bodyPr/>
                    <a:lstStyle/>
                    <a:p>
                      <a:pPr algn="ctr"/>
                      <a:r>
                        <a:rPr sz="2400" b="1">
                          <a:solidFill>
                            <a:srgbClr val="1F2933"/>
                          </a:solidFill>
                          <a:latin typeface="Segoe UI"/>
                        </a:rPr>
                        <a:t>0.732</a:t>
                      </a:r>
                    </a:p>
                  </a:txBody>
                  <a:tcPr anchor="ctr" marL="114300" marR="114300">
                    <a:solidFill>
                      <a:srgbClr val="FFFFFF"/>
                    </a:solidFill>
                  </a:tcPr>
                </a:tc>
                <a:tc>
                  <a:txBody>
                    <a:bodyPr/>
                    <a:lstStyle/>
                    <a:p>
                      <a:pPr algn="ctr"/>
                      <a:r>
                        <a:rPr sz="2400" b="1">
                          <a:solidFill>
                            <a:srgbClr val="1F2933"/>
                          </a:solidFill>
                          <a:latin typeface="Segoe UI"/>
                        </a:rPr>
                        <a:t>0.812</a:t>
                      </a:r>
                    </a:p>
                  </a:txBody>
                  <a:tcPr anchor="ctr" marL="114300" marR="114300">
                    <a:solidFill>
                      <a:srgbClr val="FFFFFF"/>
                    </a:solidFill>
                  </a:tcPr>
                </a:tc>
                <a:tc>
                  <a:txBody>
                    <a:bodyPr/>
                    <a:lstStyle/>
                    <a:p>
                      <a:pPr algn="ctr"/>
                      <a:r>
                        <a:rPr sz="2400" b="0">
                          <a:solidFill>
                            <a:srgbClr val="1F2933"/>
                          </a:solidFill>
                          <a:latin typeface="Segoe UI"/>
                        </a:rPr>
                        <a:t>0.913</a:t>
                      </a:r>
                    </a:p>
                  </a:txBody>
                  <a:tcPr anchor="ctr" marL="114300" marR="114300">
                    <a:solidFill>
                      <a:srgbClr val="FFFFFF"/>
                    </a:solidFill>
                  </a:tcPr>
                </a:tc>
                <a:tc>
                  <a:txBody>
                    <a:bodyPr/>
                    <a:lstStyle/>
                    <a:p>
                      <a:pPr algn="ctr"/>
                      <a:r>
                        <a:rPr sz="2400" b="0">
                          <a:solidFill>
                            <a:srgbClr val="1F2933"/>
                          </a:solidFill>
                          <a:latin typeface="Segoe UI"/>
                        </a:rPr>
                        <a:t>25,568 / 2,513 / 9,354</a:t>
                      </a:r>
                    </a:p>
                  </a:txBody>
                  <a:tcPr anchor="ctr" marL="114300" marR="114300">
                    <a:solidFill>
                      <a:srgbClr val="FFFFFF"/>
                    </a:solidFill>
                  </a:tcPr>
                </a:tc>
              </a:tr>
            </a:tbl>
          </a:graphicData>
        </a:graphic>
      </p:graphicFrame>
      <p:sp>
        <p:nvSpPr>
          <p:cNvPr id="5" name="TextBox 4"/>
          <p:cNvSpPr txBox="1"/>
          <p:nvPr/>
        </p:nvSpPr>
        <p:spPr>
          <a:xfrm>
            <a:off x="1143000" y="58102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The classifier is the precision step: false positives 108,831 → 4,303, at a recall cost.</a:t>
            </a:r>
          </a:p>
          <a:p>
            <a:pPr algn="l">
              <a:spcAft>
                <a:spcPts val="1000"/>
              </a:spcAft>
            </a:pPr>
            <a:r>
              <a:rPr sz="2400" b="0" i="0">
                <a:solidFill>
                  <a:srgbClr val="1F2933"/>
                </a:solidFill>
                <a:latin typeface="Segoe UI"/>
              </a:rPr>
              <a:t>The track filter wins recall back: true positives 23,600 → 25,568.</a:t>
            </a:r>
          </a:p>
          <a:p>
            <a:pPr algn="l">
              <a:spcAft>
                <a:spcPts val="1000"/>
              </a:spcAft>
            </a:pPr>
            <a:r>
              <a:rPr sz="2400" b="0" i="0">
                <a:solidFill>
                  <a:srgbClr val="1F2933"/>
                </a:solidFill>
                <a:latin typeface="Segoe UI"/>
              </a:rPr>
              <a:t>First two rows are per frame; the last row uses the offline track filter.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3.6.2 CLUSTERING ALTERNATIVES AND RESOLUTION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No faster clusterer matches HDBSCAN's recall; a coarser resolution reduces fragmentation.</a:t>
            </a:r>
          </a:p>
        </p:txBody>
      </p:sp>
      <p:sp>
        <p:nvSpPr>
          <p:cNvPr id="4" name="TextBox 3"/>
          <p:cNvSpPr txBox="1"/>
          <p:nvPr/>
        </p:nvSpPr>
        <p:spPr>
          <a:xfrm>
            <a:off x="1143000" y="2095500"/>
            <a:ext cx="874776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Clustering method (0.10 m grid, per frame, track filter off)</a:t>
            </a:r>
          </a:p>
        </p:txBody>
      </p:sp>
      <p:graphicFrame>
        <p:nvGraphicFramePr>
          <p:cNvPr id="5" name="Table 4"/>
          <p:cNvGraphicFramePr>
            <a:graphicFrameLocks noGrp="1"/>
          </p:cNvGraphicFramePr>
          <p:nvPr/>
        </p:nvGraphicFramePr>
        <p:xfrm>
          <a:off x="1143000" y="2762250"/>
          <a:ext cx="8747760" cy="4267200"/>
        </p:xfrm>
        <a:graphic>
          <a:graphicData uri="http://schemas.openxmlformats.org/drawingml/2006/table">
            <a:tbl>
              <a:tblPr firstRow="1" bandRow="1">
                <a:tableStyleId>{5C22544A-7EE6-4342-B048-85BDC9FD1C3A}</a:tableStyleId>
              </a:tblPr>
              <a:tblGrid>
                <a:gridCol w="887454"/>
                <a:gridCol w="1901687"/>
                <a:gridCol w="1648129"/>
                <a:gridCol w="1394570"/>
                <a:gridCol w="1267791"/>
                <a:gridCol w="1648129"/>
              </a:tblGrid>
              <a:tr h="609600">
                <a:tc>
                  <a:txBody>
                    <a:bodyPr/>
                    <a:lstStyle/>
                    <a:p>
                      <a:pPr algn="l"/>
                      <a:r>
                        <a:rPr sz="2200" b="1">
                          <a:solidFill>
                            <a:srgbClr val="FFFFFF"/>
                          </a:solidFill>
                          <a:latin typeface="Segoe UI"/>
                        </a:rPr>
                        <a:t>Seq</a:t>
                      </a:r>
                    </a:p>
                  </a:txBody>
                  <a:tcPr anchor="ctr" marL="114300" marR="114300">
                    <a:solidFill>
                      <a:srgbClr val="1F2933"/>
                    </a:solidFill>
                  </a:tcPr>
                </a:tc>
                <a:tc>
                  <a:txBody>
                    <a:bodyPr/>
                    <a:lstStyle/>
                    <a:p>
                      <a:pPr algn="l"/>
                      <a:r>
                        <a:rPr sz="2200" b="1">
                          <a:solidFill>
                            <a:srgbClr val="FFFFFF"/>
                          </a:solidFill>
                          <a:latin typeface="Segoe UI"/>
                        </a:rPr>
                        <a:t>Method</a:t>
                      </a:r>
                    </a:p>
                  </a:txBody>
                  <a:tcPr anchor="ctr" marL="114300" marR="114300">
                    <a:solidFill>
                      <a:srgbClr val="1F2933"/>
                    </a:solidFill>
                  </a:tcPr>
                </a:tc>
                <a:tc>
                  <a:txBody>
                    <a:bodyPr/>
                    <a:lstStyle/>
                    <a:p>
                      <a:pPr algn="ctr"/>
                      <a:r>
                        <a:rPr sz="2200" b="1">
                          <a:solidFill>
                            <a:srgbClr val="FFFFFF"/>
                          </a:solidFill>
                          <a:latin typeface="Segoe UI"/>
                        </a:rPr>
                        <a:t>Precision</a:t>
                      </a:r>
                    </a:p>
                  </a:txBody>
                  <a:tcPr anchor="ctr" marL="114300" marR="114300">
                    <a:solidFill>
                      <a:srgbClr val="1F2933"/>
                    </a:solidFill>
                  </a:tcPr>
                </a:tc>
                <a:tc>
                  <a:txBody>
                    <a:bodyPr/>
                    <a:lstStyle/>
                    <a:p>
                      <a:pPr algn="ctr"/>
                      <a:r>
                        <a:rPr sz="2200" b="1">
                          <a:solidFill>
                            <a:srgbClr val="FFFFFF"/>
                          </a:solidFill>
                          <a:latin typeface="Segoe UI"/>
                        </a:rPr>
                        <a:t>Recall</a:t>
                      </a:r>
                    </a:p>
                  </a:txBody>
                  <a:tcPr anchor="ctr" marL="114300" marR="114300">
                    <a:solidFill>
                      <a:srgbClr val="1F2933"/>
                    </a:solidFill>
                  </a:tcPr>
                </a:tc>
                <a:tc>
                  <a:txBody>
                    <a:bodyPr/>
                    <a:lstStyle/>
                    <a:p>
                      <a:pPr algn="ctr"/>
                      <a:r>
                        <a:rPr sz="2200" b="1">
                          <a:solidFill>
                            <a:srgbClr val="FFFFFF"/>
                          </a:solidFill>
                          <a:latin typeface="Segoe UI"/>
                        </a:rPr>
                        <a:t>F1</a:t>
                      </a:r>
                    </a:p>
                  </a:txBody>
                  <a:tcPr anchor="ctr" marL="114300" marR="114300">
                    <a:solidFill>
                      <a:srgbClr val="1F2933"/>
                    </a:solidFill>
                  </a:tcPr>
                </a:tc>
                <a:tc>
                  <a:txBody>
                    <a:bodyPr/>
                    <a:lstStyle/>
                    <a:p>
                      <a:pPr algn="ctr"/>
                      <a:r>
                        <a:rPr sz="2200" b="1">
                          <a:solidFill>
                            <a:srgbClr val="FFFFFF"/>
                          </a:solidFill>
                          <a:latin typeface="Segoe UI"/>
                        </a:rPr>
                        <a:t>Time (ms)</a:t>
                      </a:r>
                    </a:p>
                  </a:txBody>
                  <a:tcPr anchor="ctr" marL="114300" marR="114300">
                    <a:solidFill>
                      <a:srgbClr val="1F2933"/>
                    </a:solidFill>
                  </a:tcPr>
                </a:tc>
              </a:tr>
              <a:tr h="609600">
                <a:tc>
                  <a:txBody>
                    <a:bodyPr/>
                    <a:lstStyle/>
                    <a:p>
                      <a:pPr algn="l"/>
                      <a:r>
                        <a:rPr sz="2200" b="0">
                          <a:solidFill>
                            <a:srgbClr val="1F2933"/>
                          </a:solidFill>
                          <a:latin typeface="Segoe UI"/>
                        </a:rPr>
                        <a:t>00</a:t>
                      </a:r>
                    </a:p>
                  </a:txBody>
                  <a:tcPr anchor="ctr" marL="114300" marR="114300">
                    <a:solidFill>
                      <a:srgbClr val="FFFFFF"/>
                    </a:solidFill>
                  </a:tcPr>
                </a:tc>
                <a:tc>
                  <a:txBody>
                    <a:bodyPr/>
                    <a:lstStyle/>
                    <a:p>
                      <a:pPr algn="l"/>
                      <a:r>
                        <a:rPr sz="2200" b="1">
                          <a:solidFill>
                            <a:srgbClr val="1F2933"/>
                          </a:solidFill>
                          <a:latin typeface="Segoe UI"/>
                        </a:rPr>
                        <a:t>HDBSCAN</a:t>
                      </a:r>
                    </a:p>
                  </a:txBody>
                  <a:tcPr anchor="ctr" marL="114300" marR="114300">
                    <a:solidFill>
                      <a:srgbClr val="FFFFFF"/>
                    </a:solidFill>
                  </a:tcPr>
                </a:tc>
                <a:tc>
                  <a:txBody>
                    <a:bodyPr/>
                    <a:lstStyle/>
                    <a:p>
                      <a:pPr algn="ctr"/>
                      <a:r>
                        <a:rPr sz="2200" b="0">
                          <a:solidFill>
                            <a:srgbClr val="1F2933"/>
                          </a:solidFill>
                          <a:latin typeface="Segoe UI"/>
                        </a:rPr>
                        <a:t>0.972</a:t>
                      </a:r>
                    </a:p>
                  </a:txBody>
                  <a:tcPr anchor="ctr" marL="114300" marR="114300">
                    <a:solidFill>
                      <a:srgbClr val="FFFFFF"/>
                    </a:solidFill>
                  </a:tcPr>
                </a:tc>
                <a:tc>
                  <a:txBody>
                    <a:bodyPr/>
                    <a:lstStyle/>
                    <a:p>
                      <a:pPr algn="ctr"/>
                      <a:r>
                        <a:rPr sz="2200" b="1">
                          <a:solidFill>
                            <a:srgbClr val="1F2933"/>
                          </a:solidFill>
                          <a:latin typeface="Segoe UI"/>
                        </a:rPr>
                        <a:t>0.731</a:t>
                      </a:r>
                    </a:p>
                  </a:txBody>
                  <a:tcPr anchor="ctr" marL="114300" marR="114300">
                    <a:solidFill>
                      <a:srgbClr val="FFFFFF"/>
                    </a:solidFill>
                  </a:tcPr>
                </a:tc>
                <a:tc>
                  <a:txBody>
                    <a:bodyPr/>
                    <a:lstStyle/>
                    <a:p>
                      <a:pPr algn="ctr"/>
                      <a:r>
                        <a:rPr sz="2200" b="1">
                          <a:solidFill>
                            <a:srgbClr val="1F2933"/>
                          </a:solidFill>
                          <a:latin typeface="Segoe UI"/>
                        </a:rPr>
                        <a:t>0.835</a:t>
                      </a:r>
                    </a:p>
                  </a:txBody>
                  <a:tcPr anchor="ctr" marL="114300" marR="114300">
                    <a:solidFill>
                      <a:srgbClr val="FFFFFF"/>
                    </a:solidFill>
                  </a:tcPr>
                </a:tc>
                <a:tc>
                  <a:txBody>
                    <a:bodyPr/>
                    <a:lstStyle/>
                    <a:p>
                      <a:pPr algn="ctr"/>
                      <a:r>
                        <a:rPr sz="2200" b="0">
                          <a:solidFill>
                            <a:srgbClr val="1F2933"/>
                          </a:solidFill>
                          <a:latin typeface="Segoe UI"/>
                        </a:rPr>
                        <a:t>306</a:t>
                      </a:r>
                    </a:p>
                  </a:txBody>
                  <a:tcPr anchor="ctr" marL="114300" marR="114300">
                    <a:solidFill>
                      <a:srgbClr val="FFFFFF"/>
                    </a:solidFill>
                  </a:tcPr>
                </a:tc>
              </a:tr>
              <a:tr h="609600">
                <a:tc>
                  <a:txBody>
                    <a:bodyPr/>
                    <a:lstStyle/>
                    <a:p>
                      <a:pPr algn="l"/>
                      <a:r>
                        <a:rPr sz="2200" b="0">
                          <a:solidFill>
                            <a:srgbClr val="1F2933"/>
                          </a:solidFill>
                          <a:latin typeface="Segoe UI"/>
                        </a:rPr>
                        <a:t>00</a:t>
                      </a:r>
                    </a:p>
                  </a:txBody>
                  <a:tcPr anchor="ctr" marL="114300" marR="114300">
                    <a:solidFill>
                      <a:srgbClr val="EEF0F2"/>
                    </a:solidFill>
                  </a:tcPr>
                </a:tc>
                <a:tc>
                  <a:txBody>
                    <a:bodyPr/>
                    <a:lstStyle/>
                    <a:p>
                      <a:pPr algn="l"/>
                      <a:r>
                        <a:rPr sz="2200" b="0">
                          <a:solidFill>
                            <a:srgbClr val="1F2933"/>
                          </a:solidFill>
                          <a:latin typeface="Segoe UI"/>
                        </a:rPr>
                        <a:t>DBSCAN</a:t>
                      </a:r>
                    </a:p>
                  </a:txBody>
                  <a:tcPr anchor="ctr" marL="114300" marR="114300">
                    <a:solidFill>
                      <a:srgbClr val="EEF0F2"/>
                    </a:solidFill>
                  </a:tcPr>
                </a:tc>
                <a:tc>
                  <a:txBody>
                    <a:bodyPr/>
                    <a:lstStyle/>
                    <a:p>
                      <a:pPr algn="ctr"/>
                      <a:r>
                        <a:rPr sz="2200" b="0">
                          <a:solidFill>
                            <a:srgbClr val="1F2933"/>
                          </a:solidFill>
                          <a:latin typeface="Segoe UI"/>
                        </a:rPr>
                        <a:t>0.975</a:t>
                      </a:r>
                    </a:p>
                  </a:txBody>
                  <a:tcPr anchor="ctr" marL="114300" marR="114300">
                    <a:solidFill>
                      <a:srgbClr val="EEF0F2"/>
                    </a:solidFill>
                  </a:tcPr>
                </a:tc>
                <a:tc>
                  <a:txBody>
                    <a:bodyPr/>
                    <a:lstStyle/>
                    <a:p>
                      <a:pPr algn="ctr"/>
                      <a:r>
                        <a:rPr sz="2200" b="0">
                          <a:solidFill>
                            <a:srgbClr val="1F2933"/>
                          </a:solidFill>
                          <a:latin typeface="Segoe UI"/>
                        </a:rPr>
                        <a:t>0.637</a:t>
                      </a:r>
                    </a:p>
                  </a:txBody>
                  <a:tcPr anchor="ctr" marL="114300" marR="114300">
                    <a:solidFill>
                      <a:srgbClr val="EEF0F2"/>
                    </a:solidFill>
                  </a:tcPr>
                </a:tc>
                <a:tc>
                  <a:txBody>
                    <a:bodyPr/>
                    <a:lstStyle/>
                    <a:p>
                      <a:pPr algn="ctr"/>
                      <a:r>
                        <a:rPr sz="2200" b="0">
                          <a:solidFill>
                            <a:srgbClr val="1F2933"/>
                          </a:solidFill>
                          <a:latin typeface="Segoe UI"/>
                        </a:rPr>
                        <a:t>0.771</a:t>
                      </a:r>
                    </a:p>
                  </a:txBody>
                  <a:tcPr anchor="ctr" marL="114300" marR="114300">
                    <a:solidFill>
                      <a:srgbClr val="EEF0F2"/>
                    </a:solidFill>
                  </a:tcPr>
                </a:tc>
                <a:tc>
                  <a:txBody>
                    <a:bodyPr/>
                    <a:lstStyle/>
                    <a:p>
                      <a:pPr algn="ctr"/>
                      <a:r>
                        <a:rPr sz="2200" b="0">
                          <a:solidFill>
                            <a:srgbClr val="1F2933"/>
                          </a:solidFill>
                          <a:latin typeface="Segoe UI"/>
                        </a:rPr>
                        <a:t>54</a:t>
                      </a:r>
                    </a:p>
                  </a:txBody>
                  <a:tcPr anchor="ctr" marL="114300" marR="114300">
                    <a:solidFill>
                      <a:srgbClr val="EEF0F2"/>
                    </a:solidFill>
                  </a:tcPr>
                </a:tc>
              </a:tr>
              <a:tr h="609600">
                <a:tc>
                  <a:txBody>
                    <a:bodyPr/>
                    <a:lstStyle/>
                    <a:p>
                      <a:pPr algn="l"/>
                      <a:r>
                        <a:rPr sz="2200" b="0">
                          <a:solidFill>
                            <a:srgbClr val="1F2933"/>
                          </a:solidFill>
                          <a:latin typeface="Segoe UI"/>
                        </a:rPr>
                        <a:t>00</a:t>
                      </a:r>
                    </a:p>
                  </a:txBody>
                  <a:tcPr anchor="ctr" marL="114300" marR="114300">
                    <a:solidFill>
                      <a:srgbClr val="FFFFFF"/>
                    </a:solidFill>
                  </a:tcPr>
                </a:tc>
                <a:tc>
                  <a:txBody>
                    <a:bodyPr/>
                    <a:lstStyle/>
                    <a:p>
                      <a:pPr algn="l"/>
                      <a:r>
                        <a:rPr sz="2200" b="0">
                          <a:solidFill>
                            <a:srgbClr val="1F2933"/>
                          </a:solidFill>
                          <a:latin typeface="Segoe UI"/>
                        </a:rPr>
                        <a:t>Euclidean</a:t>
                      </a:r>
                    </a:p>
                  </a:txBody>
                  <a:tcPr anchor="ctr" marL="114300" marR="114300">
                    <a:solidFill>
                      <a:srgbClr val="FFFFFF"/>
                    </a:solidFill>
                  </a:tcPr>
                </a:tc>
                <a:tc>
                  <a:txBody>
                    <a:bodyPr/>
                    <a:lstStyle/>
                    <a:p>
                      <a:pPr algn="ctr"/>
                      <a:r>
                        <a:rPr sz="2200" b="0">
                          <a:solidFill>
                            <a:srgbClr val="1F2933"/>
                          </a:solidFill>
                          <a:latin typeface="Segoe UI"/>
                        </a:rPr>
                        <a:t>0.979</a:t>
                      </a:r>
                    </a:p>
                  </a:txBody>
                  <a:tcPr anchor="ctr" marL="114300" marR="114300">
                    <a:solidFill>
                      <a:srgbClr val="FFFFFF"/>
                    </a:solidFill>
                  </a:tcPr>
                </a:tc>
                <a:tc>
                  <a:txBody>
                    <a:bodyPr/>
                    <a:lstStyle/>
                    <a:p>
                      <a:pPr algn="ctr"/>
                      <a:r>
                        <a:rPr sz="2200" b="0">
                          <a:solidFill>
                            <a:srgbClr val="1F2933"/>
                          </a:solidFill>
                          <a:latin typeface="Segoe UI"/>
                        </a:rPr>
                        <a:t>0.636</a:t>
                      </a:r>
                    </a:p>
                  </a:txBody>
                  <a:tcPr anchor="ctr" marL="114300" marR="114300">
                    <a:solidFill>
                      <a:srgbClr val="FFFFFF"/>
                    </a:solidFill>
                  </a:tcPr>
                </a:tc>
                <a:tc>
                  <a:txBody>
                    <a:bodyPr/>
                    <a:lstStyle/>
                    <a:p>
                      <a:pPr algn="ctr"/>
                      <a:r>
                        <a:rPr sz="2200" b="0">
                          <a:solidFill>
                            <a:srgbClr val="1F2933"/>
                          </a:solidFill>
                          <a:latin typeface="Segoe UI"/>
                        </a:rPr>
                        <a:t>0.771</a:t>
                      </a:r>
                    </a:p>
                  </a:txBody>
                  <a:tcPr anchor="ctr" marL="114300" marR="114300">
                    <a:solidFill>
                      <a:srgbClr val="FFFFFF"/>
                    </a:solidFill>
                  </a:tcPr>
                </a:tc>
                <a:tc>
                  <a:txBody>
                    <a:bodyPr/>
                    <a:lstStyle/>
                    <a:p>
                      <a:pPr algn="ctr"/>
                      <a:r>
                        <a:rPr sz="2200" b="0">
                          <a:solidFill>
                            <a:srgbClr val="1F2933"/>
                          </a:solidFill>
                          <a:latin typeface="Segoe UI"/>
                        </a:rPr>
                        <a:t>76</a:t>
                      </a:r>
                    </a:p>
                  </a:txBody>
                  <a:tcPr anchor="ctr" marL="114300" marR="114300">
                    <a:solidFill>
                      <a:srgbClr val="FFFFFF"/>
                    </a:solidFill>
                  </a:tcPr>
                </a:tc>
              </a:tr>
              <a:tr h="609600">
                <a:tc>
                  <a:txBody>
                    <a:bodyPr/>
                    <a:lstStyle/>
                    <a:p>
                      <a:pPr algn="l"/>
                      <a:r>
                        <a:rPr sz="2200" b="0">
                          <a:solidFill>
                            <a:srgbClr val="1F2933"/>
                          </a:solidFill>
                          <a:latin typeface="Segoe UI"/>
                        </a:rPr>
                        <a:t>08</a:t>
                      </a:r>
                    </a:p>
                  </a:txBody>
                  <a:tcPr anchor="ctr" marL="114300" marR="114300">
                    <a:solidFill>
                      <a:srgbClr val="EEF0F2"/>
                    </a:solidFill>
                  </a:tcPr>
                </a:tc>
                <a:tc>
                  <a:txBody>
                    <a:bodyPr/>
                    <a:lstStyle/>
                    <a:p>
                      <a:pPr algn="l"/>
                      <a:r>
                        <a:rPr sz="2200" b="1">
                          <a:solidFill>
                            <a:srgbClr val="1F2933"/>
                          </a:solidFill>
                          <a:latin typeface="Segoe UI"/>
                        </a:rPr>
                        <a:t>HDBSCAN</a:t>
                      </a:r>
                    </a:p>
                  </a:txBody>
                  <a:tcPr anchor="ctr" marL="114300" marR="114300">
                    <a:solidFill>
                      <a:srgbClr val="EEF0F2"/>
                    </a:solidFill>
                  </a:tcPr>
                </a:tc>
                <a:tc>
                  <a:txBody>
                    <a:bodyPr/>
                    <a:lstStyle/>
                    <a:p>
                      <a:pPr algn="ctr"/>
                      <a:r>
                        <a:rPr sz="2200" b="0">
                          <a:solidFill>
                            <a:srgbClr val="1F2933"/>
                          </a:solidFill>
                          <a:latin typeface="Segoe UI"/>
                        </a:rPr>
                        <a:t>0.840</a:t>
                      </a:r>
                    </a:p>
                  </a:txBody>
                  <a:tcPr anchor="ctr" marL="114300" marR="114300">
                    <a:solidFill>
                      <a:srgbClr val="EEF0F2"/>
                    </a:solidFill>
                  </a:tcPr>
                </a:tc>
                <a:tc>
                  <a:txBody>
                    <a:bodyPr/>
                    <a:lstStyle/>
                    <a:p>
                      <a:pPr algn="ctr"/>
                      <a:r>
                        <a:rPr sz="2200" b="1">
                          <a:solidFill>
                            <a:srgbClr val="1F2933"/>
                          </a:solidFill>
                          <a:latin typeface="Segoe UI"/>
                        </a:rPr>
                        <a:t>0.671</a:t>
                      </a:r>
                    </a:p>
                  </a:txBody>
                  <a:tcPr anchor="ctr" marL="114300" marR="114300">
                    <a:solidFill>
                      <a:srgbClr val="EEF0F2"/>
                    </a:solidFill>
                  </a:tcPr>
                </a:tc>
                <a:tc>
                  <a:txBody>
                    <a:bodyPr/>
                    <a:lstStyle/>
                    <a:p>
                      <a:pPr algn="ctr"/>
                      <a:r>
                        <a:rPr sz="2200" b="1">
                          <a:solidFill>
                            <a:srgbClr val="1F2933"/>
                          </a:solidFill>
                          <a:latin typeface="Segoe UI"/>
                        </a:rPr>
                        <a:t>0.746</a:t>
                      </a:r>
                    </a:p>
                  </a:txBody>
                  <a:tcPr anchor="ctr" marL="114300" marR="114300">
                    <a:solidFill>
                      <a:srgbClr val="EEF0F2"/>
                    </a:solidFill>
                  </a:tcPr>
                </a:tc>
                <a:tc>
                  <a:txBody>
                    <a:bodyPr/>
                    <a:lstStyle/>
                    <a:p>
                      <a:pPr algn="ctr"/>
                      <a:r>
                        <a:rPr sz="2200" b="0">
                          <a:solidFill>
                            <a:srgbClr val="1F2933"/>
                          </a:solidFill>
                          <a:latin typeface="Segoe UI"/>
                        </a:rPr>
                        <a:t>320</a:t>
                      </a:r>
                    </a:p>
                  </a:txBody>
                  <a:tcPr anchor="ctr" marL="114300" marR="114300">
                    <a:solidFill>
                      <a:srgbClr val="EEF0F2"/>
                    </a:solidFill>
                  </a:tcPr>
                </a:tc>
              </a:tr>
              <a:tr h="609600">
                <a:tc>
                  <a:txBody>
                    <a:bodyPr/>
                    <a:lstStyle/>
                    <a:p>
                      <a:pPr algn="l"/>
                      <a:r>
                        <a:rPr sz="2200" b="0">
                          <a:solidFill>
                            <a:srgbClr val="1F2933"/>
                          </a:solidFill>
                          <a:latin typeface="Segoe UI"/>
                        </a:rPr>
                        <a:t>08</a:t>
                      </a:r>
                    </a:p>
                  </a:txBody>
                  <a:tcPr anchor="ctr" marL="114300" marR="114300">
                    <a:solidFill>
                      <a:srgbClr val="FFFFFF"/>
                    </a:solidFill>
                  </a:tcPr>
                </a:tc>
                <a:tc>
                  <a:txBody>
                    <a:bodyPr/>
                    <a:lstStyle/>
                    <a:p>
                      <a:pPr algn="l"/>
                      <a:r>
                        <a:rPr sz="2200" b="0">
                          <a:solidFill>
                            <a:srgbClr val="1F2933"/>
                          </a:solidFill>
                          <a:latin typeface="Segoe UI"/>
                        </a:rPr>
                        <a:t>DBSCAN</a:t>
                      </a:r>
                    </a:p>
                  </a:txBody>
                  <a:tcPr anchor="ctr" marL="114300" marR="114300">
                    <a:solidFill>
                      <a:srgbClr val="FFFFFF"/>
                    </a:solidFill>
                  </a:tcPr>
                </a:tc>
                <a:tc>
                  <a:txBody>
                    <a:bodyPr/>
                    <a:lstStyle/>
                    <a:p>
                      <a:pPr algn="ctr"/>
                      <a:r>
                        <a:rPr sz="2200" b="0">
                          <a:solidFill>
                            <a:srgbClr val="1F2933"/>
                          </a:solidFill>
                          <a:latin typeface="Segoe UI"/>
                        </a:rPr>
                        <a:t>0.870</a:t>
                      </a:r>
                    </a:p>
                  </a:txBody>
                  <a:tcPr anchor="ctr" marL="114300" marR="114300">
                    <a:solidFill>
                      <a:srgbClr val="FFFFFF"/>
                    </a:solidFill>
                  </a:tcPr>
                </a:tc>
                <a:tc>
                  <a:txBody>
                    <a:bodyPr/>
                    <a:lstStyle/>
                    <a:p>
                      <a:pPr algn="ctr"/>
                      <a:r>
                        <a:rPr sz="2200" b="0">
                          <a:solidFill>
                            <a:srgbClr val="1F2933"/>
                          </a:solidFill>
                          <a:latin typeface="Segoe UI"/>
                        </a:rPr>
                        <a:t>0.565</a:t>
                      </a:r>
                    </a:p>
                  </a:txBody>
                  <a:tcPr anchor="ctr" marL="114300" marR="114300">
                    <a:solidFill>
                      <a:srgbClr val="FFFFFF"/>
                    </a:solidFill>
                  </a:tcPr>
                </a:tc>
                <a:tc>
                  <a:txBody>
                    <a:bodyPr/>
                    <a:lstStyle/>
                    <a:p>
                      <a:pPr algn="ctr"/>
                      <a:r>
                        <a:rPr sz="2200" b="0">
                          <a:solidFill>
                            <a:srgbClr val="1F2933"/>
                          </a:solidFill>
                          <a:latin typeface="Segoe UI"/>
                        </a:rPr>
                        <a:t>0.685</a:t>
                      </a:r>
                    </a:p>
                  </a:txBody>
                  <a:tcPr anchor="ctr" marL="114300" marR="114300">
                    <a:solidFill>
                      <a:srgbClr val="FFFFFF"/>
                    </a:solidFill>
                  </a:tcPr>
                </a:tc>
                <a:tc>
                  <a:txBody>
                    <a:bodyPr/>
                    <a:lstStyle/>
                    <a:p>
                      <a:pPr algn="ctr"/>
                      <a:r>
                        <a:rPr sz="2200" b="0">
                          <a:solidFill>
                            <a:srgbClr val="1F2933"/>
                          </a:solidFill>
                          <a:latin typeface="Segoe UI"/>
                        </a:rPr>
                        <a:t>57</a:t>
                      </a:r>
                    </a:p>
                  </a:txBody>
                  <a:tcPr anchor="ctr" marL="114300" marR="114300">
                    <a:solidFill>
                      <a:srgbClr val="FFFFFF"/>
                    </a:solidFill>
                  </a:tcPr>
                </a:tc>
              </a:tr>
              <a:tr h="609600">
                <a:tc>
                  <a:txBody>
                    <a:bodyPr/>
                    <a:lstStyle/>
                    <a:p>
                      <a:pPr algn="l"/>
                      <a:r>
                        <a:rPr sz="2200" b="0">
                          <a:solidFill>
                            <a:srgbClr val="1F2933"/>
                          </a:solidFill>
                          <a:latin typeface="Segoe UI"/>
                        </a:rPr>
                        <a:t>08</a:t>
                      </a:r>
                    </a:p>
                  </a:txBody>
                  <a:tcPr anchor="ctr" marL="114300" marR="114300">
                    <a:solidFill>
                      <a:srgbClr val="EEF0F2"/>
                    </a:solidFill>
                  </a:tcPr>
                </a:tc>
                <a:tc>
                  <a:txBody>
                    <a:bodyPr/>
                    <a:lstStyle/>
                    <a:p>
                      <a:pPr algn="l"/>
                      <a:r>
                        <a:rPr sz="2200" b="0">
                          <a:solidFill>
                            <a:srgbClr val="1F2933"/>
                          </a:solidFill>
                          <a:latin typeface="Segoe UI"/>
                        </a:rPr>
                        <a:t>Euclidean</a:t>
                      </a:r>
                    </a:p>
                  </a:txBody>
                  <a:tcPr anchor="ctr" marL="114300" marR="114300">
                    <a:solidFill>
                      <a:srgbClr val="EEF0F2"/>
                    </a:solidFill>
                  </a:tcPr>
                </a:tc>
                <a:tc>
                  <a:txBody>
                    <a:bodyPr/>
                    <a:lstStyle/>
                    <a:p>
                      <a:pPr algn="ctr"/>
                      <a:r>
                        <a:rPr sz="2200" b="0">
                          <a:solidFill>
                            <a:srgbClr val="1F2933"/>
                          </a:solidFill>
                          <a:latin typeface="Segoe UI"/>
                        </a:rPr>
                        <a:t>0.869</a:t>
                      </a:r>
                    </a:p>
                  </a:txBody>
                  <a:tcPr anchor="ctr" marL="114300" marR="114300">
                    <a:solidFill>
                      <a:srgbClr val="EEF0F2"/>
                    </a:solidFill>
                  </a:tcPr>
                </a:tc>
                <a:tc>
                  <a:txBody>
                    <a:bodyPr/>
                    <a:lstStyle/>
                    <a:p>
                      <a:pPr algn="ctr"/>
                      <a:r>
                        <a:rPr sz="2200" b="0">
                          <a:solidFill>
                            <a:srgbClr val="1F2933"/>
                          </a:solidFill>
                          <a:latin typeface="Segoe UI"/>
                        </a:rPr>
                        <a:t>0.576</a:t>
                      </a:r>
                    </a:p>
                  </a:txBody>
                  <a:tcPr anchor="ctr" marL="114300" marR="114300">
                    <a:solidFill>
                      <a:srgbClr val="EEF0F2"/>
                    </a:solidFill>
                  </a:tcPr>
                </a:tc>
                <a:tc>
                  <a:txBody>
                    <a:bodyPr/>
                    <a:lstStyle/>
                    <a:p>
                      <a:pPr algn="ctr"/>
                      <a:r>
                        <a:rPr sz="2200" b="0">
                          <a:solidFill>
                            <a:srgbClr val="1F2933"/>
                          </a:solidFill>
                          <a:latin typeface="Segoe UI"/>
                        </a:rPr>
                        <a:t>0.693</a:t>
                      </a:r>
                    </a:p>
                  </a:txBody>
                  <a:tcPr anchor="ctr" marL="114300" marR="114300">
                    <a:solidFill>
                      <a:srgbClr val="EEF0F2"/>
                    </a:solidFill>
                  </a:tcPr>
                </a:tc>
                <a:tc>
                  <a:txBody>
                    <a:bodyPr/>
                    <a:lstStyle/>
                    <a:p>
                      <a:pPr algn="ctr"/>
                      <a:r>
                        <a:rPr sz="2200" b="0">
                          <a:solidFill>
                            <a:srgbClr val="1F2933"/>
                          </a:solidFill>
                          <a:latin typeface="Segoe UI"/>
                        </a:rPr>
                        <a:t>75</a:t>
                      </a:r>
                    </a:p>
                  </a:txBody>
                  <a:tcPr anchor="ctr" marL="114300" marR="114300">
                    <a:solidFill>
                      <a:srgbClr val="EEF0F2"/>
                    </a:solidFill>
                  </a:tcPr>
                </a:tc>
              </a:tr>
            </a:tbl>
          </a:graphicData>
        </a:graphic>
      </p:graphicFrame>
      <p:sp>
        <p:nvSpPr>
          <p:cNvPr id="6" name="TextBox 5"/>
          <p:cNvSpPr txBox="1"/>
          <p:nvPr/>
        </p:nvSpPr>
        <p:spPr>
          <a:xfrm>
            <a:off x="1143000" y="7258050"/>
            <a:ext cx="8747760" cy="1143000"/>
          </a:xfrm>
          <a:prstGeom prst="rect">
            <a:avLst/>
          </a:prstGeom>
          <a:noFill/>
        </p:spPr>
        <p:txBody>
          <a:bodyPr wrap="square" anchor="t" lIns="0" rIns="0" tIns="0" bIns="0">
            <a:spAutoFit/>
          </a:bodyPr>
          <a:lstStyle/>
          <a:p>
            <a:pPr algn="l">
              <a:spcAft>
                <a:spcPts val="0"/>
              </a:spcAft>
            </a:pPr>
            <a:r>
              <a:rPr sz="2400" b="0" i="0">
                <a:solidFill>
                  <a:srgbClr val="1F2933"/>
                </a:solidFill>
                <a:latin typeface="Segoe UI"/>
              </a:rPr>
              <a:t>Precision within 0.03; HDBSCAN gains 9–11 recall points for about 6× DBSCAN's clustering time.</a:t>
            </a:r>
          </a:p>
        </p:txBody>
      </p:sp>
      <p:sp>
        <p:nvSpPr>
          <p:cNvPr id="7" name="TextBox 6"/>
          <p:cNvSpPr txBox="1"/>
          <p:nvPr/>
        </p:nvSpPr>
        <p:spPr>
          <a:xfrm>
            <a:off x="10271760" y="2095500"/>
            <a:ext cx="687324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Clustering grid (seq 08, 34,057 cars)</a:t>
            </a:r>
          </a:p>
        </p:txBody>
      </p:sp>
      <p:graphicFrame>
        <p:nvGraphicFramePr>
          <p:cNvPr id="8" name="Table 7"/>
          <p:cNvGraphicFramePr>
            <a:graphicFrameLocks noGrp="1"/>
          </p:cNvGraphicFramePr>
          <p:nvPr/>
        </p:nvGraphicFramePr>
        <p:xfrm>
          <a:off x="10271760" y="2762250"/>
          <a:ext cx="6873240" cy="3048000"/>
        </p:xfrm>
        <a:graphic>
          <a:graphicData uri="http://schemas.openxmlformats.org/drawingml/2006/table">
            <a:tbl>
              <a:tblPr firstRow="1" bandRow="1">
                <a:tableStyleId>{5C22544A-7EE6-4342-B048-85BDC9FD1C3A}</a:tableStyleId>
              </a:tblPr>
              <a:tblGrid>
                <a:gridCol w="3109323"/>
                <a:gridCol w="1800134"/>
                <a:gridCol w="1963783"/>
              </a:tblGrid>
              <a:tr h="609600">
                <a:tc>
                  <a:txBody>
                    <a:bodyPr/>
                    <a:lstStyle/>
                    <a:p>
                      <a:pPr algn="l"/>
                      <a:r>
                        <a:rPr sz="2200" b="1">
                          <a:solidFill>
                            <a:srgbClr val="FFFFFF"/>
                          </a:solidFill>
                          <a:latin typeface="Segoe UI"/>
                        </a:rPr>
                        <a:t/>
                      </a:r>
                    </a:p>
                  </a:txBody>
                  <a:tcPr anchor="ctr" marL="114300" marR="114300">
                    <a:solidFill>
                      <a:srgbClr val="1F2933"/>
                    </a:solidFill>
                  </a:tcPr>
                </a:tc>
                <a:tc>
                  <a:txBody>
                    <a:bodyPr/>
                    <a:lstStyle/>
                    <a:p>
                      <a:pPr algn="ctr"/>
                      <a:r>
                        <a:rPr sz="2200" b="1">
                          <a:solidFill>
                            <a:srgbClr val="FFFFFF"/>
                          </a:solidFill>
                          <a:latin typeface="Segoe UI"/>
                        </a:rPr>
                        <a:t>0.05 m</a:t>
                      </a:r>
                    </a:p>
                  </a:txBody>
                  <a:tcPr anchor="ctr" marL="114300" marR="114300">
                    <a:solidFill>
                      <a:srgbClr val="1F2933"/>
                    </a:solidFill>
                  </a:tcPr>
                </a:tc>
                <a:tc>
                  <a:txBody>
                    <a:bodyPr/>
                    <a:lstStyle/>
                    <a:p>
                      <a:pPr algn="ctr"/>
                      <a:r>
                        <a:rPr sz="2200" b="1">
                          <a:solidFill>
                            <a:srgbClr val="FFFFFF"/>
                          </a:solidFill>
                          <a:latin typeface="Segoe UI"/>
                        </a:rPr>
                        <a:t>0.10 m</a:t>
                      </a:r>
                    </a:p>
                  </a:txBody>
                  <a:tcPr anchor="ctr" marL="114300" marR="114300">
                    <a:solidFill>
                      <a:srgbClr val="1F2933"/>
                    </a:solidFill>
                  </a:tcPr>
                </a:tc>
              </a:tr>
              <a:tr h="609600">
                <a:tc>
                  <a:txBody>
                    <a:bodyPr/>
                    <a:lstStyle/>
                    <a:p>
                      <a:pPr algn="l"/>
                      <a:r>
                        <a:rPr sz="2200" b="0">
                          <a:solidFill>
                            <a:srgbClr val="1F2933"/>
                          </a:solidFill>
                          <a:latin typeface="Segoe UI"/>
                        </a:rPr>
                        <a:t>Car in one cluster</a:t>
                      </a:r>
                    </a:p>
                  </a:txBody>
                  <a:tcPr anchor="ctr" marL="114300" marR="114300">
                    <a:solidFill>
                      <a:srgbClr val="FFFFFF"/>
                    </a:solidFill>
                  </a:tcPr>
                </a:tc>
                <a:tc>
                  <a:txBody>
                    <a:bodyPr/>
                    <a:lstStyle/>
                    <a:p>
                      <a:pPr algn="ctr"/>
                      <a:r>
                        <a:rPr sz="2200" b="0">
                          <a:solidFill>
                            <a:srgbClr val="1F2933"/>
                          </a:solidFill>
                          <a:latin typeface="Segoe UI"/>
                        </a:rPr>
                        <a:t>55.1%</a:t>
                      </a:r>
                    </a:p>
                  </a:txBody>
                  <a:tcPr anchor="ctr" marL="114300" marR="114300">
                    <a:solidFill>
                      <a:srgbClr val="FFFFFF"/>
                    </a:solidFill>
                  </a:tcPr>
                </a:tc>
                <a:tc>
                  <a:txBody>
                    <a:bodyPr/>
                    <a:lstStyle/>
                    <a:p>
                      <a:pPr algn="ctr"/>
                      <a:r>
                        <a:rPr sz="2200" b="0">
                          <a:solidFill>
                            <a:srgbClr val="1F2933"/>
                          </a:solidFill>
                          <a:latin typeface="Segoe UI"/>
                        </a:rPr>
                        <a:t>66.0%</a:t>
                      </a:r>
                    </a:p>
                  </a:txBody>
                  <a:tcPr anchor="ctr" marL="114300" marR="114300">
                    <a:solidFill>
                      <a:srgbClr val="FFFFFF"/>
                    </a:solidFill>
                  </a:tcPr>
                </a:tc>
              </a:tr>
              <a:tr h="609600">
                <a:tc>
                  <a:txBody>
                    <a:bodyPr/>
                    <a:lstStyle/>
                    <a:p>
                      <a:pPr algn="l"/>
                      <a:r>
                        <a:rPr sz="2200" b="0">
                          <a:solidFill>
                            <a:srgbClr val="1F2933"/>
                          </a:solidFill>
                          <a:latin typeface="Segoe UI"/>
                        </a:rPr>
                        <a:t>Car split</a:t>
                      </a:r>
                    </a:p>
                  </a:txBody>
                  <a:tcPr anchor="ctr" marL="114300" marR="114300">
                    <a:solidFill>
                      <a:srgbClr val="EEF0F2"/>
                    </a:solidFill>
                  </a:tcPr>
                </a:tc>
                <a:tc>
                  <a:txBody>
                    <a:bodyPr/>
                    <a:lstStyle/>
                    <a:p>
                      <a:pPr algn="ctr"/>
                      <a:r>
                        <a:rPr sz="2200" b="0">
                          <a:solidFill>
                            <a:srgbClr val="1F2933"/>
                          </a:solidFill>
                          <a:latin typeface="Segoe UI"/>
                        </a:rPr>
                        <a:t>44.8%</a:t>
                      </a:r>
                    </a:p>
                  </a:txBody>
                  <a:tcPr anchor="ctr" marL="114300" marR="114300">
                    <a:solidFill>
                      <a:srgbClr val="EEF0F2"/>
                    </a:solidFill>
                  </a:tcPr>
                </a:tc>
                <a:tc>
                  <a:txBody>
                    <a:bodyPr/>
                    <a:lstStyle/>
                    <a:p>
                      <a:pPr algn="ctr"/>
                      <a:r>
                        <a:rPr sz="2200" b="1">
                          <a:solidFill>
                            <a:srgbClr val="1F2933"/>
                          </a:solidFill>
                          <a:latin typeface="Segoe UI"/>
                        </a:rPr>
                        <a:t>33.7%</a:t>
                      </a:r>
                    </a:p>
                  </a:txBody>
                  <a:tcPr anchor="ctr" marL="114300" marR="114300">
                    <a:solidFill>
                      <a:srgbClr val="EEF0F2"/>
                    </a:solidFill>
                  </a:tcPr>
                </a:tc>
              </a:tr>
              <a:tr h="609600">
                <a:tc>
                  <a:txBody>
                    <a:bodyPr/>
                    <a:lstStyle/>
                    <a:p>
                      <a:pPr algn="l"/>
                      <a:r>
                        <a:rPr sz="2200" b="0">
                          <a:solidFill>
                            <a:srgbClr val="1F2933"/>
                          </a:solidFill>
                          <a:latin typeface="Segoe UI"/>
                        </a:rPr>
                        <a:t>Car merged</a:t>
                      </a:r>
                    </a:p>
                  </a:txBody>
                  <a:tcPr anchor="ctr" marL="114300" marR="114300">
                    <a:solidFill>
                      <a:srgbClr val="FFFFFF"/>
                    </a:solidFill>
                  </a:tcPr>
                </a:tc>
                <a:tc>
                  <a:txBody>
                    <a:bodyPr/>
                    <a:lstStyle/>
                    <a:p>
                      <a:pPr algn="ctr"/>
                      <a:r>
                        <a:rPr sz="2200" b="0">
                          <a:solidFill>
                            <a:srgbClr val="1F2933"/>
                          </a:solidFill>
                          <a:latin typeface="Segoe UI"/>
                        </a:rPr>
                        <a:t>0.2% (56)</a:t>
                      </a:r>
                    </a:p>
                  </a:txBody>
                  <a:tcPr anchor="ctr" marL="114300" marR="114300">
                    <a:solidFill>
                      <a:srgbClr val="FFFFFF"/>
                    </a:solidFill>
                  </a:tcPr>
                </a:tc>
                <a:tc>
                  <a:txBody>
                    <a:bodyPr/>
                    <a:lstStyle/>
                    <a:p>
                      <a:pPr algn="ctr"/>
                      <a:r>
                        <a:rPr sz="2200" b="1">
                          <a:solidFill>
                            <a:srgbClr val="1F2933"/>
                          </a:solidFill>
                          <a:latin typeface="Segoe UI"/>
                        </a:rPr>
                        <a:t>0.8% (284)</a:t>
                      </a:r>
                    </a:p>
                  </a:txBody>
                  <a:tcPr anchor="ctr" marL="114300" marR="114300">
                    <a:solidFill>
                      <a:srgbClr val="FFFFFF"/>
                    </a:solidFill>
                  </a:tcPr>
                </a:tc>
              </a:tr>
              <a:tr h="609600">
                <a:tc>
                  <a:txBody>
                    <a:bodyPr/>
                    <a:lstStyle/>
                    <a:p>
                      <a:pPr algn="l"/>
                      <a:r>
                        <a:rPr sz="2200" b="0">
                          <a:solidFill>
                            <a:srgbClr val="1F2933"/>
                          </a:solidFill>
                          <a:latin typeface="Segoe UI"/>
                        </a:rPr>
                        <a:t>Clusters per split car</a:t>
                      </a:r>
                    </a:p>
                  </a:txBody>
                  <a:tcPr anchor="ctr" marL="114300" marR="114300">
                    <a:solidFill>
                      <a:srgbClr val="EEF0F2"/>
                    </a:solidFill>
                  </a:tcPr>
                </a:tc>
                <a:tc>
                  <a:txBody>
                    <a:bodyPr/>
                    <a:lstStyle/>
                    <a:p>
                      <a:pPr algn="ctr"/>
                      <a:r>
                        <a:rPr sz="2200" b="0">
                          <a:solidFill>
                            <a:srgbClr val="1F2933"/>
                          </a:solidFill>
                          <a:latin typeface="Segoe UI"/>
                        </a:rPr>
                        <a:t>4.7</a:t>
                      </a:r>
                    </a:p>
                  </a:txBody>
                  <a:tcPr anchor="ctr" marL="114300" marR="114300">
                    <a:solidFill>
                      <a:srgbClr val="EEF0F2"/>
                    </a:solidFill>
                  </a:tcPr>
                </a:tc>
                <a:tc>
                  <a:txBody>
                    <a:bodyPr/>
                    <a:lstStyle/>
                    <a:p>
                      <a:pPr algn="ctr"/>
                      <a:r>
                        <a:rPr sz="2200" b="0">
                          <a:solidFill>
                            <a:srgbClr val="1F2933"/>
                          </a:solidFill>
                          <a:latin typeface="Segoe UI"/>
                        </a:rPr>
                        <a:t>3.0</a:t>
                      </a:r>
                    </a:p>
                  </a:txBody>
                  <a:tcPr anchor="ctr" marL="114300" marR="114300">
                    <a:solidFill>
                      <a:srgbClr val="EEF0F2"/>
                    </a:solidFill>
                  </a:tcPr>
                </a:tc>
              </a:tr>
            </a:tbl>
          </a:graphicData>
        </a:graphic>
      </p:graphicFrame>
      <p:sp>
        <p:nvSpPr>
          <p:cNvPr id="9" name="TextBox 8"/>
          <p:cNvSpPr txBox="1"/>
          <p:nvPr/>
        </p:nvSpPr>
        <p:spPr>
          <a:xfrm>
            <a:off x="10271760" y="6038850"/>
            <a:ext cx="6873240" cy="1524000"/>
          </a:xfrm>
          <a:prstGeom prst="rect">
            <a:avLst/>
          </a:prstGeom>
          <a:noFill/>
        </p:spPr>
        <p:txBody>
          <a:bodyPr wrap="square" anchor="t" lIns="0" rIns="0" tIns="0" bIns="0">
            <a:spAutoFit/>
          </a:bodyPr>
          <a:lstStyle/>
          <a:p>
            <a:pPr algn="l">
              <a:spcAft>
                <a:spcPts val="0"/>
              </a:spcAft>
            </a:pPr>
            <a:r>
              <a:rPr sz="2400" b="0" i="0">
                <a:solidFill>
                  <a:srgbClr val="1F2933"/>
                </a:solidFill>
                <a:latin typeface="Segoe UI"/>
              </a:rPr>
              <a:t>Recall 0.710 → 0.732 (+756 true positives),</a:t>
            </a:r>
          </a:p>
          <a:p>
            <a:pPr algn="l">
              <a:spcAft>
                <a:spcPts val="0"/>
              </a:spcAft>
            </a:pPr>
            <a:r>
              <a:rPr sz="2400" b="0" i="0">
                <a:solidFill>
                  <a:srgbClr val="1F2933"/>
                </a:solidFill>
                <a:latin typeface="Segoe UI"/>
              </a:rPr>
              <a:t>F1 0.798 → 0.812.</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3.6.3 IOU-THRESHOLD SENSITIVITY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F1 moves by under 3 points between IoU 0.25 and 0.50.</a:t>
            </a:r>
          </a:p>
        </p:txBody>
      </p:sp>
      <p:graphicFrame>
        <p:nvGraphicFramePr>
          <p:cNvPr id="4" name="Table 3"/>
          <p:cNvGraphicFramePr>
            <a:graphicFrameLocks noGrp="1"/>
          </p:cNvGraphicFramePr>
          <p:nvPr/>
        </p:nvGraphicFramePr>
        <p:xfrm>
          <a:off x="1143000" y="2476500"/>
          <a:ext cx="16002001" cy="3048000"/>
        </p:xfrm>
        <a:graphic>
          <a:graphicData uri="http://schemas.openxmlformats.org/drawingml/2006/table">
            <a:tbl>
              <a:tblPr firstRow="1" bandRow="1">
                <a:tableStyleId>{5C22544A-7EE6-4342-B048-85BDC9FD1C3A}</a:tableStyleId>
              </a:tblPr>
              <a:tblGrid>
                <a:gridCol w="3084723"/>
                <a:gridCol w="2120747"/>
                <a:gridCol w="1927952"/>
                <a:gridCol w="1735157"/>
                <a:gridCol w="2120747"/>
                <a:gridCol w="5012675"/>
              </a:tblGrid>
              <a:tr h="762000">
                <a:tc>
                  <a:txBody>
                    <a:bodyPr/>
                    <a:lstStyle/>
                    <a:p>
                      <a:pPr algn="l"/>
                      <a:r>
                        <a:rPr sz="2400" b="1">
                          <a:solidFill>
                            <a:srgbClr val="FFFFFF"/>
                          </a:solidFill>
                          <a:latin typeface="Segoe UI"/>
                        </a:rPr>
                        <a:t>IoU threshold</a:t>
                      </a:r>
                    </a:p>
                  </a:txBody>
                  <a:tcPr anchor="ctr" marL="114300" marR="114300">
                    <a:solidFill>
                      <a:srgbClr val="1F2933"/>
                    </a:solidFill>
                  </a:tcPr>
                </a:tc>
                <a:tc>
                  <a:txBody>
                    <a:bodyPr/>
                    <a:lstStyle/>
                    <a:p>
                      <a:pPr algn="ctr"/>
                      <a:r>
                        <a:rPr sz="2400" b="1">
                          <a:solidFill>
                            <a:srgbClr val="FFFFFF"/>
                          </a:solidFill>
                          <a:latin typeface="Segoe UI"/>
                        </a:rPr>
                        <a:t>Precision</a:t>
                      </a:r>
                    </a:p>
                  </a:txBody>
                  <a:tcPr anchor="ctr" marL="114300" marR="114300">
                    <a:solidFill>
                      <a:srgbClr val="1F2933"/>
                    </a:solidFill>
                  </a:tcPr>
                </a:tc>
                <a:tc>
                  <a:txBody>
                    <a:bodyPr/>
                    <a:lstStyle/>
                    <a:p>
                      <a:pPr algn="ctr"/>
                      <a:r>
                        <a:rPr sz="2400" b="1">
                          <a:solidFill>
                            <a:srgbClr val="FFFFFF"/>
                          </a:solidFill>
                          <a:latin typeface="Segoe UI"/>
                        </a:rPr>
                        <a:t>Recall</a:t>
                      </a:r>
                    </a:p>
                  </a:txBody>
                  <a:tcPr anchor="ctr" marL="114300" marR="114300">
                    <a:solidFill>
                      <a:srgbClr val="1F2933"/>
                    </a:solidFill>
                  </a:tcPr>
                </a:tc>
                <a:tc>
                  <a:txBody>
                    <a:bodyPr/>
                    <a:lstStyle/>
                    <a:p>
                      <a:pPr algn="ctr"/>
                      <a:r>
                        <a:rPr sz="2400" b="1">
                          <a:solidFill>
                            <a:srgbClr val="FFFFFF"/>
                          </a:solidFill>
                          <a:latin typeface="Segoe UI"/>
                        </a:rPr>
                        <a:t>F1</a:t>
                      </a:r>
                    </a:p>
                  </a:txBody>
                  <a:tcPr anchor="ctr" marL="114300" marR="114300">
                    <a:solidFill>
                      <a:srgbClr val="1F2933"/>
                    </a:solidFill>
                  </a:tcPr>
                </a:tc>
                <a:tc>
                  <a:txBody>
                    <a:bodyPr/>
                    <a:lstStyle/>
                    <a:p>
                      <a:pPr algn="ctr"/>
                      <a:r>
                        <a:rPr sz="2400" b="1">
                          <a:solidFill>
                            <a:srgbClr val="FFFFFF"/>
                          </a:solidFill>
                          <a:latin typeface="Segoe UI"/>
                        </a:rPr>
                        <a:t>Mean IoU</a:t>
                      </a:r>
                    </a:p>
                  </a:txBody>
                  <a:tcPr anchor="ctr" marL="114300" marR="114300">
                    <a:solidFill>
                      <a:srgbClr val="1F2933"/>
                    </a:solidFill>
                  </a:tcPr>
                </a:tc>
                <a:tc>
                  <a:txBody>
                    <a:bodyPr/>
                    <a:lstStyle/>
                    <a:p>
                      <a:pPr algn="ctr"/>
                      <a:r>
                        <a:rPr sz="2400" b="1">
                          <a:solidFill>
                            <a:srgbClr val="FFFFFF"/>
                          </a:solidFill>
                          <a:latin typeface="Segoe UI"/>
                        </a:rPr>
                        <a:t>TP / FP / FN</a:t>
                      </a:r>
                    </a:p>
                  </a:txBody>
                  <a:tcPr anchor="ctr" marL="114300" marR="114300">
                    <a:solidFill>
                      <a:srgbClr val="1F2933"/>
                    </a:solidFill>
                  </a:tcPr>
                </a:tc>
              </a:tr>
              <a:tr h="762000">
                <a:tc>
                  <a:txBody>
                    <a:bodyPr/>
                    <a:lstStyle/>
                    <a:p>
                      <a:pPr algn="l"/>
                      <a:r>
                        <a:rPr sz="2400" b="0">
                          <a:solidFill>
                            <a:srgbClr val="1F2933"/>
                          </a:solidFill>
                          <a:latin typeface="Segoe UI"/>
                        </a:rPr>
                        <a:t>0.25</a:t>
                      </a:r>
                    </a:p>
                  </a:txBody>
                  <a:tcPr anchor="ctr" marL="114300" marR="114300">
                    <a:solidFill>
                      <a:srgbClr val="FFFFFF"/>
                    </a:solidFill>
                  </a:tcPr>
                </a:tc>
                <a:tc>
                  <a:txBody>
                    <a:bodyPr/>
                    <a:lstStyle/>
                    <a:p>
                      <a:pPr algn="ctr"/>
                      <a:r>
                        <a:rPr sz="2400" b="0">
                          <a:solidFill>
                            <a:srgbClr val="1F2933"/>
                          </a:solidFill>
                          <a:latin typeface="Segoe UI"/>
                        </a:rPr>
                        <a:t>0.914</a:t>
                      </a:r>
                    </a:p>
                  </a:txBody>
                  <a:tcPr anchor="ctr" marL="114300" marR="114300">
                    <a:solidFill>
                      <a:srgbClr val="FFFFFF"/>
                    </a:solidFill>
                  </a:tcPr>
                </a:tc>
                <a:tc>
                  <a:txBody>
                    <a:bodyPr/>
                    <a:lstStyle/>
                    <a:p>
                      <a:pPr algn="ctr"/>
                      <a:r>
                        <a:rPr sz="2400" b="0">
                          <a:solidFill>
                            <a:srgbClr val="1F2933"/>
                          </a:solidFill>
                          <a:latin typeface="Segoe UI"/>
                        </a:rPr>
                        <a:t>0.735</a:t>
                      </a:r>
                    </a:p>
                  </a:txBody>
                  <a:tcPr anchor="ctr" marL="114300" marR="114300">
                    <a:solidFill>
                      <a:srgbClr val="FFFFFF"/>
                    </a:solidFill>
                  </a:tcPr>
                </a:tc>
                <a:tc>
                  <a:txBody>
                    <a:bodyPr/>
                    <a:lstStyle/>
                    <a:p>
                      <a:pPr algn="ctr"/>
                      <a:r>
                        <a:rPr sz="2400" b="0">
                          <a:solidFill>
                            <a:srgbClr val="1F2933"/>
                          </a:solidFill>
                          <a:latin typeface="Segoe UI"/>
                        </a:rPr>
                        <a:t>0.815</a:t>
                      </a:r>
                    </a:p>
                  </a:txBody>
                  <a:tcPr anchor="ctr" marL="114300" marR="114300">
                    <a:solidFill>
                      <a:srgbClr val="FFFFFF"/>
                    </a:solidFill>
                  </a:tcPr>
                </a:tc>
                <a:tc>
                  <a:txBody>
                    <a:bodyPr/>
                    <a:lstStyle/>
                    <a:p>
                      <a:pPr algn="ctr"/>
                      <a:r>
                        <a:rPr sz="2400" b="0">
                          <a:solidFill>
                            <a:srgbClr val="1F2933"/>
                          </a:solidFill>
                          <a:latin typeface="Segoe UI"/>
                        </a:rPr>
                        <a:t>0.910</a:t>
                      </a:r>
                    </a:p>
                  </a:txBody>
                  <a:tcPr anchor="ctr" marL="114300" marR="114300">
                    <a:solidFill>
                      <a:srgbClr val="FFFFFF"/>
                    </a:solidFill>
                  </a:tcPr>
                </a:tc>
                <a:tc>
                  <a:txBody>
                    <a:bodyPr/>
                    <a:lstStyle/>
                    <a:p>
                      <a:pPr algn="ctr"/>
                      <a:r>
                        <a:rPr sz="2400" b="0">
                          <a:solidFill>
                            <a:srgbClr val="1F2933"/>
                          </a:solidFill>
                          <a:latin typeface="Segoe UI"/>
                        </a:rPr>
                        <a:t>25,660 / 2,421 / 9,262</a:t>
                      </a:r>
                    </a:p>
                  </a:txBody>
                  <a:tcPr anchor="ctr" marL="114300" marR="114300">
                    <a:solidFill>
                      <a:srgbClr val="FFFFFF"/>
                    </a:solidFill>
                  </a:tcPr>
                </a:tc>
              </a:tr>
              <a:tr h="762000">
                <a:tc>
                  <a:txBody>
                    <a:bodyPr/>
                    <a:lstStyle/>
                    <a:p>
                      <a:pPr algn="l"/>
                      <a:r>
                        <a:rPr sz="2400" b="1">
                          <a:solidFill>
                            <a:srgbClr val="1F2933"/>
                          </a:solidFill>
                          <a:latin typeface="Segoe UI"/>
                        </a:rPr>
                        <a:t>0.30 (headline)</a:t>
                      </a:r>
                    </a:p>
                  </a:txBody>
                  <a:tcPr anchor="ctr" marL="114300" marR="114300">
                    <a:solidFill>
                      <a:srgbClr val="EEF0F2"/>
                    </a:solidFill>
                  </a:tcPr>
                </a:tc>
                <a:tc>
                  <a:txBody>
                    <a:bodyPr/>
                    <a:lstStyle/>
                    <a:p>
                      <a:pPr algn="ctr"/>
                      <a:r>
                        <a:rPr sz="2400" b="1">
                          <a:solidFill>
                            <a:srgbClr val="1F2933"/>
                          </a:solidFill>
                          <a:latin typeface="Segoe UI"/>
                        </a:rPr>
                        <a:t>0.911</a:t>
                      </a:r>
                    </a:p>
                  </a:txBody>
                  <a:tcPr anchor="ctr" marL="114300" marR="114300">
                    <a:solidFill>
                      <a:srgbClr val="EEF0F2"/>
                    </a:solidFill>
                  </a:tcPr>
                </a:tc>
                <a:tc>
                  <a:txBody>
                    <a:bodyPr/>
                    <a:lstStyle/>
                    <a:p>
                      <a:pPr algn="ctr"/>
                      <a:r>
                        <a:rPr sz="2400" b="1">
                          <a:solidFill>
                            <a:srgbClr val="1F2933"/>
                          </a:solidFill>
                          <a:latin typeface="Segoe UI"/>
                        </a:rPr>
                        <a:t>0.732</a:t>
                      </a:r>
                    </a:p>
                  </a:txBody>
                  <a:tcPr anchor="ctr" marL="114300" marR="114300">
                    <a:solidFill>
                      <a:srgbClr val="EEF0F2"/>
                    </a:solidFill>
                  </a:tcPr>
                </a:tc>
                <a:tc>
                  <a:txBody>
                    <a:bodyPr/>
                    <a:lstStyle/>
                    <a:p>
                      <a:pPr algn="ctr"/>
                      <a:r>
                        <a:rPr sz="2400" b="1">
                          <a:solidFill>
                            <a:srgbClr val="1F2933"/>
                          </a:solidFill>
                          <a:latin typeface="Segoe UI"/>
                        </a:rPr>
                        <a:t>0.812</a:t>
                      </a:r>
                    </a:p>
                  </a:txBody>
                  <a:tcPr anchor="ctr" marL="114300" marR="114300">
                    <a:solidFill>
                      <a:srgbClr val="EEF0F2"/>
                    </a:solidFill>
                  </a:tcPr>
                </a:tc>
                <a:tc>
                  <a:txBody>
                    <a:bodyPr/>
                    <a:lstStyle/>
                    <a:p>
                      <a:pPr algn="ctr"/>
                      <a:r>
                        <a:rPr sz="2400" b="0">
                          <a:solidFill>
                            <a:srgbClr val="1F2933"/>
                          </a:solidFill>
                          <a:latin typeface="Segoe UI"/>
                        </a:rPr>
                        <a:t>0.913</a:t>
                      </a:r>
                    </a:p>
                  </a:txBody>
                  <a:tcPr anchor="ctr" marL="114300" marR="114300">
                    <a:solidFill>
                      <a:srgbClr val="EEF0F2"/>
                    </a:solidFill>
                  </a:tcPr>
                </a:tc>
                <a:tc>
                  <a:txBody>
                    <a:bodyPr/>
                    <a:lstStyle/>
                    <a:p>
                      <a:pPr algn="ctr"/>
                      <a:r>
                        <a:rPr sz="2400" b="0">
                          <a:solidFill>
                            <a:srgbClr val="1F2933"/>
                          </a:solidFill>
                          <a:latin typeface="Segoe UI"/>
                        </a:rPr>
                        <a:t>25,568 / 2,513 / 9,354</a:t>
                      </a:r>
                    </a:p>
                  </a:txBody>
                  <a:tcPr anchor="ctr" marL="114300" marR="114300">
                    <a:solidFill>
                      <a:srgbClr val="EEF0F2"/>
                    </a:solidFill>
                  </a:tcPr>
                </a:tc>
              </a:tr>
              <a:tr h="762000">
                <a:tc>
                  <a:txBody>
                    <a:bodyPr/>
                    <a:lstStyle/>
                    <a:p>
                      <a:pPr algn="l"/>
                      <a:r>
                        <a:rPr sz="2400" b="0">
                          <a:solidFill>
                            <a:srgbClr val="1F2933"/>
                          </a:solidFill>
                          <a:latin typeface="Segoe UI"/>
                        </a:rPr>
                        <a:t>0.50</a:t>
                      </a:r>
                    </a:p>
                  </a:txBody>
                  <a:tcPr anchor="ctr" marL="114300" marR="114300">
                    <a:solidFill>
                      <a:srgbClr val="FFFFFF"/>
                    </a:solidFill>
                  </a:tcPr>
                </a:tc>
                <a:tc>
                  <a:txBody>
                    <a:bodyPr/>
                    <a:lstStyle/>
                    <a:p>
                      <a:pPr algn="ctr"/>
                      <a:r>
                        <a:rPr sz="2400" b="0">
                          <a:solidFill>
                            <a:srgbClr val="1F2933"/>
                          </a:solidFill>
                          <a:latin typeface="Segoe UI"/>
                        </a:rPr>
                        <a:t>0.884</a:t>
                      </a:r>
                    </a:p>
                  </a:txBody>
                  <a:tcPr anchor="ctr" marL="114300" marR="114300">
                    <a:solidFill>
                      <a:srgbClr val="FFFFFF"/>
                    </a:solidFill>
                  </a:tcPr>
                </a:tc>
                <a:tc>
                  <a:txBody>
                    <a:bodyPr/>
                    <a:lstStyle/>
                    <a:p>
                      <a:pPr algn="ctr"/>
                      <a:r>
                        <a:rPr sz="2400" b="0">
                          <a:solidFill>
                            <a:srgbClr val="1F2933"/>
                          </a:solidFill>
                          <a:latin typeface="Segoe UI"/>
                        </a:rPr>
                        <a:t>0.711</a:t>
                      </a:r>
                    </a:p>
                  </a:txBody>
                  <a:tcPr anchor="ctr" marL="114300" marR="114300">
                    <a:solidFill>
                      <a:srgbClr val="FFFFFF"/>
                    </a:solidFill>
                  </a:tcPr>
                </a:tc>
                <a:tc>
                  <a:txBody>
                    <a:bodyPr/>
                    <a:lstStyle/>
                    <a:p>
                      <a:pPr algn="ctr"/>
                      <a:r>
                        <a:rPr sz="2400" b="0">
                          <a:solidFill>
                            <a:srgbClr val="1F2933"/>
                          </a:solidFill>
                          <a:latin typeface="Segoe UI"/>
                        </a:rPr>
                        <a:t>0.788</a:t>
                      </a:r>
                    </a:p>
                  </a:txBody>
                  <a:tcPr anchor="ctr" marL="114300" marR="114300">
                    <a:solidFill>
                      <a:srgbClr val="FFFFFF"/>
                    </a:solidFill>
                  </a:tcPr>
                </a:tc>
                <a:tc>
                  <a:txBody>
                    <a:bodyPr/>
                    <a:lstStyle/>
                    <a:p>
                      <a:pPr algn="ctr"/>
                      <a:r>
                        <a:rPr sz="2400" b="0">
                          <a:solidFill>
                            <a:srgbClr val="1F2933"/>
                          </a:solidFill>
                          <a:latin typeface="Segoe UI"/>
                        </a:rPr>
                        <a:t>0.927</a:t>
                      </a:r>
                    </a:p>
                  </a:txBody>
                  <a:tcPr anchor="ctr" marL="114300" marR="114300">
                    <a:solidFill>
                      <a:srgbClr val="FFFFFF"/>
                    </a:solidFill>
                  </a:tcPr>
                </a:tc>
                <a:tc>
                  <a:txBody>
                    <a:bodyPr/>
                    <a:lstStyle/>
                    <a:p>
                      <a:pPr algn="ctr"/>
                      <a:r>
                        <a:rPr sz="2400" b="0">
                          <a:solidFill>
                            <a:srgbClr val="1F2933"/>
                          </a:solidFill>
                          <a:latin typeface="Segoe UI"/>
                        </a:rPr>
                        <a:t>24,837 / 3,244 / 10,085</a:t>
                      </a:r>
                    </a:p>
                  </a:txBody>
                  <a:tcPr anchor="ctr" marL="114300" marR="114300">
                    <a:solidFill>
                      <a:srgbClr val="FFFFFF"/>
                    </a:solidFill>
                  </a:tcPr>
                </a:tc>
              </a:tr>
            </a:tbl>
          </a:graphicData>
        </a:graphic>
      </p:graphicFrame>
      <p:sp>
        <p:nvSpPr>
          <p:cNvPr id="5" name="TextBox 4"/>
          <p:cNvSpPr txBox="1"/>
          <p:nvPr/>
        </p:nvSpPr>
        <p:spPr>
          <a:xfrm>
            <a:off x="1143000" y="5810250"/>
            <a:ext cx="16002000" cy="1905000"/>
          </a:xfrm>
          <a:prstGeom prst="rect">
            <a:avLst/>
          </a:prstGeom>
          <a:noFill/>
        </p:spPr>
        <p:txBody>
          <a:bodyPr wrap="square" anchor="t" lIns="0" rIns="0" tIns="0" bIns="0">
            <a:spAutoFit/>
          </a:bodyPr>
          <a:lstStyle/>
          <a:p>
            <a:pPr algn="l">
              <a:spcAft>
                <a:spcPts val="1000"/>
              </a:spcAft>
            </a:pPr>
            <a:r>
              <a:rPr sz="2400" b="0" i="0">
                <a:solidFill>
                  <a:srgbClr val="1F2933"/>
                </a:solidFill>
                <a:latin typeface="Segoe UI"/>
              </a:rPr>
              <a:t>F1 drops only 2.4 points from 0.30 to the strict 0.50: matched detections already overlap at 0.913 on average.</a:t>
            </a:r>
          </a:p>
          <a:p>
            <a:pPr algn="l">
              <a:spcAft>
                <a:spcPts val="1000"/>
              </a:spcAft>
            </a:pPr>
            <a:r>
              <a:rPr sz="2400" b="0" i="0">
                <a:solidFill>
                  <a:srgbClr val="1F2933"/>
                </a:solidFill>
                <a:latin typeface="Segoe UI"/>
              </a:rPr>
              <a:t>Full seq 08, everything else frozen. Mean IoU is over matched detections only.</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3.6.4 SYNTHETIC PRETRAINING</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Synthetic pretraining adds nothing once enough real clusters are mined.</a:t>
            </a:r>
          </a:p>
        </p:txBody>
      </p:sp>
      <p:sp>
        <p:nvSpPr>
          <p:cNvPr id="4" name="TextBox 3"/>
          <p:cNvSpPr txBox="1"/>
          <p:nvPr/>
        </p:nvSpPr>
        <p:spPr>
          <a:xfrm>
            <a:off x="11430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Classifier level (seq 08 validation clusters)</a:t>
            </a:r>
          </a:p>
        </p:txBody>
      </p:sp>
      <p:graphicFrame>
        <p:nvGraphicFramePr>
          <p:cNvPr id="5" name="Table 4"/>
          <p:cNvGraphicFramePr>
            <a:graphicFrameLocks noGrp="1"/>
          </p:cNvGraphicFramePr>
          <p:nvPr/>
        </p:nvGraphicFramePr>
        <p:xfrm>
          <a:off x="1143000" y="2762250"/>
          <a:ext cx="7810500" cy="2057400"/>
        </p:xfrm>
        <a:graphic>
          <a:graphicData uri="http://schemas.openxmlformats.org/drawingml/2006/table">
            <a:tbl>
              <a:tblPr firstRow="1" bandRow="1">
                <a:tableStyleId>{5C22544A-7EE6-4342-B048-85BDC9FD1C3A}</a:tableStyleId>
              </a:tblPr>
              <a:tblGrid>
                <a:gridCol w="5640917"/>
                <a:gridCol w="2169583"/>
              </a:tblGrid>
              <a:tr h="685800">
                <a:tc>
                  <a:txBody>
                    <a:bodyPr/>
                    <a:lstStyle/>
                    <a:p>
                      <a:pPr algn="l"/>
                      <a:r>
                        <a:rPr sz="2200" b="1">
                          <a:solidFill>
                            <a:srgbClr val="FFFFFF"/>
                          </a:solidFill>
                          <a:latin typeface="Segoe UI"/>
                        </a:rPr>
                        <a:t>Training recipe</a:t>
                      </a:r>
                    </a:p>
                  </a:txBody>
                  <a:tcPr anchor="ctr" marL="114300" marR="114300">
                    <a:solidFill>
                      <a:srgbClr val="1F2933"/>
                    </a:solidFill>
                  </a:tcPr>
                </a:tc>
                <a:tc>
                  <a:txBody>
                    <a:bodyPr/>
                    <a:lstStyle/>
                    <a:p>
                      <a:pPr algn="ctr"/>
                      <a:r>
                        <a:rPr sz="2200" b="1">
                          <a:solidFill>
                            <a:srgbClr val="FFFFFF"/>
                          </a:solidFill>
                          <a:latin typeface="Segoe UI"/>
                        </a:rPr>
                        <a:t>Macro-F1</a:t>
                      </a:r>
                    </a:p>
                  </a:txBody>
                  <a:tcPr anchor="ctr" marL="114300" marR="114300">
                    <a:solidFill>
                      <a:srgbClr val="1F2933"/>
                    </a:solidFill>
                  </a:tcPr>
                </a:tc>
              </a:tr>
              <a:tr h="685800">
                <a:tc>
                  <a:txBody>
                    <a:bodyPr/>
                    <a:lstStyle/>
                    <a:p>
                      <a:pPr algn="l"/>
                      <a:r>
                        <a:rPr sz="2200" b="1">
                          <a:solidFill>
                            <a:srgbClr val="1F2933"/>
                          </a:solidFill>
                          <a:latin typeface="Segoe UI"/>
                        </a:rPr>
                        <a:t>Real clusters only, from scratch (final)</a:t>
                      </a:r>
                    </a:p>
                  </a:txBody>
                  <a:tcPr anchor="ctr" marL="114300" marR="114300">
                    <a:solidFill>
                      <a:srgbClr val="FFFFFF"/>
                    </a:solidFill>
                  </a:tcPr>
                </a:tc>
                <a:tc>
                  <a:txBody>
                    <a:bodyPr/>
                    <a:lstStyle/>
                    <a:p>
                      <a:pPr algn="ctr"/>
                      <a:r>
                        <a:rPr sz="2200" b="1">
                          <a:solidFill>
                            <a:srgbClr val="1F2933"/>
                          </a:solidFill>
                          <a:latin typeface="Segoe UI"/>
                        </a:rPr>
                        <a:t>0.9285</a:t>
                      </a:r>
                    </a:p>
                  </a:txBody>
                  <a:tcPr anchor="ctr" marL="114300" marR="114300">
                    <a:solidFill>
                      <a:srgbClr val="FFFFFF"/>
                    </a:solidFill>
                  </a:tcPr>
                </a:tc>
              </a:tr>
              <a:tr h="685800">
                <a:tc>
                  <a:txBody>
                    <a:bodyPr/>
                    <a:lstStyle/>
                    <a:p>
                      <a:pPr algn="l"/>
                      <a:r>
                        <a:rPr sz="2200" b="0">
                          <a:solidFill>
                            <a:srgbClr val="1F2933"/>
                          </a:solidFill>
                          <a:latin typeface="Segoe UI"/>
                        </a:rPr>
                        <a:t>Synthetic pretraining, then real</a:t>
                      </a:r>
                    </a:p>
                  </a:txBody>
                  <a:tcPr anchor="ctr" marL="114300" marR="114300">
                    <a:solidFill>
                      <a:srgbClr val="EEF0F2"/>
                    </a:solidFill>
                  </a:tcPr>
                </a:tc>
                <a:tc>
                  <a:txBody>
                    <a:bodyPr/>
                    <a:lstStyle/>
                    <a:p>
                      <a:pPr algn="ctr"/>
                      <a:r>
                        <a:rPr sz="2200" b="0">
                          <a:solidFill>
                            <a:srgbClr val="1F2933"/>
                          </a:solidFill>
                          <a:latin typeface="Segoe UI"/>
                        </a:rPr>
                        <a:t>0.9225</a:t>
                      </a:r>
                    </a:p>
                  </a:txBody>
                  <a:tcPr anchor="ctr" marL="114300" marR="114300">
                    <a:solidFill>
                      <a:srgbClr val="EEF0F2"/>
                    </a:solidFill>
                  </a:tcPr>
                </a:tc>
              </a:tr>
            </a:tbl>
          </a:graphicData>
        </a:graphic>
      </p:graphicFrame>
      <p:sp>
        <p:nvSpPr>
          <p:cNvPr id="6" name="TextBox 5"/>
          <p:cNvSpPr txBox="1"/>
          <p:nvPr/>
        </p:nvSpPr>
        <p:spPr>
          <a:xfrm>
            <a:off x="1143000" y="5048250"/>
            <a:ext cx="7810500" cy="1524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Within run-to-run noise. At pipeline level the two give identical F1 to three decimals.</a:t>
            </a:r>
          </a:p>
        </p:txBody>
      </p:sp>
      <p:sp>
        <p:nvSpPr>
          <p:cNvPr id="7" name="TextBox 6"/>
          <p:cNvSpPr txBox="1"/>
          <p:nvPr/>
        </p:nvSpPr>
        <p:spPr>
          <a:xfrm>
            <a:off x="9334500" y="2095500"/>
            <a:ext cx="781050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Cross-domain transfer (car-class F1)</a:t>
            </a:r>
          </a:p>
        </p:txBody>
      </p:sp>
      <p:graphicFrame>
        <p:nvGraphicFramePr>
          <p:cNvPr id="8" name="Table 7"/>
          <p:cNvGraphicFramePr>
            <a:graphicFrameLocks noGrp="1"/>
          </p:cNvGraphicFramePr>
          <p:nvPr/>
        </p:nvGraphicFramePr>
        <p:xfrm>
          <a:off x="9334500" y="2762250"/>
          <a:ext cx="7810500" cy="2057400"/>
        </p:xfrm>
        <a:graphic>
          <a:graphicData uri="http://schemas.openxmlformats.org/drawingml/2006/table">
            <a:tbl>
              <a:tblPr firstRow="1" bandRow="1">
                <a:tableStyleId>{5C22544A-7EE6-4342-B048-85BDC9FD1C3A}</a:tableStyleId>
              </a:tblPr>
              <a:tblGrid>
                <a:gridCol w="3996070"/>
                <a:gridCol w="1998035"/>
                <a:gridCol w="1816395"/>
              </a:tblGrid>
              <a:tr h="685800">
                <a:tc>
                  <a:txBody>
                    <a:bodyPr/>
                    <a:lstStyle/>
                    <a:p>
                      <a:pPr algn="l"/>
                      <a:r>
                        <a:rPr sz="2200" b="1">
                          <a:solidFill>
                            <a:srgbClr val="FFFFFF"/>
                          </a:solidFill>
                          <a:latin typeface="Segoe UI"/>
                        </a:rPr>
                        <a:t>Trained on ↓ / tested on →</a:t>
                      </a:r>
                    </a:p>
                  </a:txBody>
                  <a:tcPr anchor="ctr" marL="114300" marR="114300">
                    <a:solidFill>
                      <a:srgbClr val="1F2933"/>
                    </a:solidFill>
                  </a:tcPr>
                </a:tc>
                <a:tc>
                  <a:txBody>
                    <a:bodyPr/>
                    <a:lstStyle/>
                    <a:p>
                      <a:pPr algn="ctr"/>
                      <a:r>
                        <a:rPr sz="2200" b="1">
                          <a:solidFill>
                            <a:srgbClr val="FFFFFF"/>
                          </a:solidFill>
                          <a:latin typeface="Segoe UI"/>
                        </a:rPr>
                        <a:t>Synthetic</a:t>
                      </a:r>
                    </a:p>
                  </a:txBody>
                  <a:tcPr anchor="ctr" marL="114300" marR="114300">
                    <a:solidFill>
                      <a:srgbClr val="1F2933"/>
                    </a:solidFill>
                  </a:tcPr>
                </a:tc>
                <a:tc>
                  <a:txBody>
                    <a:bodyPr/>
                    <a:lstStyle/>
                    <a:p>
                      <a:pPr algn="ctr"/>
                      <a:r>
                        <a:rPr sz="2200" b="1">
                          <a:solidFill>
                            <a:srgbClr val="FFFFFF"/>
                          </a:solidFill>
                          <a:latin typeface="Segoe UI"/>
                        </a:rPr>
                        <a:t>Real</a:t>
                      </a:r>
                    </a:p>
                  </a:txBody>
                  <a:tcPr anchor="ctr" marL="114300" marR="114300">
                    <a:solidFill>
                      <a:srgbClr val="1F2933"/>
                    </a:solidFill>
                  </a:tcPr>
                </a:tc>
              </a:tr>
              <a:tr h="685800">
                <a:tc>
                  <a:txBody>
                    <a:bodyPr/>
                    <a:lstStyle/>
                    <a:p>
                      <a:pPr algn="l"/>
                      <a:r>
                        <a:rPr sz="2200" b="0">
                          <a:solidFill>
                            <a:srgbClr val="1F2933"/>
                          </a:solidFill>
                          <a:latin typeface="Segoe UI"/>
                        </a:rPr>
                        <a:t>Synthetic (Stage A)</a:t>
                      </a:r>
                    </a:p>
                  </a:txBody>
                  <a:tcPr anchor="ctr" marL="114300" marR="114300">
                    <a:solidFill>
                      <a:srgbClr val="FFFFFF"/>
                    </a:solidFill>
                  </a:tcPr>
                </a:tc>
                <a:tc>
                  <a:txBody>
                    <a:bodyPr/>
                    <a:lstStyle/>
                    <a:p>
                      <a:pPr algn="ctr"/>
                      <a:r>
                        <a:rPr sz="2200" b="0">
                          <a:solidFill>
                            <a:srgbClr val="1F2933"/>
                          </a:solidFill>
                          <a:latin typeface="Segoe UI"/>
                        </a:rPr>
                        <a:t>0.999</a:t>
                      </a:r>
                    </a:p>
                  </a:txBody>
                  <a:tcPr anchor="ctr" marL="114300" marR="114300">
                    <a:solidFill>
                      <a:srgbClr val="FFFFFF"/>
                    </a:solidFill>
                  </a:tcPr>
                </a:tc>
                <a:tc>
                  <a:txBody>
                    <a:bodyPr/>
                    <a:lstStyle/>
                    <a:p>
                      <a:pPr algn="ctr"/>
                      <a:r>
                        <a:rPr sz="2200" b="1">
                          <a:solidFill>
                            <a:srgbClr val="1F2933"/>
                          </a:solidFill>
                          <a:latin typeface="Segoe UI"/>
                        </a:rPr>
                        <a:t>0.000</a:t>
                      </a:r>
                    </a:p>
                  </a:txBody>
                  <a:tcPr anchor="ctr" marL="114300" marR="114300">
                    <a:solidFill>
                      <a:srgbClr val="FFFFFF"/>
                    </a:solidFill>
                  </a:tcPr>
                </a:tc>
              </a:tr>
              <a:tr h="685800">
                <a:tc>
                  <a:txBody>
                    <a:bodyPr/>
                    <a:lstStyle/>
                    <a:p>
                      <a:pPr algn="l"/>
                      <a:r>
                        <a:rPr sz="2200" b="0">
                          <a:solidFill>
                            <a:srgbClr val="1F2933"/>
                          </a:solidFill>
                          <a:latin typeface="Segoe UI"/>
                        </a:rPr>
                        <a:t>Real (Stage B)</a:t>
                      </a:r>
                    </a:p>
                  </a:txBody>
                  <a:tcPr anchor="ctr" marL="114300" marR="114300">
                    <a:solidFill>
                      <a:srgbClr val="EEF0F2"/>
                    </a:solidFill>
                  </a:tcPr>
                </a:tc>
                <a:tc>
                  <a:txBody>
                    <a:bodyPr/>
                    <a:lstStyle/>
                    <a:p>
                      <a:pPr algn="ctr"/>
                      <a:r>
                        <a:rPr sz="2200" b="1">
                          <a:solidFill>
                            <a:srgbClr val="1F2933"/>
                          </a:solidFill>
                          <a:latin typeface="Segoe UI"/>
                        </a:rPr>
                        <a:t>0.000</a:t>
                      </a:r>
                    </a:p>
                  </a:txBody>
                  <a:tcPr anchor="ctr" marL="114300" marR="114300">
                    <a:solidFill>
                      <a:srgbClr val="EEF0F2"/>
                    </a:solidFill>
                  </a:tcPr>
                </a:tc>
                <a:tc>
                  <a:txBody>
                    <a:bodyPr/>
                    <a:lstStyle/>
                    <a:p>
                      <a:pPr algn="ctr"/>
                      <a:r>
                        <a:rPr sz="2200" b="0">
                          <a:solidFill>
                            <a:srgbClr val="1F2933"/>
                          </a:solidFill>
                          <a:latin typeface="Segoe UI"/>
                        </a:rPr>
                        <a:t>0.885</a:t>
                      </a:r>
                    </a:p>
                  </a:txBody>
                  <a:tcPr anchor="ctr" marL="114300" marR="114300">
                    <a:solidFill>
                      <a:srgbClr val="EEF0F2"/>
                    </a:solidFill>
                  </a:tcPr>
                </a:tc>
              </a:tr>
            </a:tbl>
          </a:graphicData>
        </a:graphic>
      </p:graphicFrame>
      <p:sp>
        <p:nvSpPr>
          <p:cNvPr id="9" name="TextBox 8"/>
          <p:cNvSpPr txBox="1"/>
          <p:nvPr/>
        </p:nvSpPr>
        <p:spPr>
          <a:xfrm>
            <a:off x="9334500" y="5048250"/>
            <a:ext cx="7810500" cy="1524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A model from one domain finds no cars in the other: the gap is total and symmetric.</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3.6.5 COMPLETION ABLATIONS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Input quality and normalisation matter more than the choice of network.</a:t>
            </a:r>
          </a:p>
        </p:txBody>
      </p:sp>
      <p:graphicFrame>
        <p:nvGraphicFramePr>
          <p:cNvPr id="4" name="Table 3"/>
          <p:cNvGraphicFramePr>
            <a:graphicFrameLocks noGrp="1"/>
          </p:cNvGraphicFramePr>
          <p:nvPr/>
        </p:nvGraphicFramePr>
        <p:xfrm>
          <a:off x="1143000" y="2286000"/>
          <a:ext cx="16002000" cy="5943600"/>
        </p:xfrm>
        <a:graphic>
          <a:graphicData uri="http://schemas.openxmlformats.org/drawingml/2006/table">
            <a:tbl>
              <a:tblPr firstRow="1" bandRow="1">
                <a:tableStyleId>{5C22544A-7EE6-4342-B048-85BDC9FD1C3A}</a:tableStyleId>
              </a:tblPr>
              <a:tblGrid>
                <a:gridCol w="4000500"/>
                <a:gridCol w="5067300"/>
                <a:gridCol w="6934200"/>
              </a:tblGrid>
              <a:tr h="990600">
                <a:tc>
                  <a:txBody>
                    <a:bodyPr/>
                    <a:lstStyle/>
                    <a:p>
                      <a:pPr algn="l"/>
                      <a:r>
                        <a:rPr sz="2200" b="1">
                          <a:solidFill>
                            <a:srgbClr val="FFFFFF"/>
                          </a:solidFill>
                          <a:latin typeface="Segoe UI"/>
                        </a:rPr>
                        <a:t>Choice</a:t>
                      </a:r>
                    </a:p>
                  </a:txBody>
                  <a:tcPr anchor="ctr" marL="114300" marR="114300">
                    <a:solidFill>
                      <a:srgbClr val="1F2933"/>
                    </a:solidFill>
                  </a:tcPr>
                </a:tc>
                <a:tc>
                  <a:txBody>
                    <a:bodyPr/>
                    <a:lstStyle/>
                    <a:p>
                      <a:pPr algn="l"/>
                      <a:r>
                        <a:rPr sz="2200" b="1">
                          <a:solidFill>
                            <a:srgbClr val="FFFFFF"/>
                          </a:solidFill>
                          <a:latin typeface="Segoe UI"/>
                        </a:rPr>
                        <a:t>Tried instead</a:t>
                      </a:r>
                    </a:p>
                  </a:txBody>
                  <a:tcPr anchor="ctr" marL="114300" marR="114300">
                    <a:solidFill>
                      <a:srgbClr val="1F2933"/>
                    </a:solidFill>
                  </a:tcPr>
                </a:tc>
                <a:tc>
                  <a:txBody>
                    <a:bodyPr/>
                    <a:lstStyle/>
                    <a:p>
                      <a:pPr algn="l"/>
                      <a:r>
                        <a:rPr sz="2200" b="1">
                          <a:solidFill>
                            <a:srgbClr val="FFFFFF"/>
                          </a:solidFill>
                          <a:latin typeface="Segoe UI"/>
                        </a:rPr>
                        <a:t>Result</a:t>
                      </a:r>
                    </a:p>
                  </a:txBody>
                  <a:tcPr anchor="ctr" marL="114300" marR="114300">
                    <a:solidFill>
                      <a:srgbClr val="1F2933"/>
                    </a:solidFill>
                  </a:tcPr>
                </a:tc>
              </a:tr>
              <a:tr h="990600">
                <a:tc>
                  <a:txBody>
                    <a:bodyPr/>
                    <a:lstStyle/>
                    <a:p>
                      <a:pPr algn="l"/>
                      <a:r>
                        <a:rPr sz="2200" b="1">
                          <a:solidFill>
                            <a:srgbClr val="1F2933"/>
                          </a:solidFill>
                          <a:latin typeface="Segoe UI"/>
                        </a:rPr>
                        <a:t>Car-frame normalisation</a:t>
                      </a:r>
                    </a:p>
                  </a:txBody>
                  <a:tcPr anchor="ctr" marL="114300" marR="114300">
                    <a:solidFill>
                      <a:srgbClr val="FFFFFF"/>
                    </a:solidFill>
                  </a:tcPr>
                </a:tc>
                <a:tc>
                  <a:txBody>
                    <a:bodyPr/>
                    <a:lstStyle/>
                    <a:p>
                      <a:pPr algn="l"/>
                      <a:r>
                        <a:rPr sz="2200" b="0">
                          <a:solidFill>
                            <a:srgbClr val="1F2933"/>
                          </a:solidFill>
                          <a:latin typeface="Segoe UI"/>
                        </a:rPr>
                        <a:t>3D PCA frame, own centre and radius</a:t>
                      </a:r>
                    </a:p>
                  </a:txBody>
                  <a:tcPr anchor="ctr" marL="114300" marR="114300">
                    <a:solidFill>
                      <a:srgbClr val="FFFFFF"/>
                    </a:solidFill>
                  </a:tcPr>
                </a:tc>
                <a:tc>
                  <a:txBody>
                    <a:bodyPr/>
                    <a:lstStyle/>
                    <a:p>
                      <a:pPr algn="l"/>
                      <a:r>
                        <a:rPr sz="2200" b="0">
                          <a:solidFill>
                            <a:srgbClr val="1F2933"/>
                          </a:solidFill>
                          <a:latin typeface="Segoe UI"/>
                        </a:rPr>
                        <a:t>same network makes mis-oriented, mis-scaled blobs</a:t>
                      </a:r>
                    </a:p>
                  </a:txBody>
                  <a:tcPr anchor="ctr" marL="114300" marR="114300">
                    <a:solidFill>
                      <a:srgbClr val="FFFFFF"/>
                    </a:solidFill>
                  </a:tcPr>
                </a:tc>
              </a:tr>
              <a:tr h="990600">
                <a:tc>
                  <a:txBody>
                    <a:bodyPr/>
                    <a:lstStyle/>
                    <a:p>
                      <a:pPr algn="l"/>
                      <a:r>
                        <a:rPr sz="2200" b="1">
                          <a:solidFill>
                            <a:srgbClr val="1F2933"/>
                          </a:solidFill>
                          <a:latin typeface="Segoe UI"/>
                        </a:rPr>
                        <a:t>KITTI-like training scans</a:t>
                      </a:r>
                    </a:p>
                  </a:txBody>
                  <a:tcPr anchor="ctr" marL="114300" marR="114300">
                    <a:solidFill>
                      <a:srgbClr val="EEF0F2"/>
                    </a:solidFill>
                  </a:tcPr>
                </a:tc>
                <a:tc>
                  <a:txBody>
                    <a:bodyPr/>
                    <a:lstStyle/>
                    <a:p>
                      <a:pPr algn="l"/>
                      <a:r>
                        <a:rPr sz="2200" b="0">
                          <a:solidFill>
                            <a:srgbClr val="1F2933"/>
                          </a:solidFill>
                          <a:latin typeface="Segoe UI"/>
                        </a:rPr>
                        <a:t>fine-tune on noisier simulated scans</a:t>
                      </a:r>
                    </a:p>
                  </a:txBody>
                  <a:tcPr anchor="ctr" marL="114300" marR="114300">
                    <a:solidFill>
                      <a:srgbClr val="EEF0F2"/>
                    </a:solidFill>
                  </a:tcPr>
                </a:tc>
                <a:tc>
                  <a:txBody>
                    <a:bodyPr/>
                    <a:lstStyle/>
                    <a:p>
                      <a:pPr algn="l"/>
                      <a:r>
                        <a:rPr sz="2200" b="0">
                          <a:solidFill>
                            <a:srgbClr val="1F2933"/>
                          </a:solidFill>
                          <a:latin typeface="Segoe UI"/>
                        </a:rPr>
                        <a:t>did not recover car shape: dropped (negative result)</a:t>
                      </a:r>
                    </a:p>
                  </a:txBody>
                  <a:tcPr anchor="ctr" marL="114300" marR="114300">
                    <a:solidFill>
                      <a:srgbClr val="EEF0F2"/>
                    </a:solidFill>
                  </a:tcPr>
                </a:tc>
              </a:tr>
              <a:tr h="990600">
                <a:tc>
                  <a:txBody>
                    <a:bodyPr/>
                    <a:lstStyle/>
                    <a:p>
                      <a:pPr algn="l"/>
                      <a:r>
                        <a:rPr sz="2200" b="1">
                          <a:solidFill>
                            <a:srgbClr val="1F2933"/>
                          </a:solidFill>
                          <a:latin typeface="Segoe UI"/>
                        </a:rPr>
                        <a:t>L-shape gate</a:t>
                      </a:r>
                    </a:p>
                  </a:txBody>
                  <a:tcPr anchor="ctr" marL="114300" marR="114300">
                    <a:solidFill>
                      <a:srgbClr val="FFFFFF"/>
                    </a:solidFill>
                  </a:tcPr>
                </a:tc>
                <a:tc>
                  <a:txBody>
                    <a:bodyPr/>
                    <a:lstStyle/>
                    <a:p>
                      <a:pPr algn="l"/>
                      <a:r>
                        <a:rPr sz="2200" b="0">
                          <a:solidFill>
                            <a:srgbClr val="1F2933"/>
                          </a:solidFill>
                          <a:latin typeface="Segoe UI"/>
                        </a:rPr>
                        <a:t>complete every car</a:t>
                      </a:r>
                    </a:p>
                  </a:txBody>
                  <a:tcPr anchor="ctr" marL="114300" marR="114300">
                    <a:solidFill>
                      <a:srgbClr val="FFFFFF"/>
                    </a:solidFill>
                  </a:tcPr>
                </a:tc>
                <a:tc>
                  <a:txBody>
                    <a:bodyPr/>
                    <a:lstStyle/>
                    <a:p>
                      <a:pPr algn="l"/>
                      <a:r>
                        <a:rPr sz="2200" b="0">
                          <a:solidFill>
                            <a:srgbClr val="1F2933"/>
                          </a:solidFill>
                          <a:latin typeface="Segoe UI"/>
                        </a:rPr>
                        <a:t>on seq 08, every implausible completion came from a fragment or merge</a:t>
                      </a:r>
                    </a:p>
                  </a:txBody>
                  <a:tcPr anchor="ctr" marL="114300" marR="114300">
                    <a:solidFill>
                      <a:srgbClr val="FFFFFF"/>
                    </a:solidFill>
                  </a:tcPr>
                </a:tc>
              </a:tr>
              <a:tr h="990600">
                <a:tc>
                  <a:txBody>
                    <a:bodyPr/>
                    <a:lstStyle/>
                    <a:p>
                      <a:pPr algn="l"/>
                      <a:r>
                        <a:rPr sz="2200" b="1">
                          <a:solidFill>
                            <a:srgbClr val="1F2933"/>
                          </a:solidFill>
                          <a:latin typeface="Segoe UI"/>
                        </a:rPr>
                        <a:t>Per-car length</a:t>
                      </a:r>
                    </a:p>
                  </a:txBody>
                  <a:tcPr anchor="ctr" marL="114300" marR="114300">
                    <a:solidFill>
                      <a:srgbClr val="EEF0F2"/>
                    </a:solidFill>
                  </a:tcPr>
                </a:tc>
                <a:tc>
                  <a:txBody>
                    <a:bodyPr/>
                    <a:lstStyle/>
                    <a:p>
                      <a:pPr algn="l"/>
                      <a:r>
                        <a:rPr sz="2200" b="0">
                          <a:solidFill>
                            <a:srgbClr val="1F2933"/>
                          </a:solidFill>
                          <a:latin typeface="Segoe UI"/>
                        </a:rPr>
                        <a:t>one fixed 4.14 m length</a:t>
                      </a:r>
                    </a:p>
                  </a:txBody>
                  <a:tcPr anchor="ctr" marL="114300" marR="114300">
                    <a:solidFill>
                      <a:srgbClr val="EEF0F2"/>
                    </a:solidFill>
                  </a:tcPr>
                </a:tc>
                <a:tc>
                  <a:txBody>
                    <a:bodyPr/>
                    <a:lstStyle/>
                    <a:p>
                      <a:pPr algn="l"/>
                      <a:r>
                        <a:rPr sz="2200" b="0">
                          <a:solidFill>
                            <a:srgbClr val="1F2933"/>
                          </a:solidFill>
                          <a:latin typeface="Segoe UI"/>
                        </a:rPr>
                        <a:t>stretches compact cars, cuts long ones short</a:t>
                      </a:r>
                    </a:p>
                  </a:txBody>
                  <a:tcPr anchor="ctr" marL="114300" marR="114300">
                    <a:solidFill>
                      <a:srgbClr val="EEF0F2"/>
                    </a:solidFill>
                  </a:tcPr>
                </a:tc>
              </a:tr>
              <a:tr h="990600">
                <a:tc>
                  <a:txBody>
                    <a:bodyPr/>
                    <a:lstStyle/>
                    <a:p>
                      <a:pPr algn="l"/>
                      <a:r>
                        <a:rPr sz="2200" b="1">
                          <a:solidFill>
                            <a:srgbClr val="1F2933"/>
                          </a:solidFill>
                          <a:latin typeface="Segoe UI"/>
                        </a:rPr>
                        <a:t>PCN</a:t>
                      </a:r>
                    </a:p>
                  </a:txBody>
                  <a:tcPr anchor="ctr" marL="114300" marR="114300">
                    <a:solidFill>
                      <a:srgbClr val="FFFFFF"/>
                    </a:solidFill>
                  </a:tcPr>
                </a:tc>
                <a:tc>
                  <a:txBody>
                    <a:bodyPr/>
                    <a:lstStyle/>
                    <a:p>
                      <a:pPr algn="l"/>
                      <a:r>
                        <a:rPr sz="2200" b="0">
                          <a:solidFill>
                            <a:srgbClr val="1F2933"/>
                          </a:solidFill>
                          <a:latin typeface="Segoe UI"/>
                        </a:rPr>
                        <a:t>PoinTr (transformer)</a:t>
                      </a:r>
                    </a:p>
                  </a:txBody>
                  <a:tcPr anchor="ctr" marL="114300" marR="114300">
                    <a:solidFill>
                      <a:srgbClr val="FFFFFF"/>
                    </a:solidFill>
                  </a:tcPr>
                </a:tc>
                <a:tc>
                  <a:txBody>
                    <a:bodyPr/>
                    <a:lstStyle/>
                    <a:p>
                      <a:pPr algn="l"/>
                      <a:r>
                        <a:rPr sz="2200" b="0">
                          <a:solidFill>
                            <a:srgbClr val="1F2933"/>
                          </a:solidFill>
                          <a:latin typeface="Segoe UI"/>
                        </a:rPr>
                        <a:t>Chamfer 0.161 → 0.153 m only: PCN kept</a:t>
                      </a:r>
                    </a:p>
                  </a:txBody>
                  <a:tcPr anchor="ctr" marL="114300" marR="114300">
                    <a:solidFill>
                      <a:srgbClr val="FFFFFF"/>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III. EXPERIMENTAL EVALUATION</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811000" y="476250"/>
            <a:ext cx="5715000" cy="428625"/>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43000" y="2857500"/>
            <a:ext cx="16002000" cy="3810000"/>
          </a:xfrm>
          <a:prstGeom prst="rect">
            <a:avLst/>
          </a:prstGeom>
          <a:noFill/>
        </p:spPr>
        <p:txBody>
          <a:bodyPr wrap="square" anchor="ctr" lIns="0" rIns="0" tIns="0" bIns="0">
            <a:spAutoFit/>
          </a:bodyPr>
          <a:lstStyle/>
          <a:p>
            <a:pPr algn="ctr">
              <a:spcAft>
                <a:spcPts val="1200"/>
              </a:spcAft>
            </a:pPr>
            <a:r>
              <a:rPr sz="5600" b="1" i="0">
                <a:solidFill>
                  <a:srgbClr val="1F2933"/>
                </a:solidFill>
                <a:latin typeface="Segoe UI"/>
              </a:rPr>
              <a:t>IV. CONCLUSION &amp; FUTURE WORK</a:t>
            </a:r>
          </a:p>
        </p:txBody>
      </p:sp>
      <p:sp>
        <p:nvSpPr>
          <p:cNvPr id="4" name="Rectangle 3"/>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4.1 RESEARCH SUMMARY</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Four findings from a modular framework that needs zero additional manual annotation.</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Detection on real LiDAR</a:t>
            </a:r>
          </a:p>
          <a:p>
            <a:pPr algn="ctr">
              <a:spcAft>
                <a:spcPts val="0"/>
              </a:spcAft>
            </a:pPr>
            <a:r>
              <a:rPr sz="2800" b="0" i="0">
                <a:solidFill>
                  <a:srgbClr val="1F2933"/>
                </a:solidFill>
                <a:latin typeface="Segoe UI"/>
              </a:rPr>
              <a:t>F1 0.812 on seq 08; 0.793 cross-validated over all 11 sequences</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Plausible completions</a:t>
            </a:r>
          </a:p>
          <a:p>
            <a:pPr algn="ctr">
              <a:spcAft>
                <a:spcPts val="0"/>
              </a:spcAft>
            </a:pPr>
            <a:r>
              <a:rPr sz="2800" b="0" i="0">
                <a:solidFill>
                  <a:srgbClr val="1F2933"/>
                </a:solidFill>
                <a:latin typeface="Segoe UI"/>
              </a:rPr>
              <a:t>Independent judge's car acceptance: 0.253 raw → 0.785 completed</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Clustering-bound recall</a:t>
            </a:r>
          </a:p>
          <a:p>
            <a:pPr algn="ctr">
              <a:spcAft>
                <a:spcPts val="0"/>
              </a:spcAft>
            </a:pPr>
            <a:r>
              <a:rPr sz="2800" b="0" i="0">
                <a:solidFill>
                  <a:srgbClr val="1F2933"/>
                </a:solidFill>
                <a:latin typeface="Segoe UI"/>
              </a:rPr>
              <a:t>HDBSCAN splits 33.7% of cars; the classifier is not the limit</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Redundant synthetic pretraining</a:t>
            </a:r>
          </a:p>
          <a:p>
            <a:pPr algn="ctr">
              <a:spcAft>
                <a:spcPts val="0"/>
              </a:spcAft>
            </a:pPr>
            <a:r>
              <a:rPr sz="2800" b="0" i="0">
                <a:solidFill>
                  <a:srgbClr val="1F2933"/>
                </a:solidFill>
                <a:latin typeface="Segoe UI"/>
              </a:rPr>
              <a:t>Enough auto-mined real clusters make it unnecessary</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4.2 LIMITATIONS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Four limits on what the results show.</a:t>
            </a:r>
          </a:p>
        </p:txBody>
      </p:sp>
      <p:sp>
        <p:nvSpPr>
          <p:cNvPr id="4" name="Rectangle 3"/>
          <p:cNvSpPr/>
          <p:nvPr/>
        </p:nvSpPr>
        <p:spPr>
          <a:xfrm>
            <a:off x="11430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Dense scenes only</a:t>
            </a:r>
          </a:p>
          <a:p>
            <a:pPr algn="ctr">
              <a:spcAft>
                <a:spcPts val="0"/>
              </a:spcAft>
            </a:pPr>
            <a:r>
              <a:rPr sz="2800" b="0" i="0">
                <a:solidFill>
                  <a:srgbClr val="1F2933"/>
                </a:solidFill>
                <a:latin typeface="Segoe UI"/>
              </a:rPr>
              <a:t>Highway seq 01 recall 0.336 vs 0.758 on seq 00 (precision still 0.951)</a:t>
            </a:r>
          </a:p>
        </p:txBody>
      </p:sp>
      <p:sp>
        <p:nvSpPr>
          <p:cNvPr id="6" name="Rectangle 5"/>
          <p:cNvSpPr/>
          <p:nvPr/>
        </p:nvSpPr>
        <p:spPr>
          <a:xfrm>
            <a:off x="52387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5245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Recall ceiling</a:t>
            </a:r>
          </a:p>
          <a:p>
            <a:pPr algn="ctr">
              <a:spcAft>
                <a:spcPts val="0"/>
              </a:spcAft>
            </a:pPr>
            <a:r>
              <a:rPr sz="2800" b="0" i="0">
                <a:solidFill>
                  <a:srgbClr val="1F2933"/>
                </a:solidFill>
                <a:latin typeface="Segoe UI"/>
              </a:rPr>
              <a:t>0.773 before any learned stage</a:t>
            </a:r>
          </a:p>
        </p:txBody>
      </p:sp>
      <p:sp>
        <p:nvSpPr>
          <p:cNvPr id="8" name="Rectangle 7"/>
          <p:cNvSpPr/>
          <p:nvPr/>
        </p:nvSpPr>
        <p:spPr>
          <a:xfrm>
            <a:off x="933450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Plausibility only</a:t>
            </a:r>
          </a:p>
          <a:p>
            <a:pPr algn="ctr">
              <a:spcAft>
                <a:spcPts val="0"/>
              </a:spcAft>
            </a:pPr>
            <a:r>
              <a:rPr sz="2800" b="0" i="0">
                <a:solidFill>
                  <a:srgbClr val="1F2933"/>
                </a:solidFill>
                <a:latin typeface="Segoe UI"/>
              </a:rPr>
              <a:t>Fidelity metrics do not corroborate the completion gain</a:t>
            </a:r>
          </a:p>
        </p:txBody>
      </p:sp>
      <p:sp>
        <p:nvSpPr>
          <p:cNvPr id="10" name="Rectangle 9"/>
          <p:cNvSpPr/>
          <p:nvPr/>
        </p:nvSpPr>
        <p:spPr>
          <a:xfrm>
            <a:off x="13430250" y="2095500"/>
            <a:ext cx="371475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716000" y="2476500"/>
            <a:ext cx="314325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Offline</a:t>
            </a:r>
          </a:p>
          <a:p>
            <a:pPr algn="ctr">
              <a:spcAft>
                <a:spcPts val="0"/>
              </a:spcAft>
            </a:pPr>
            <a:r>
              <a:rPr sz="2800" b="0" i="0">
                <a:solidFill>
                  <a:srgbClr val="1F2933"/>
                </a:solidFill>
                <a:latin typeface="Segoe UI"/>
              </a:rPr>
              <a:t>623.5 ms per frame; real time is out of scope</a:t>
            </a:r>
          </a:p>
        </p:txBody>
      </p:sp>
      <p:sp>
        <p:nvSpPr>
          <p:cNvPr id="12" name="Rectangle 11"/>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4" name="TextBox 13"/>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4.3 DISCUSSION &amp; FUTURE WORK</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Three next steps, each scoped by a finding.</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Real-time variant</a:t>
            </a:r>
          </a:p>
          <a:p>
            <a:pPr algn="ctr">
              <a:spcAft>
                <a:spcPts val="0"/>
              </a:spcAft>
            </a:pPr>
            <a:r>
              <a:rPr sz="2800" b="0" i="0">
                <a:solidFill>
                  <a:srgbClr val="1F2933"/>
                </a:solidFill>
                <a:latin typeface="Segoe UI"/>
              </a:rPr>
              <a:t>A native or GPU HDBSCAN implementation</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89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Real-data fine-tuning</a:t>
            </a:r>
          </a:p>
          <a:p>
            <a:pPr algn="ctr">
              <a:spcAft>
                <a:spcPts val="0"/>
              </a:spcAft>
            </a:pPr>
            <a:r>
              <a:rPr sz="2800" b="0" i="0">
                <a:solidFill>
                  <a:srgbClr val="1F2933"/>
                </a:solidFill>
                <a:latin typeface="Segoe UI"/>
              </a:rPr>
              <a:t>Close the synthetic-to-real gap for completion</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50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Downstream detection</a:t>
            </a:r>
          </a:p>
          <a:p>
            <a:pPr algn="ctr">
              <a:spcAft>
                <a:spcPts val="0"/>
              </a:spcAft>
            </a:pPr>
            <a:r>
              <a:rPr sz="2800" b="0" i="0">
                <a:solidFill>
                  <a:srgbClr val="1F2933"/>
                </a:solidFill>
                <a:latin typeface="Segoe UI"/>
              </a:rPr>
              <a:t>Test whether completed cars improve 3D detection</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IV. CONCLUSION &amp; FUTURE WORK</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pt_logo.png"/>
          <p:cNvPicPr>
            <a:picLocks noChangeAspect="1"/>
          </p:cNvPicPr>
          <p:nvPr/>
        </p:nvPicPr>
        <p:blipFill>
          <a:blip r:embed="rId2"/>
          <a:stretch>
            <a:fillRect/>
          </a:stretch>
        </p:blipFill>
        <p:spPr>
          <a:xfrm>
            <a:off x="7775065" y="571500"/>
            <a:ext cx="2737871" cy="1047750"/>
          </a:xfrm>
          <a:prstGeom prst="rect">
            <a:avLst/>
          </a:prstGeom>
        </p:spPr>
      </p:pic>
      <p:sp>
        <p:nvSpPr>
          <p:cNvPr id="3" name="TextBox 2"/>
          <p:cNvSpPr txBox="1"/>
          <p:nvPr/>
        </p:nvSpPr>
        <p:spPr>
          <a:xfrm>
            <a:off x="1143000" y="1905000"/>
            <a:ext cx="16002000" cy="1333500"/>
          </a:xfrm>
          <a:prstGeom prst="rect">
            <a:avLst/>
          </a:prstGeom>
          <a:noFill/>
        </p:spPr>
        <p:txBody>
          <a:bodyPr wrap="square" anchor="t" lIns="0" rIns="0" tIns="0" bIns="0">
            <a:spAutoFit/>
          </a:bodyPr>
          <a:lstStyle/>
          <a:p>
            <a:pPr algn="ctr">
              <a:spcAft>
                <a:spcPts val="800"/>
              </a:spcAft>
            </a:pPr>
            <a:r>
              <a:rPr sz="5600" b="1" i="0">
                <a:solidFill>
                  <a:srgbClr val="1F2933"/>
                </a:solidFill>
                <a:latin typeface="Segoe UI"/>
              </a:rPr>
              <a:t>THANK YOU.</a:t>
            </a:r>
          </a:p>
          <a:p>
            <a:pPr algn="ctr">
              <a:spcAft>
                <a:spcPts val="800"/>
              </a:spcAft>
            </a:pPr>
            <a:r>
              <a:rPr sz="3600" b="1" i="0">
                <a:solidFill>
                  <a:srgbClr val="1F2933"/>
                </a:solidFill>
                <a:latin typeface="Segoe UI"/>
              </a:rPr>
              <a:t>QUESTIONS ARE WELCOME.</a:t>
            </a:r>
          </a:p>
        </p:txBody>
      </p:sp>
      <p:pic>
        <p:nvPicPr>
          <p:cNvPr id="4" name="Picture 3" descr="d3_master_pipeline.drawio.png"/>
          <p:cNvPicPr>
            <a:picLocks noChangeAspect="1"/>
          </p:cNvPicPr>
          <p:nvPr/>
        </p:nvPicPr>
        <p:blipFill>
          <a:blip r:embed="rId3"/>
          <a:stretch>
            <a:fillRect/>
          </a:stretch>
        </p:blipFill>
        <p:spPr>
          <a:xfrm>
            <a:off x="1143000" y="4138543"/>
            <a:ext cx="16002000" cy="4676913"/>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LIDAR POINT CLOUD PROPERTIES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LiDAR scan is an unordered set of 3D points that gets sparser with range and sees each object from one side.</a:t>
            </a:r>
          </a:p>
        </p:txBody>
      </p:sp>
      <p:sp>
        <p:nvSpPr>
          <p:cNvPr id="4" name="Rectangle 3"/>
          <p:cNvSpPr/>
          <p:nvPr/>
        </p:nvSpPr>
        <p:spPr>
          <a:xfrm>
            <a:off x="1143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28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Unordered</a:t>
            </a:r>
          </a:p>
          <a:p>
            <a:pPr algn="ctr">
              <a:spcAft>
                <a:spcPts val="0"/>
              </a:spcAft>
            </a:pPr>
            <a:r>
              <a:rPr sz="2800" b="0" i="0">
                <a:solidFill>
                  <a:srgbClr val="1F2933"/>
                </a:solidFill>
                <a:latin typeface="Segoe UI"/>
              </a:rPr>
              <a:t>No fixed order, unlike the pixels of an image</a:t>
            </a:r>
          </a:p>
        </p:txBody>
      </p:sp>
      <p:sp>
        <p:nvSpPr>
          <p:cNvPr id="6" name="Rectangle 5"/>
          <p:cNvSpPr/>
          <p:nvPr/>
        </p:nvSpPr>
        <p:spPr>
          <a:xfrm>
            <a:off x="6604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89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Sparser with range</a:t>
            </a:r>
          </a:p>
          <a:p>
            <a:pPr algn="ctr">
              <a:spcAft>
                <a:spcPts val="0"/>
              </a:spcAft>
            </a:pPr>
            <a:r>
              <a:rPr sz="2800" b="0" i="0">
                <a:solidFill>
                  <a:srgbClr val="1F2933"/>
                </a:solidFill>
                <a:latin typeface="Segoe UI"/>
              </a:rPr>
              <a:t>Far objects get only a handful of points</a:t>
            </a:r>
          </a:p>
        </p:txBody>
      </p:sp>
      <p:sp>
        <p:nvSpPr>
          <p:cNvPr id="8" name="Rectangle 7"/>
          <p:cNvSpPr/>
          <p:nvPr/>
        </p:nvSpPr>
        <p:spPr>
          <a:xfrm>
            <a:off x="12065000" y="2095500"/>
            <a:ext cx="5080000" cy="7048500"/>
          </a:xfrm>
          <a:prstGeom prst="rect">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50750" y="2476500"/>
            <a:ext cx="4508500" cy="6286500"/>
          </a:xfrm>
          <a:prstGeom prst="rect">
            <a:avLst/>
          </a:prstGeom>
          <a:noFill/>
        </p:spPr>
        <p:txBody>
          <a:bodyPr wrap="square" anchor="ctr" lIns="0" rIns="0" tIns="0" bIns="0">
            <a:spAutoFit/>
          </a:bodyPr>
          <a:lstStyle/>
          <a:p>
            <a:pPr algn="ctr">
              <a:spcAft>
                <a:spcPts val="1400"/>
              </a:spcAft>
            </a:pPr>
            <a:r>
              <a:rPr sz="3200" b="1" i="0">
                <a:solidFill>
                  <a:srgbClr val="1F2933"/>
                </a:solidFill>
                <a:latin typeface="Segoe UI"/>
              </a:rPr>
              <a:t>One-sided</a:t>
            </a:r>
          </a:p>
          <a:p>
            <a:pPr algn="ctr">
              <a:spcAft>
                <a:spcPts val="0"/>
              </a:spcAft>
            </a:pPr>
            <a:r>
              <a:rPr sz="2800" b="0" i="0">
                <a:solidFill>
                  <a:srgbClr val="1F2933"/>
                </a:solidFill>
                <a:latin typeface="Segoe UI"/>
              </a:rPr>
              <a:t>Each object is seen from one side only</a:t>
            </a:r>
          </a:p>
        </p:txBody>
      </p:sp>
      <p:sp>
        <p:nvSpPr>
          <p:cNvPr id="10" name="Rectangle 9"/>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12" name="TextBox 11"/>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HOW HDBSCAN WORKS</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It tries every radius at once, and keeps a group whole if it holds together longer than its pieces would.</a:t>
            </a:r>
          </a:p>
        </p:txBody>
      </p:sp>
      <p:pic>
        <p:nvPicPr>
          <p:cNvPr id="4" name="Picture 3" descr="hdbscan_explainer.png"/>
          <p:cNvPicPr>
            <a:picLocks noChangeAspect="1"/>
          </p:cNvPicPr>
          <p:nvPr/>
        </p:nvPicPr>
        <p:blipFill>
          <a:blip r:embed="rId2"/>
          <a:stretch>
            <a:fillRect/>
          </a:stretch>
        </p:blipFill>
        <p:spPr>
          <a:xfrm>
            <a:off x="1143000" y="2286000"/>
            <a:ext cx="16002000" cy="6667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REPAIR STRATEGIES AND WHY THEY FAIL</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Each repair either over-fits seq 00 or trades precision for recall.</a:t>
            </a:r>
          </a:p>
        </p:txBody>
      </p:sp>
      <p:graphicFrame>
        <p:nvGraphicFramePr>
          <p:cNvPr id="4" name="Table 3"/>
          <p:cNvGraphicFramePr>
            <a:graphicFrameLocks noGrp="1"/>
          </p:cNvGraphicFramePr>
          <p:nvPr/>
        </p:nvGraphicFramePr>
        <p:xfrm>
          <a:off x="1143000" y="2095500"/>
          <a:ext cx="16002000" cy="3771900"/>
        </p:xfrm>
        <a:graphic>
          <a:graphicData uri="http://schemas.openxmlformats.org/drawingml/2006/table">
            <a:tbl>
              <a:tblPr firstRow="1" bandRow="1">
                <a:tableStyleId>{5C22544A-7EE6-4342-B048-85BDC9FD1C3A}</a:tableStyleId>
              </a:tblPr>
              <a:tblGrid>
                <a:gridCol w="7112000"/>
                <a:gridCol w="2222500"/>
                <a:gridCol w="2222500"/>
                <a:gridCol w="2222500"/>
                <a:gridCol w="2222500"/>
              </a:tblGrid>
              <a:tr h="628650">
                <a:tc>
                  <a:txBody>
                    <a:bodyPr/>
                    <a:lstStyle/>
                    <a:p>
                      <a:pPr algn="l"/>
                      <a:r>
                        <a:rPr sz="2200" b="1">
                          <a:solidFill>
                            <a:srgbClr val="FFFFFF"/>
                          </a:solidFill>
                          <a:latin typeface="Segoe UI"/>
                        </a:rPr>
                        <a:t>Strategy</a:t>
                      </a:r>
                    </a:p>
                  </a:txBody>
                  <a:tcPr anchor="ctr" marL="114300" marR="114300">
                    <a:solidFill>
                      <a:srgbClr val="1F2933"/>
                    </a:solidFill>
                  </a:tcPr>
                </a:tc>
                <a:tc>
                  <a:txBody>
                    <a:bodyPr/>
                    <a:lstStyle/>
                    <a:p>
                      <a:pPr algn="ctr"/>
                      <a:r>
                        <a:rPr sz="2200" b="1">
                          <a:solidFill>
                            <a:srgbClr val="FFFFFF"/>
                          </a:solidFill>
                          <a:latin typeface="Segoe UI"/>
                        </a:rPr>
                        <a:t>Seq 00 P</a:t>
                      </a:r>
                    </a:p>
                  </a:txBody>
                  <a:tcPr anchor="ctr" marL="114300" marR="114300">
                    <a:solidFill>
                      <a:srgbClr val="1F2933"/>
                    </a:solidFill>
                  </a:tcPr>
                </a:tc>
                <a:tc>
                  <a:txBody>
                    <a:bodyPr/>
                    <a:lstStyle/>
                    <a:p>
                      <a:pPr algn="ctr"/>
                      <a:r>
                        <a:rPr sz="2200" b="1">
                          <a:solidFill>
                            <a:srgbClr val="FFFFFF"/>
                          </a:solidFill>
                          <a:latin typeface="Segoe UI"/>
                        </a:rPr>
                        <a:t>Seq 00 R</a:t>
                      </a:r>
                    </a:p>
                  </a:txBody>
                  <a:tcPr anchor="ctr" marL="114300" marR="114300">
                    <a:solidFill>
                      <a:srgbClr val="1F2933"/>
                    </a:solidFill>
                  </a:tcPr>
                </a:tc>
                <a:tc>
                  <a:txBody>
                    <a:bodyPr/>
                    <a:lstStyle/>
                    <a:p>
                      <a:pPr algn="ctr"/>
                      <a:r>
                        <a:rPr sz="2200" b="1">
                          <a:solidFill>
                            <a:srgbClr val="FFFFFF"/>
                          </a:solidFill>
                          <a:latin typeface="Segoe UI"/>
                        </a:rPr>
                        <a:t>Seq 00 F1</a:t>
                      </a:r>
                    </a:p>
                  </a:txBody>
                  <a:tcPr anchor="ctr" marL="114300" marR="114300">
                    <a:solidFill>
                      <a:srgbClr val="1F2933"/>
                    </a:solidFill>
                  </a:tcPr>
                </a:tc>
                <a:tc>
                  <a:txBody>
                    <a:bodyPr/>
                    <a:lstStyle/>
                    <a:p>
                      <a:pPr algn="ctr"/>
                      <a:r>
                        <a:rPr sz="2200" b="1">
                          <a:solidFill>
                            <a:srgbClr val="FFFFFF"/>
                          </a:solidFill>
                          <a:latin typeface="Segoe UI"/>
                        </a:rPr>
                        <a:t>Seq 08 F1</a:t>
                      </a:r>
                    </a:p>
                  </a:txBody>
                  <a:tcPr anchor="ctr" marL="114300" marR="114300">
                    <a:solidFill>
                      <a:srgbClr val="1F2933"/>
                    </a:solidFill>
                  </a:tcPr>
                </a:tc>
              </a:tr>
              <a:tr h="628650">
                <a:tc>
                  <a:txBody>
                    <a:bodyPr/>
                    <a:lstStyle/>
                    <a:p>
                      <a:pPr algn="l"/>
                      <a:r>
                        <a:rPr sz="2200" b="0">
                          <a:solidFill>
                            <a:srgbClr val="1F2933"/>
                          </a:solidFill>
                          <a:latin typeface="Segoe UI"/>
                        </a:rPr>
                        <a:t>Baseline (HDBSCAN, min. cluster size 10)</a:t>
                      </a:r>
                    </a:p>
                  </a:txBody>
                  <a:tcPr anchor="ctr" marL="114300" marR="114300">
                    <a:solidFill>
                      <a:srgbClr val="FFFFFF"/>
                    </a:solidFill>
                  </a:tcPr>
                </a:tc>
                <a:tc>
                  <a:txBody>
                    <a:bodyPr/>
                    <a:lstStyle/>
                    <a:p>
                      <a:pPr algn="ctr"/>
                      <a:r>
                        <a:rPr sz="2200" b="0">
                          <a:solidFill>
                            <a:srgbClr val="1F2933"/>
                          </a:solidFill>
                          <a:latin typeface="Segoe UI"/>
                        </a:rPr>
                        <a:t>0.984</a:t>
                      </a:r>
                    </a:p>
                  </a:txBody>
                  <a:tcPr anchor="ctr" marL="114300" marR="114300">
                    <a:solidFill>
                      <a:srgbClr val="FFFFFF"/>
                    </a:solidFill>
                  </a:tcPr>
                </a:tc>
                <a:tc>
                  <a:txBody>
                    <a:bodyPr/>
                    <a:lstStyle/>
                    <a:p>
                      <a:pPr algn="ctr"/>
                      <a:r>
                        <a:rPr sz="2200" b="0">
                          <a:solidFill>
                            <a:srgbClr val="1F2933"/>
                          </a:solidFill>
                          <a:latin typeface="Segoe UI"/>
                        </a:rPr>
                        <a:t>0.739</a:t>
                      </a:r>
                    </a:p>
                  </a:txBody>
                  <a:tcPr anchor="ctr" marL="114300" marR="114300">
                    <a:solidFill>
                      <a:srgbClr val="FFFFFF"/>
                    </a:solidFill>
                  </a:tcPr>
                </a:tc>
                <a:tc>
                  <a:txBody>
                    <a:bodyPr/>
                    <a:lstStyle/>
                    <a:p>
                      <a:pPr algn="ctr"/>
                      <a:r>
                        <a:rPr sz="2200" b="1">
                          <a:solidFill>
                            <a:srgbClr val="1F2933"/>
                          </a:solidFill>
                          <a:latin typeface="Segoe UI"/>
                        </a:rPr>
                        <a:t>0.844</a:t>
                      </a:r>
                    </a:p>
                  </a:txBody>
                  <a:tcPr anchor="ctr" marL="114300" marR="114300">
                    <a:solidFill>
                      <a:srgbClr val="FFFFFF"/>
                    </a:solidFill>
                  </a:tcPr>
                </a:tc>
                <a:tc>
                  <a:txBody>
                    <a:bodyPr/>
                    <a:lstStyle/>
                    <a:p>
                      <a:pPr algn="ctr"/>
                      <a:r>
                        <a:rPr sz="2200" b="1">
                          <a:solidFill>
                            <a:srgbClr val="1F2933"/>
                          </a:solidFill>
                          <a:latin typeface="Segoe UI"/>
                        </a:rPr>
                        <a:t>0.829</a:t>
                      </a:r>
                    </a:p>
                  </a:txBody>
                  <a:tcPr anchor="ctr" marL="114300" marR="114300">
                    <a:solidFill>
                      <a:srgbClr val="FFFFFF"/>
                    </a:solidFill>
                  </a:tcPr>
                </a:tc>
              </a:tr>
              <a:tr h="628650">
                <a:tc>
                  <a:txBody>
                    <a:bodyPr/>
                    <a:lstStyle/>
                    <a:p>
                      <a:pPr algn="l"/>
                      <a:r>
                        <a:rPr sz="2200" b="0">
                          <a:solidFill>
                            <a:srgbClr val="1F2933"/>
                          </a:solidFill>
                          <a:latin typeface="Segoe UI"/>
                        </a:rPr>
                        <a:t>Bird's-eye-view clustering (0.30 m)</a:t>
                      </a:r>
                    </a:p>
                  </a:txBody>
                  <a:tcPr anchor="ctr" marL="114300" marR="114300">
                    <a:solidFill>
                      <a:srgbClr val="EEF0F2"/>
                    </a:solidFill>
                  </a:tcPr>
                </a:tc>
                <a:tc>
                  <a:txBody>
                    <a:bodyPr/>
                    <a:lstStyle/>
                    <a:p>
                      <a:pPr algn="ctr"/>
                      <a:r>
                        <a:rPr sz="2200" b="0">
                          <a:solidFill>
                            <a:srgbClr val="1F2933"/>
                          </a:solidFill>
                          <a:latin typeface="Segoe UI"/>
                        </a:rPr>
                        <a:t>0.993</a:t>
                      </a:r>
                    </a:p>
                  </a:txBody>
                  <a:tcPr anchor="ctr" marL="114300" marR="114300">
                    <a:solidFill>
                      <a:srgbClr val="EEF0F2"/>
                    </a:solidFill>
                  </a:tcPr>
                </a:tc>
                <a:tc>
                  <a:txBody>
                    <a:bodyPr/>
                    <a:lstStyle/>
                    <a:p>
                      <a:pPr algn="ctr"/>
                      <a:r>
                        <a:rPr sz="2200" b="0">
                          <a:solidFill>
                            <a:srgbClr val="1F2933"/>
                          </a:solidFill>
                          <a:latin typeface="Segoe UI"/>
                        </a:rPr>
                        <a:t>0.640</a:t>
                      </a:r>
                    </a:p>
                  </a:txBody>
                  <a:tcPr anchor="ctr" marL="114300" marR="114300">
                    <a:solidFill>
                      <a:srgbClr val="EEF0F2"/>
                    </a:solidFill>
                  </a:tcPr>
                </a:tc>
                <a:tc>
                  <a:txBody>
                    <a:bodyPr/>
                    <a:lstStyle/>
                    <a:p>
                      <a:pPr algn="ctr"/>
                      <a:r>
                        <a:rPr sz="2200" b="0">
                          <a:solidFill>
                            <a:srgbClr val="1F2933"/>
                          </a:solidFill>
                          <a:latin typeface="Segoe UI"/>
                        </a:rPr>
                        <a:t>0.779</a:t>
                      </a:r>
                    </a:p>
                  </a:txBody>
                  <a:tcPr anchor="ctr" marL="114300" marR="114300">
                    <a:solidFill>
                      <a:srgbClr val="EEF0F2"/>
                    </a:solidFill>
                  </a:tcPr>
                </a:tc>
                <a:tc>
                  <a:txBody>
                    <a:bodyPr/>
                    <a:lstStyle/>
                    <a:p>
                      <a:pPr algn="ctr"/>
                      <a:r>
                        <a:rPr sz="2200" b="0">
                          <a:solidFill>
                            <a:srgbClr val="1F2933"/>
                          </a:solidFill>
                          <a:latin typeface="Segoe UI"/>
                        </a:rPr>
                        <a:t>–</a:t>
                      </a:r>
                    </a:p>
                  </a:txBody>
                  <a:tcPr anchor="ctr" marL="114300" marR="114300">
                    <a:solidFill>
                      <a:srgbClr val="EEF0F2"/>
                    </a:solidFill>
                  </a:tcPr>
                </a:tc>
              </a:tr>
              <a:tr h="628650">
                <a:tc>
                  <a:txBody>
                    <a:bodyPr/>
                    <a:lstStyle/>
                    <a:p>
                      <a:pPr algn="l"/>
                      <a:r>
                        <a:rPr sz="2200" b="0">
                          <a:solidFill>
                            <a:srgbClr val="1F2933"/>
                          </a:solidFill>
                          <a:latin typeface="Segoe UI"/>
                        </a:rPr>
                        <a:t>Higher min. cluster size (20)</a:t>
                      </a:r>
                    </a:p>
                  </a:txBody>
                  <a:tcPr anchor="ctr" marL="114300" marR="114300">
                    <a:solidFill>
                      <a:srgbClr val="FFFFFF"/>
                    </a:solidFill>
                  </a:tcPr>
                </a:tc>
                <a:tc>
                  <a:txBody>
                    <a:bodyPr/>
                    <a:lstStyle/>
                    <a:p>
                      <a:pPr algn="ctr"/>
                      <a:r>
                        <a:rPr sz="2200" b="0">
                          <a:solidFill>
                            <a:srgbClr val="1F2933"/>
                          </a:solidFill>
                          <a:latin typeface="Segoe UI"/>
                        </a:rPr>
                        <a:t>0.976</a:t>
                      </a:r>
                    </a:p>
                  </a:txBody>
                  <a:tcPr anchor="ctr" marL="114300" marR="114300">
                    <a:solidFill>
                      <a:srgbClr val="FFFFFF"/>
                    </a:solidFill>
                  </a:tcPr>
                </a:tc>
                <a:tc>
                  <a:txBody>
                    <a:bodyPr/>
                    <a:lstStyle/>
                    <a:p>
                      <a:pPr algn="ctr"/>
                      <a:r>
                        <a:rPr sz="2200" b="0">
                          <a:solidFill>
                            <a:srgbClr val="1F2933"/>
                          </a:solidFill>
                          <a:latin typeface="Segoe UI"/>
                        </a:rPr>
                        <a:t>0.755</a:t>
                      </a:r>
                    </a:p>
                  </a:txBody>
                  <a:tcPr anchor="ctr" marL="114300" marR="114300">
                    <a:solidFill>
                      <a:srgbClr val="FFFFFF"/>
                    </a:solidFill>
                  </a:tcPr>
                </a:tc>
                <a:tc>
                  <a:txBody>
                    <a:bodyPr/>
                    <a:lstStyle/>
                    <a:p>
                      <a:pPr algn="ctr"/>
                      <a:r>
                        <a:rPr sz="2200" b="1">
                          <a:solidFill>
                            <a:srgbClr val="1F2933"/>
                          </a:solidFill>
                          <a:latin typeface="Segoe UI"/>
                        </a:rPr>
                        <a:t>0.852</a:t>
                      </a:r>
                    </a:p>
                  </a:txBody>
                  <a:tcPr anchor="ctr" marL="114300" marR="114300">
                    <a:solidFill>
                      <a:srgbClr val="FFFFFF"/>
                    </a:solidFill>
                  </a:tcPr>
                </a:tc>
                <a:tc>
                  <a:txBody>
                    <a:bodyPr/>
                    <a:lstStyle/>
                    <a:p>
                      <a:pPr algn="ctr"/>
                      <a:r>
                        <a:rPr sz="2200" b="1">
                          <a:solidFill>
                            <a:srgbClr val="1F2933"/>
                          </a:solidFill>
                          <a:latin typeface="Segoe UI"/>
                        </a:rPr>
                        <a:t>0.801</a:t>
                      </a:r>
                    </a:p>
                  </a:txBody>
                  <a:tcPr anchor="ctr" marL="114300" marR="114300">
                    <a:solidFill>
                      <a:srgbClr val="FFFFFF"/>
                    </a:solidFill>
                  </a:tcPr>
                </a:tc>
              </a:tr>
              <a:tr h="628650">
                <a:tc>
                  <a:txBody>
                    <a:bodyPr/>
                    <a:lstStyle/>
                    <a:p>
                      <a:pPr algn="l"/>
                      <a:r>
                        <a:rPr sz="2200" b="0">
                          <a:solidFill>
                            <a:srgbClr val="1F2933"/>
                          </a:solidFill>
                          <a:latin typeface="Segoe UI"/>
                        </a:rPr>
                        <a:t>Fragment merge (1.5 m, 30 points)</a:t>
                      </a:r>
                    </a:p>
                  </a:txBody>
                  <a:tcPr anchor="ctr" marL="114300" marR="114300">
                    <a:solidFill>
                      <a:srgbClr val="EEF0F2"/>
                    </a:solidFill>
                  </a:tcPr>
                </a:tc>
                <a:tc>
                  <a:txBody>
                    <a:bodyPr/>
                    <a:lstStyle/>
                    <a:p>
                      <a:pPr algn="ctr"/>
                      <a:r>
                        <a:rPr sz="2200" b="0">
                          <a:solidFill>
                            <a:srgbClr val="1F2933"/>
                          </a:solidFill>
                          <a:latin typeface="Segoe UI"/>
                        </a:rPr>
                        <a:t>0.931</a:t>
                      </a:r>
                    </a:p>
                  </a:txBody>
                  <a:tcPr anchor="ctr" marL="114300" marR="114300">
                    <a:solidFill>
                      <a:srgbClr val="EEF0F2"/>
                    </a:solidFill>
                  </a:tcPr>
                </a:tc>
                <a:tc>
                  <a:txBody>
                    <a:bodyPr/>
                    <a:lstStyle/>
                    <a:p>
                      <a:pPr algn="ctr"/>
                      <a:r>
                        <a:rPr sz="2200" b="0">
                          <a:solidFill>
                            <a:srgbClr val="1F2933"/>
                          </a:solidFill>
                          <a:latin typeface="Segoe UI"/>
                        </a:rPr>
                        <a:t>0.755</a:t>
                      </a:r>
                    </a:p>
                  </a:txBody>
                  <a:tcPr anchor="ctr" marL="114300" marR="114300">
                    <a:solidFill>
                      <a:srgbClr val="EEF0F2"/>
                    </a:solidFill>
                  </a:tcPr>
                </a:tc>
                <a:tc>
                  <a:txBody>
                    <a:bodyPr/>
                    <a:lstStyle/>
                    <a:p>
                      <a:pPr algn="ctr"/>
                      <a:r>
                        <a:rPr sz="2200" b="0">
                          <a:solidFill>
                            <a:srgbClr val="1F2933"/>
                          </a:solidFill>
                          <a:latin typeface="Segoe UI"/>
                        </a:rPr>
                        <a:t>0.834</a:t>
                      </a:r>
                    </a:p>
                  </a:txBody>
                  <a:tcPr anchor="ctr" marL="114300" marR="114300">
                    <a:solidFill>
                      <a:srgbClr val="EEF0F2"/>
                    </a:solidFill>
                  </a:tcPr>
                </a:tc>
                <a:tc>
                  <a:txBody>
                    <a:bodyPr/>
                    <a:lstStyle/>
                    <a:p>
                      <a:pPr algn="ctr"/>
                      <a:r>
                        <a:rPr sz="2200" b="0">
                          <a:solidFill>
                            <a:srgbClr val="1F2933"/>
                          </a:solidFill>
                          <a:latin typeface="Segoe UI"/>
                        </a:rPr>
                        <a:t>0.815</a:t>
                      </a:r>
                    </a:p>
                  </a:txBody>
                  <a:tcPr anchor="ctr" marL="114300" marR="114300">
                    <a:solidFill>
                      <a:srgbClr val="EEF0F2"/>
                    </a:solidFill>
                  </a:tcPr>
                </a:tc>
              </a:tr>
              <a:tr h="628650">
                <a:tc>
                  <a:txBody>
                    <a:bodyPr/>
                    <a:lstStyle/>
                    <a:p>
                      <a:pPr algn="l"/>
                      <a:r>
                        <a:rPr sz="2200" b="0">
                          <a:solidFill>
                            <a:srgbClr val="1F2933"/>
                          </a:solidFill>
                          <a:latin typeface="Segoe UI"/>
                        </a:rPr>
                        <a:t>Distance-adaptive HDBSCAN (30 / 15 / 10)</a:t>
                      </a:r>
                    </a:p>
                  </a:txBody>
                  <a:tcPr anchor="ctr" marL="114300" marR="114300">
                    <a:solidFill>
                      <a:srgbClr val="FFFFFF"/>
                    </a:solidFill>
                  </a:tcPr>
                </a:tc>
                <a:tc>
                  <a:txBody>
                    <a:bodyPr/>
                    <a:lstStyle/>
                    <a:p>
                      <a:pPr algn="ctr"/>
                      <a:r>
                        <a:rPr sz="2200" b="0">
                          <a:solidFill>
                            <a:srgbClr val="1F2933"/>
                          </a:solidFill>
                          <a:latin typeface="Segoe UI"/>
                        </a:rPr>
                        <a:t>0.935</a:t>
                      </a:r>
                    </a:p>
                  </a:txBody>
                  <a:tcPr anchor="ctr" marL="114300" marR="114300">
                    <a:solidFill>
                      <a:srgbClr val="FFFFFF"/>
                    </a:solidFill>
                  </a:tcPr>
                </a:tc>
                <a:tc>
                  <a:txBody>
                    <a:bodyPr/>
                    <a:lstStyle/>
                    <a:p>
                      <a:pPr algn="ctr"/>
                      <a:r>
                        <a:rPr sz="2200" b="0">
                          <a:solidFill>
                            <a:srgbClr val="1F2933"/>
                          </a:solidFill>
                          <a:latin typeface="Segoe UI"/>
                        </a:rPr>
                        <a:t>0.748</a:t>
                      </a:r>
                    </a:p>
                  </a:txBody>
                  <a:tcPr anchor="ctr" marL="114300" marR="114300">
                    <a:solidFill>
                      <a:srgbClr val="FFFFFF"/>
                    </a:solidFill>
                  </a:tcPr>
                </a:tc>
                <a:tc>
                  <a:txBody>
                    <a:bodyPr/>
                    <a:lstStyle/>
                    <a:p>
                      <a:pPr algn="ctr"/>
                      <a:r>
                        <a:rPr sz="2200" b="0">
                          <a:solidFill>
                            <a:srgbClr val="1F2933"/>
                          </a:solidFill>
                          <a:latin typeface="Segoe UI"/>
                        </a:rPr>
                        <a:t>0.831</a:t>
                      </a:r>
                    </a:p>
                  </a:txBody>
                  <a:tcPr anchor="ctr" marL="114300" marR="114300">
                    <a:solidFill>
                      <a:srgbClr val="FFFFFF"/>
                    </a:solidFill>
                  </a:tcPr>
                </a:tc>
                <a:tc>
                  <a:txBody>
                    <a:bodyPr/>
                    <a:lstStyle/>
                    <a:p>
                      <a:pPr algn="ctr"/>
                      <a:r>
                        <a:rPr sz="2200" b="0">
                          <a:solidFill>
                            <a:srgbClr val="1F2933"/>
                          </a:solidFill>
                          <a:latin typeface="Segoe UI"/>
                        </a:rPr>
                        <a:t>–</a:t>
                      </a:r>
                    </a:p>
                  </a:txBody>
                  <a:tcPr anchor="ctr" marL="114300" marR="114300">
                    <a:solidFill>
                      <a:srgbClr val="FFFFFF"/>
                    </a:solidFill>
                  </a:tcPr>
                </a:tc>
              </a:tr>
            </a:tbl>
          </a:graphicData>
        </a:graphic>
      </p:graphicFrame>
      <p:sp>
        <p:nvSpPr>
          <p:cNvPr id="5" name="TextBox 4"/>
          <p:cNvSpPr txBox="1"/>
          <p:nvPr/>
        </p:nvSpPr>
        <p:spPr>
          <a:xfrm>
            <a:off x="1143000" y="6134100"/>
            <a:ext cx="16002000" cy="3009900"/>
          </a:xfrm>
          <a:prstGeom prst="rect">
            <a:avLst/>
          </a:prstGeom>
          <a:noFill/>
        </p:spPr>
        <p:txBody>
          <a:bodyPr wrap="square" anchor="t" lIns="0" rIns="0" tIns="0" bIns="0">
            <a:spAutoFit/>
          </a:bodyPr>
          <a:lstStyle/>
          <a:p>
            <a:pPr algn="l">
              <a:spcAft>
                <a:spcPts val="1000"/>
              </a:spcAft>
            </a:pPr>
            <a:r>
              <a:rPr sz="2200" b="0" i="0">
                <a:solidFill>
                  <a:srgbClr val="1F2933"/>
                </a:solidFill>
                <a:latin typeface="Segoe UI"/>
              </a:rPr>
              <a:t>Higher min. cluster size wins on seq 00 but loses on seq 08: it erases sparse far cars (over-fitting).</a:t>
            </a:r>
          </a:p>
          <a:p>
            <a:pPr algn="l">
              <a:spcAft>
                <a:spcPts val="1000"/>
              </a:spcAft>
            </a:pPr>
            <a:r>
              <a:rPr sz="2200" b="0" i="0">
                <a:solidFill>
                  <a:srgbClr val="1F2933"/>
                </a:solidFill>
                <a:latin typeface="Segoe UI"/>
              </a:rPr>
              <a:t>Fragment merge gains recall but also fuses walls and poles: precision 0.984 → 0.931.</a:t>
            </a:r>
          </a:p>
          <a:p>
            <a:pPr algn="l">
              <a:spcAft>
                <a:spcPts val="1000"/>
              </a:spcAft>
            </a:pPr>
            <a:r>
              <a:rPr sz="2200" b="0" i="0">
                <a:solidFill>
                  <a:srgbClr val="1F2933"/>
                </a:solidFill>
                <a:latin typeface="Segoe UI"/>
              </a:rPr>
              <a:t>Also tried, in the text only: stacking 3 frames before clustering (F1 0.073); lower size thresholds (no new TP).</a:t>
            </a:r>
          </a:p>
          <a:p>
            <a:pPr algn="l">
              <a:spcAft>
                <a:spcPts val="1000"/>
              </a:spcAft>
            </a:pPr>
            <a:r>
              <a:rPr sz="2200" b="0" i="0">
                <a:solidFill>
                  <a:srgbClr val="1F2933"/>
                </a:solidFill>
                <a:latin typeface="Segoe UI"/>
              </a:rPr>
              <a:t>What worked instead: a coarser clustering grid, 0.05 → 0.10 m (slide 45).</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NORMALISATION ABLATION ON A REAL CAR</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Same network, same scan: only the frame the scan is put in differs.</a:t>
            </a:r>
          </a:p>
        </p:txBody>
      </p:sp>
      <p:pic>
        <p:nvPicPr>
          <p:cNvPr id="4" name="Picture 3" descr="b57_normalisation_ablation.png"/>
          <p:cNvPicPr>
            <a:picLocks noChangeAspect="1"/>
          </p:cNvPicPr>
          <p:nvPr/>
        </p:nvPicPr>
        <p:blipFill>
          <a:blip r:embed="rId2"/>
          <a:stretch>
            <a:fillRect/>
          </a:stretch>
        </p:blipFill>
        <p:spPr>
          <a:xfrm>
            <a:off x="2875990" y="2095500"/>
            <a:ext cx="12536020" cy="7048500"/>
          </a:xfrm>
          <a:prstGeom prst="rect">
            <a:avLst/>
          </a:prstGeom>
        </p:spPr>
      </p:pic>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IS THE JUDGE INDEPENDENT?</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Each way the judge could favour us, and what rules it out.</a:t>
            </a:r>
          </a:p>
        </p:txBody>
      </p:sp>
      <p:graphicFrame>
        <p:nvGraphicFramePr>
          <p:cNvPr id="4" name="Table 3"/>
          <p:cNvGraphicFramePr>
            <a:graphicFrameLocks noGrp="1"/>
          </p:cNvGraphicFramePr>
          <p:nvPr/>
        </p:nvGraphicFramePr>
        <p:xfrm>
          <a:off x="1143000" y="2095500"/>
          <a:ext cx="16002000" cy="6667500"/>
        </p:xfrm>
        <a:graphic>
          <a:graphicData uri="http://schemas.openxmlformats.org/drawingml/2006/table">
            <a:tbl>
              <a:tblPr firstRow="1" bandRow="1">
                <a:tableStyleId>{5C22544A-7EE6-4342-B048-85BDC9FD1C3A}</a:tableStyleId>
              </a:tblPr>
              <a:tblGrid>
                <a:gridCol w="5729111"/>
                <a:gridCol w="10272889"/>
              </a:tblGrid>
              <a:tr h="952500">
                <a:tc>
                  <a:txBody>
                    <a:bodyPr/>
                    <a:lstStyle/>
                    <a:p>
                      <a:pPr algn="l"/>
                      <a:r>
                        <a:rPr sz="2200" b="1">
                          <a:solidFill>
                            <a:srgbClr val="FFFFFF"/>
                          </a:solidFill>
                          <a:latin typeface="Segoe UI"/>
                        </a:rPr>
                        <a:t>Could the judge favour us?</a:t>
                      </a:r>
                    </a:p>
                  </a:txBody>
                  <a:tcPr anchor="ctr" marL="114300" marR="114300">
                    <a:solidFill>
                      <a:srgbClr val="1F2933"/>
                    </a:solidFill>
                  </a:tcPr>
                </a:tc>
                <a:tc>
                  <a:txBody>
                    <a:bodyPr/>
                    <a:lstStyle/>
                    <a:p>
                      <a:pPr algn="l"/>
                      <a:r>
                        <a:rPr sz="2200" b="1">
                          <a:solidFill>
                            <a:srgbClr val="FFFFFF"/>
                          </a:solidFill>
                          <a:latin typeface="Segoe UI"/>
                        </a:rPr>
                        <a:t>What rules it out</a:t>
                      </a:r>
                    </a:p>
                  </a:txBody>
                  <a:tcPr anchor="ctr" marL="114300" marR="114300">
                    <a:solidFill>
                      <a:srgbClr val="1F2933"/>
                    </a:solidFill>
                  </a:tcPr>
                </a:tc>
              </a:tr>
              <a:tr h="952500">
                <a:tc>
                  <a:txBody>
                    <a:bodyPr/>
                    <a:lstStyle/>
                    <a:p>
                      <a:pPr algn="l"/>
                      <a:r>
                        <a:rPr sz="2200" b="1">
                          <a:solidFill>
                            <a:srgbClr val="1F2933"/>
                          </a:solidFill>
                          <a:latin typeface="Segoe UI"/>
                        </a:rPr>
                        <a:t>It learned from the same shapes as PCN</a:t>
                      </a:r>
                    </a:p>
                  </a:txBody>
                  <a:tcPr anchor="ctr" marL="114300" marR="114300">
                    <a:solidFill>
                      <a:srgbClr val="FFFFFF"/>
                    </a:solidFill>
                  </a:tcPr>
                </a:tc>
                <a:tc>
                  <a:txBody>
                    <a:bodyPr/>
                    <a:lstStyle/>
                    <a:p>
                      <a:pPr algn="l"/>
                      <a:r>
                        <a:rPr sz="2200" b="0">
                          <a:solidFill>
                            <a:srgbClr val="1F2933"/>
                          </a:solidFill>
                          <a:latin typeface="Segoe UI"/>
                        </a:rPr>
                        <a:t>Trained on ModelNet40, a different repository: it never saw a ShapeNet model</a:t>
                      </a:r>
                    </a:p>
                  </a:txBody>
                  <a:tcPr anchor="ctr" marL="114300" marR="114300">
                    <a:solidFill>
                      <a:srgbClr val="FFFFFF"/>
                    </a:solidFill>
                  </a:tcPr>
                </a:tc>
              </a:tr>
              <a:tr h="952500">
                <a:tc>
                  <a:txBody>
                    <a:bodyPr/>
                    <a:lstStyle/>
                    <a:p>
                      <a:pPr algn="l"/>
                      <a:r>
                        <a:rPr sz="2200" b="1">
                          <a:solidFill>
                            <a:srgbClr val="1F2933"/>
                          </a:solidFill>
                          <a:latin typeface="Segoe UI"/>
                        </a:rPr>
                        <a:t>We graded our own work</a:t>
                      </a:r>
                    </a:p>
                  </a:txBody>
                  <a:tcPr anchor="ctr" marL="114300" marR="114300">
                    <a:solidFill>
                      <a:srgbClr val="EEF0F2"/>
                    </a:solidFill>
                  </a:tcPr>
                </a:tc>
                <a:tc>
                  <a:txBody>
                    <a:bodyPr/>
                    <a:lstStyle/>
                    <a:p>
                      <a:pPr algn="l"/>
                      <a:r>
                        <a:rPr sz="2200" b="0">
                          <a:solidFill>
                            <a:srgbClr val="1F2933"/>
                          </a:solidFill>
                          <a:latin typeface="Segoe UI"/>
                        </a:rPr>
                        <a:t>Not the pipeline's classifier: a separate PointNet++, trained from scratch</a:t>
                      </a:r>
                    </a:p>
                  </a:txBody>
                  <a:tcPr anchor="ctr" marL="114300" marR="114300">
                    <a:solidFill>
                      <a:srgbClr val="EEF0F2"/>
                    </a:solidFill>
                  </a:tcPr>
                </a:tc>
              </a:tr>
              <a:tr h="952500">
                <a:tc>
                  <a:txBody>
                    <a:bodyPr/>
                    <a:lstStyle/>
                    <a:p>
                      <a:pPr algn="l"/>
                      <a:r>
                        <a:rPr sz="2200" b="1">
                          <a:solidFill>
                            <a:srgbClr val="1F2933"/>
                          </a:solidFill>
                          <a:latin typeface="Segoe UI"/>
                        </a:rPr>
                        <a:t>The judge is weak</a:t>
                      </a:r>
                    </a:p>
                  </a:txBody>
                  <a:tcPr anchor="ctr" marL="114300" marR="114300">
                    <a:solidFill>
                      <a:srgbClr val="FFFFFF"/>
                    </a:solidFill>
                  </a:tcPr>
                </a:tc>
                <a:tc>
                  <a:txBody>
                    <a:bodyPr/>
                    <a:lstStyle/>
                    <a:p>
                      <a:pPr algn="l"/>
                      <a:r>
                        <a:rPr sz="2200" b="0">
                          <a:solidFill>
                            <a:srgbClr val="1F2933"/>
                          </a:solidFill>
                          <a:latin typeface="Segoe UI"/>
                        </a:rPr>
                        <a:t>Test accuracy 0.9214, above a pass mark of 0.88 fixed in advance</a:t>
                      </a:r>
                    </a:p>
                  </a:txBody>
                  <a:tcPr anchor="ctr" marL="114300" marR="114300">
                    <a:solidFill>
                      <a:srgbClr val="FFFFFF"/>
                    </a:solidFill>
                  </a:tcPr>
                </a:tc>
              </a:tr>
              <a:tr h="952500">
                <a:tc>
                  <a:txBody>
                    <a:bodyPr/>
                    <a:lstStyle/>
                    <a:p>
                      <a:pPr algn="l"/>
                      <a:r>
                        <a:rPr sz="2200" b="1">
                          <a:solidFill>
                            <a:srgbClr val="1F2933"/>
                          </a:solidFill>
                          <a:latin typeface="Segoe UI"/>
                        </a:rPr>
                        <a:t>It calls everything a car</a:t>
                      </a:r>
                    </a:p>
                  </a:txBody>
                  <a:tcPr anchor="ctr" marL="114300" marR="114300">
                    <a:solidFill>
                      <a:srgbClr val="EEF0F2"/>
                    </a:solidFill>
                  </a:tcPr>
                </a:tc>
                <a:tc>
                  <a:txBody>
                    <a:bodyPr/>
                    <a:lstStyle/>
                    <a:p>
                      <a:pPr algn="l"/>
                      <a:r>
                        <a:rPr sz="2200" b="0">
                          <a:solidFill>
                            <a:srgbClr val="1F2933"/>
                          </a:solidFill>
                          <a:latin typeface="Segoe UI"/>
                        </a:rPr>
                        <a:t>It rejects 3 in 4 raw scans (acceptance 0.253)</a:t>
                      </a:r>
                    </a:p>
                  </a:txBody>
                  <a:tcPr anchor="ctr" marL="114300" marR="114300">
                    <a:solidFill>
                      <a:srgbClr val="EEF0F2"/>
                    </a:solidFill>
                  </a:tcPr>
                </a:tc>
              </a:tr>
              <a:tr h="952500">
                <a:tc>
                  <a:txBody>
                    <a:bodyPr/>
                    <a:lstStyle/>
                    <a:p>
                      <a:pPr algn="l"/>
                      <a:r>
                        <a:rPr sz="2200" b="1">
                          <a:solidFill>
                            <a:srgbClr val="1F2933"/>
                          </a:solidFill>
                          <a:latin typeface="Segoe UI"/>
                        </a:rPr>
                        <a:t>It just rewards dense clouds</a:t>
                      </a:r>
                    </a:p>
                  </a:txBody>
                  <a:tcPr anchor="ctr" marL="114300" marR="114300">
                    <a:solidFill>
                      <a:srgbClr val="FFFFFF"/>
                    </a:solidFill>
                  </a:tcPr>
                </a:tc>
                <a:tc>
                  <a:txBody>
                    <a:bodyPr/>
                    <a:lstStyle/>
                    <a:p>
                      <a:pPr algn="l"/>
                      <a:r>
                        <a:rPr sz="2200" b="0">
                          <a:solidFill>
                            <a:srgbClr val="1F2933"/>
                          </a:solidFill>
                          <a:latin typeface="Segoe UI"/>
                        </a:rPr>
                        <a:t>Dense real cars score 0.807; parked completions match them (car prob. 0.730 vs 0.728)</a:t>
                      </a:r>
                    </a:p>
                  </a:txBody>
                  <a:tcPr anchor="ctr" marL="114300" marR="114300">
                    <a:solidFill>
                      <a:srgbClr val="FFFFFF"/>
                    </a:solidFill>
                  </a:tcPr>
                </a:tc>
              </a:tr>
              <a:tr h="952500">
                <a:tc>
                  <a:txBody>
                    <a:bodyPr/>
                    <a:lstStyle/>
                    <a:p>
                      <a:pPr algn="l"/>
                      <a:r>
                        <a:rPr sz="2200" b="1">
                          <a:solidFill>
                            <a:srgbClr val="1F2933"/>
                          </a:solidFill>
                          <a:latin typeface="Segoe UI"/>
                        </a:rPr>
                        <a:t>The reading was chosen after the fact</a:t>
                      </a:r>
                    </a:p>
                  </a:txBody>
                  <a:tcPr anchor="ctr" marL="114300" marR="114300">
                    <a:solidFill>
                      <a:srgbClr val="EEF0F2"/>
                    </a:solidFill>
                  </a:tcPr>
                </a:tc>
                <a:tc>
                  <a:txBody>
                    <a:bodyPr/>
                    <a:lstStyle/>
                    <a:p>
                      <a:pPr algn="l"/>
                      <a:r>
                        <a:rPr sz="2200" b="0">
                          <a:solidFill>
                            <a:srgbClr val="1F2933"/>
                          </a:solidFill>
                          <a:latin typeface="Segoe UI"/>
                        </a:rPr>
                        <a:t>Hypotheses and the meaning of every outcome were written before scoring</a:t>
                      </a:r>
                    </a:p>
                  </a:txBody>
                  <a:tcPr anchor="ctr" marL="114300" marR="114300">
                    <a:solidFill>
                      <a:srgbClr val="EEF0F2"/>
                    </a:solidFill>
                  </a:tcPr>
                </a:tc>
              </a:tr>
            </a:tbl>
          </a:graphicData>
        </a:graphic>
      </p:graphicFrame>
      <p:sp>
        <p:nvSpPr>
          <p:cNvPr id="5" name="Rectangle 4"/>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7" name="TextBox 6"/>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FIDELITY METRICS: UCD AND UHD</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They compare the output with its own scan, so a copy of the scan scores best.</a:t>
            </a:r>
          </a:p>
        </p:txBody>
      </p:sp>
      <p:pic>
        <p:nvPicPr>
          <p:cNvPr id="4" name="Picture 3" descr="b59_ucd_uhd.png"/>
          <p:cNvPicPr>
            <a:picLocks noChangeAspect="1"/>
          </p:cNvPicPr>
          <p:nvPr/>
        </p:nvPicPr>
        <p:blipFill>
          <a:blip r:embed="rId2"/>
          <a:stretch>
            <a:fillRect/>
          </a:stretch>
        </p:blipFill>
        <p:spPr>
          <a:xfrm>
            <a:off x="1964711" y="2095500"/>
            <a:ext cx="14358577" cy="5334000"/>
          </a:xfrm>
          <a:prstGeom prst="rect">
            <a:avLst/>
          </a:prstGeom>
        </p:spPr>
      </p:pic>
      <p:sp>
        <p:nvSpPr>
          <p:cNvPr id="5" name="TextBox 4"/>
          <p:cNvSpPr txBox="1"/>
          <p:nvPr/>
        </p:nvSpPr>
        <p:spPr>
          <a:xfrm>
            <a:off x="1905000" y="7715250"/>
            <a:ext cx="14478000" cy="1428750"/>
          </a:xfrm>
          <a:prstGeom prst="rect">
            <a:avLst/>
          </a:prstGeom>
          <a:noFill/>
        </p:spPr>
        <p:txBody>
          <a:bodyPr wrap="square" anchor="t" lIns="0" rIns="0" tIns="0" bIns="0">
            <a:spAutoFit/>
          </a:bodyPr>
          <a:lstStyle/>
          <a:p>
            <a:pPr algn="l">
              <a:spcAft>
                <a:spcPts val="1000"/>
              </a:spcAft>
            </a:pPr>
            <a:r>
              <a:rPr sz="2200" b="0" i="0">
                <a:solidFill>
                  <a:srgbClr val="1F2933"/>
                </a:solidFill>
                <a:latin typeface="Segoe UI"/>
              </a:rPr>
              <a:t>For each scan point, the distance to the nearest output point: UCD averages them, UHD takes the largest.</a:t>
            </a:r>
          </a:p>
          <a:p>
            <a:pPr algn="l">
              <a:spcAft>
                <a:spcPts val="1000"/>
              </a:spcAft>
            </a:pPr>
            <a:r>
              <a:rPr sz="2200" b="0" i="0">
                <a:solidFill>
                  <a:srgbClr val="1F2933"/>
                </a:solidFill>
                <a:latin typeface="Segoe UI"/>
              </a:rPr>
              <a:t>Real seq-08 cars: the raw scan scores 0.000, the completion UCD 0.090 m (slide 39). Chen et al. pair UHD with a plausibility judge for this reason.</a:t>
            </a:r>
          </a:p>
        </p:txBody>
      </p:sp>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WORKED EXAMPLE: IOU MATCHING</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A detection counts as a car when it shares at least 30% of the points.</a:t>
            </a:r>
          </a:p>
        </p:txBody>
      </p:sp>
      <p:sp>
        <p:nvSpPr>
          <p:cNvPr id="4" name="TextBox 3"/>
          <p:cNvSpPr txBox="1"/>
          <p:nvPr/>
        </p:nvSpPr>
        <p:spPr>
          <a:xfrm>
            <a:off x="1143000" y="2095500"/>
            <a:ext cx="5623560" cy="7048500"/>
          </a:xfrm>
          <a:prstGeom prst="rect">
            <a:avLst/>
          </a:prstGeom>
          <a:noFill/>
        </p:spPr>
        <p:txBody>
          <a:bodyPr wrap="square" anchor="t" lIns="0" rIns="0" tIns="0" bIns="0">
            <a:spAutoFit/>
          </a:bodyPr>
          <a:lstStyle/>
          <a:p>
            <a:pPr algn="l">
              <a:spcAft>
                <a:spcPts val="1600"/>
              </a:spcAft>
            </a:pPr>
            <a:r>
              <a:rPr sz="2200" b="1" i="0">
                <a:solidFill>
                  <a:srgbClr val="1F2933"/>
                </a:solidFill>
                <a:latin typeface="Segoe UI"/>
              </a:rPr>
              <a:t>IoU = shared points ÷ all points of the two</a:t>
            </a:r>
          </a:p>
          <a:p>
            <a:pPr algn="l">
              <a:spcAft>
                <a:spcPts val="1600"/>
              </a:spcAft>
            </a:pPr>
            <a:r>
              <a:rPr sz="2200" b="0" i="0">
                <a:solidFill>
                  <a:srgbClr val="1F2933"/>
                </a:solidFill>
                <a:latin typeface="Segoe UI"/>
              </a:rPr>
              <a:t>1. Every detection–car pair with IoU ≥ 0.3 is a candidate.</a:t>
            </a:r>
          </a:p>
          <a:p>
            <a:pPr algn="l">
              <a:spcAft>
                <a:spcPts val="1600"/>
              </a:spcAft>
            </a:pPr>
            <a:r>
              <a:rPr sz="2200" b="0" i="0">
                <a:solidFill>
                  <a:srgbClr val="1F2933"/>
                </a:solidFill>
                <a:latin typeface="Segoe UI"/>
              </a:rPr>
              <a:t>2. Best IoU first; each detection and each car is used once.</a:t>
            </a:r>
          </a:p>
          <a:p>
            <a:pPr algn="l">
              <a:spcAft>
                <a:spcPts val="1600"/>
              </a:spcAft>
            </a:pPr>
            <a:r>
              <a:rPr sz="2200" b="0" i="0">
                <a:solidFill>
                  <a:srgbClr val="1F2933"/>
                </a:solidFill>
                <a:latin typeface="Segoe UI"/>
              </a:rPr>
              <a:t>3. Matched = true positive; extra detection = false positive; missed car = false negative.</a:t>
            </a:r>
          </a:p>
          <a:p>
            <a:pPr algn="l">
              <a:spcAft>
                <a:spcPts val="1600"/>
              </a:spcAft>
            </a:pPr>
            <a:r>
              <a:rPr sz="2200" b="0" i="0">
                <a:solidFill>
                  <a:srgbClr val="1F2933"/>
                </a:solidFill>
                <a:latin typeface="Segoe UI"/>
              </a:rPr>
              <a:t>4. Counted over every frame, then precision, recall, F1.</a:t>
            </a:r>
          </a:p>
        </p:txBody>
      </p:sp>
      <p:sp>
        <p:nvSpPr>
          <p:cNvPr id="5" name="TextBox 4"/>
          <p:cNvSpPr txBox="1"/>
          <p:nvPr/>
        </p:nvSpPr>
        <p:spPr>
          <a:xfrm>
            <a:off x="7147560" y="2095500"/>
            <a:ext cx="9997440" cy="476250"/>
          </a:xfrm>
          <a:prstGeom prst="rect">
            <a:avLst/>
          </a:prstGeom>
          <a:noFill/>
        </p:spPr>
        <p:txBody>
          <a:bodyPr wrap="square" anchor="t" lIns="0" rIns="0" tIns="0" bIns="0">
            <a:spAutoFit/>
          </a:bodyPr>
          <a:lstStyle/>
          <a:p>
            <a:pPr algn="l">
              <a:spcAft>
                <a:spcPts val="0"/>
              </a:spcAft>
            </a:pPr>
            <a:r>
              <a:rPr sz="2400" b="1" i="0">
                <a:solidFill>
                  <a:srgbClr val="1F2933"/>
                </a:solidFill>
                <a:latin typeface="Segoe UI"/>
              </a:rPr>
              <a:t>One car of 400 points (illustration)</a:t>
            </a:r>
          </a:p>
        </p:txBody>
      </p:sp>
      <p:graphicFrame>
        <p:nvGraphicFramePr>
          <p:cNvPr id="6" name="Table 5"/>
          <p:cNvGraphicFramePr>
            <a:graphicFrameLocks noGrp="1"/>
          </p:cNvGraphicFramePr>
          <p:nvPr/>
        </p:nvGraphicFramePr>
        <p:xfrm>
          <a:off x="7147560" y="2762250"/>
          <a:ext cx="9997440" cy="3200400"/>
        </p:xfrm>
        <a:graphic>
          <a:graphicData uri="http://schemas.openxmlformats.org/drawingml/2006/table">
            <a:tbl>
              <a:tblPr firstRow="1" bandRow="1">
                <a:tableStyleId>{5C22544A-7EE6-4342-B048-85BDC9FD1C3A}</a:tableStyleId>
              </a:tblPr>
              <a:tblGrid>
                <a:gridCol w="4116593"/>
                <a:gridCol w="3724536"/>
                <a:gridCol w="2156311"/>
              </a:tblGrid>
              <a:tr h="800100">
                <a:tc>
                  <a:txBody>
                    <a:bodyPr/>
                    <a:lstStyle/>
                    <a:p>
                      <a:pPr algn="l"/>
                      <a:r>
                        <a:rPr sz="2000" b="1">
                          <a:solidFill>
                            <a:srgbClr val="FFFFFF"/>
                          </a:solidFill>
                          <a:latin typeface="Segoe UI"/>
                        </a:rPr>
                        <a:t>Case</a:t>
                      </a:r>
                    </a:p>
                  </a:txBody>
                  <a:tcPr anchor="ctr" marL="114300" marR="114300">
                    <a:solidFill>
                      <a:srgbClr val="1F2933"/>
                    </a:solidFill>
                  </a:tcPr>
                </a:tc>
                <a:tc>
                  <a:txBody>
                    <a:bodyPr/>
                    <a:lstStyle/>
                    <a:p>
                      <a:pPr algn="ctr"/>
                      <a:r>
                        <a:rPr sz="2000" b="1">
                          <a:solidFill>
                            <a:srgbClr val="FFFFFF"/>
                          </a:solidFill>
                          <a:latin typeface="Segoe UI"/>
                        </a:rPr>
                        <a:t>IoU</a:t>
                      </a:r>
                    </a:p>
                  </a:txBody>
                  <a:tcPr anchor="ctr" marL="114300" marR="114300">
                    <a:solidFill>
                      <a:srgbClr val="1F2933"/>
                    </a:solidFill>
                  </a:tcPr>
                </a:tc>
                <a:tc>
                  <a:txBody>
                    <a:bodyPr/>
                    <a:lstStyle/>
                    <a:p>
                      <a:pPr algn="ctr"/>
                      <a:r>
                        <a:rPr sz="2000" b="1">
                          <a:solidFill>
                            <a:srgbClr val="FFFFFF"/>
                          </a:solidFill>
                          <a:latin typeface="Segoe UI"/>
                        </a:rPr>
                        <a:t>Outcome</a:t>
                      </a:r>
                    </a:p>
                  </a:txBody>
                  <a:tcPr anchor="ctr" marL="114300" marR="114300">
                    <a:solidFill>
                      <a:srgbClr val="1F2933"/>
                    </a:solidFill>
                  </a:tcPr>
                </a:tc>
              </a:tr>
              <a:tr h="800100">
                <a:tc>
                  <a:txBody>
                    <a:bodyPr/>
                    <a:lstStyle/>
                    <a:p>
                      <a:pPr algn="l"/>
                      <a:r>
                        <a:rPr sz="2000" b="0">
                          <a:solidFill>
                            <a:srgbClr val="1F2933"/>
                          </a:solidFill>
                          <a:latin typeface="Segoe UI"/>
                        </a:rPr>
                        <a:t>One cluster of 360 points, 340 on the car</a:t>
                      </a:r>
                    </a:p>
                  </a:txBody>
                  <a:tcPr anchor="ctr" marL="114300" marR="114300">
                    <a:solidFill>
                      <a:srgbClr val="FFFFFF"/>
                    </a:solidFill>
                  </a:tcPr>
                </a:tc>
                <a:tc>
                  <a:txBody>
                    <a:bodyPr/>
                    <a:lstStyle/>
                    <a:p>
                      <a:pPr algn="ctr"/>
                      <a:r>
                        <a:rPr sz="2000" b="0">
                          <a:solidFill>
                            <a:srgbClr val="1F2933"/>
                          </a:solidFill>
                          <a:latin typeface="Segoe UI"/>
                        </a:rPr>
                        <a:t>340 / (400 + 360 − 340) = 0.81</a:t>
                      </a:r>
                    </a:p>
                  </a:txBody>
                  <a:tcPr anchor="ctr" marL="114300" marR="114300">
                    <a:solidFill>
                      <a:srgbClr val="FFFFFF"/>
                    </a:solidFill>
                  </a:tcPr>
                </a:tc>
                <a:tc>
                  <a:txBody>
                    <a:bodyPr/>
                    <a:lstStyle/>
                    <a:p>
                      <a:pPr algn="ctr"/>
                      <a:r>
                        <a:rPr sz="2000" b="0">
                          <a:solidFill>
                            <a:srgbClr val="1F2933"/>
                          </a:solidFill>
                          <a:latin typeface="Segoe UI"/>
                        </a:rPr>
                        <a:t>1 TP</a:t>
                      </a:r>
                    </a:p>
                  </a:txBody>
                  <a:tcPr anchor="ctr" marL="114300" marR="114300">
                    <a:solidFill>
                      <a:srgbClr val="FFFFFF"/>
                    </a:solidFill>
                  </a:tcPr>
                </a:tc>
              </a:tr>
              <a:tr h="800100">
                <a:tc>
                  <a:txBody>
                    <a:bodyPr/>
                    <a:lstStyle/>
                    <a:p>
                      <a:pPr algn="l"/>
                      <a:r>
                        <a:rPr sz="2000" b="0">
                          <a:solidFill>
                            <a:srgbClr val="1F2933"/>
                          </a:solidFill>
                          <a:latin typeface="Segoe UI"/>
                        </a:rPr>
                        <a:t>Split into 250 + 150 points</a:t>
                      </a:r>
                    </a:p>
                  </a:txBody>
                  <a:tcPr anchor="ctr" marL="114300" marR="114300">
                    <a:solidFill>
                      <a:srgbClr val="EEF0F2"/>
                    </a:solidFill>
                  </a:tcPr>
                </a:tc>
                <a:tc>
                  <a:txBody>
                    <a:bodyPr/>
                    <a:lstStyle/>
                    <a:p>
                      <a:pPr algn="ctr"/>
                      <a:r>
                        <a:rPr sz="2000" b="0">
                          <a:solidFill>
                            <a:srgbClr val="1F2933"/>
                          </a:solidFill>
                          <a:latin typeface="Segoe UI"/>
                        </a:rPr>
                        <a:t>0.625 and 0.375</a:t>
                      </a:r>
                    </a:p>
                  </a:txBody>
                  <a:tcPr anchor="ctr" marL="114300" marR="114300">
                    <a:solidFill>
                      <a:srgbClr val="EEF0F2"/>
                    </a:solidFill>
                  </a:tcPr>
                </a:tc>
                <a:tc>
                  <a:txBody>
                    <a:bodyPr/>
                    <a:lstStyle/>
                    <a:p>
                      <a:pPr algn="ctr"/>
                      <a:r>
                        <a:rPr sz="2000" b="0">
                          <a:solidFill>
                            <a:srgbClr val="1F2933"/>
                          </a:solidFill>
                          <a:latin typeface="Segoe UI"/>
                        </a:rPr>
                        <a:t>1 TP + 1 FP</a:t>
                      </a:r>
                    </a:p>
                  </a:txBody>
                  <a:tcPr anchor="ctr" marL="114300" marR="114300">
                    <a:solidFill>
                      <a:srgbClr val="EEF0F2"/>
                    </a:solidFill>
                  </a:tcPr>
                </a:tc>
              </a:tr>
              <a:tr h="800100">
                <a:tc>
                  <a:txBody>
                    <a:bodyPr/>
                    <a:lstStyle/>
                    <a:p>
                      <a:pPr algn="l"/>
                      <a:r>
                        <a:rPr sz="2000" b="0">
                          <a:solidFill>
                            <a:srgbClr val="1F2933"/>
                          </a:solidFill>
                          <a:latin typeface="Segoe UI"/>
                        </a:rPr>
                        <a:t>Split into four of 100 points</a:t>
                      </a:r>
                    </a:p>
                  </a:txBody>
                  <a:tcPr anchor="ctr" marL="114300" marR="114300">
                    <a:solidFill>
                      <a:srgbClr val="FFFFFF"/>
                    </a:solidFill>
                  </a:tcPr>
                </a:tc>
                <a:tc>
                  <a:txBody>
                    <a:bodyPr/>
                    <a:lstStyle/>
                    <a:p>
                      <a:pPr algn="ctr"/>
                      <a:r>
                        <a:rPr sz="2000" b="0">
                          <a:solidFill>
                            <a:srgbClr val="1F2933"/>
                          </a:solidFill>
                          <a:latin typeface="Segoe UI"/>
                        </a:rPr>
                        <a:t>0.25 each, below 0.3</a:t>
                      </a:r>
                    </a:p>
                  </a:txBody>
                  <a:tcPr anchor="ctr" marL="114300" marR="114300">
                    <a:solidFill>
                      <a:srgbClr val="FFFFFF"/>
                    </a:solidFill>
                  </a:tcPr>
                </a:tc>
                <a:tc>
                  <a:txBody>
                    <a:bodyPr/>
                    <a:lstStyle/>
                    <a:p>
                      <a:pPr algn="ctr"/>
                      <a:r>
                        <a:rPr sz="2000" b="0">
                          <a:solidFill>
                            <a:srgbClr val="1F2933"/>
                          </a:solidFill>
                          <a:latin typeface="Segoe UI"/>
                        </a:rPr>
                        <a:t>1 FN (+ FPs)</a:t>
                      </a:r>
                    </a:p>
                  </a:txBody>
                  <a:tcPr anchor="ctr" marL="114300" marR="114300">
                    <a:solidFill>
                      <a:srgbClr val="FFFFFF"/>
                    </a:solidFill>
                  </a:tcPr>
                </a:tc>
              </a:tr>
            </a:tbl>
          </a:graphicData>
        </a:graphic>
      </p:graphicFrame>
      <p:sp>
        <p:nvSpPr>
          <p:cNvPr id="7" name="TextBox 6"/>
          <p:cNvSpPr txBox="1"/>
          <p:nvPr/>
        </p:nvSpPr>
        <p:spPr>
          <a:xfrm>
            <a:off x="7147560" y="6191250"/>
            <a:ext cx="9997440" cy="1905000"/>
          </a:xfrm>
          <a:prstGeom prst="rect">
            <a:avLst/>
          </a:prstGeom>
          <a:noFill/>
        </p:spPr>
        <p:txBody>
          <a:bodyPr wrap="square" anchor="t" lIns="0" rIns="0" tIns="0" bIns="0">
            <a:spAutoFit/>
          </a:bodyPr>
          <a:lstStyle/>
          <a:p>
            <a:pPr algn="l">
              <a:spcAft>
                <a:spcPts val="0"/>
              </a:spcAft>
            </a:pPr>
            <a:r>
              <a:rPr sz="2200" b="0" i="0">
                <a:solidFill>
                  <a:srgbClr val="1F2933"/>
                </a:solidFill>
                <a:latin typeface="Segoe UI"/>
              </a:rPr>
              <a:t>Seq 08: 25,568 TP, 2,513 FP, 9,354 FN → precision 0.911, recall 0.732, F1 0.812.</a:t>
            </a:r>
          </a:p>
        </p:txBody>
      </p:sp>
      <p:sp>
        <p:nvSpPr>
          <p:cNvPr id="8" name="Rectangle 7"/>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10" name="TextBox 9"/>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 y="285750"/>
            <a:ext cx="16002000" cy="666750"/>
          </a:xfrm>
          <a:prstGeom prst="rect">
            <a:avLst/>
          </a:prstGeom>
          <a:noFill/>
        </p:spPr>
        <p:txBody>
          <a:bodyPr wrap="square" anchor="t" lIns="0" rIns="0" tIns="0" bIns="0">
            <a:spAutoFit/>
          </a:bodyPr>
          <a:lstStyle/>
          <a:p>
            <a:pPr algn="ctr">
              <a:spcAft>
                <a:spcPts val="0"/>
              </a:spcAft>
            </a:pPr>
            <a:r>
              <a:rPr sz="4400" b="1" i="0">
                <a:solidFill>
                  <a:srgbClr val="1F2933"/>
                </a:solidFill>
                <a:latin typeface="Segoe UI"/>
              </a:rPr>
              <a:t>PIPELINE CONFIGURATION</a:t>
            </a:r>
          </a:p>
        </p:txBody>
      </p:sp>
      <p:sp>
        <p:nvSpPr>
          <p:cNvPr id="3" name="TextBox 2"/>
          <p:cNvSpPr txBox="1"/>
          <p:nvPr/>
        </p:nvSpPr>
        <p:spPr>
          <a:xfrm>
            <a:off x="1143000" y="1000125"/>
            <a:ext cx="16002000" cy="952500"/>
          </a:xfrm>
          <a:prstGeom prst="rect">
            <a:avLst/>
          </a:prstGeom>
          <a:noFill/>
        </p:spPr>
        <p:txBody>
          <a:bodyPr wrap="square" anchor="t" lIns="0" rIns="0" tIns="0" bIns="0">
            <a:spAutoFit/>
          </a:bodyPr>
          <a:lstStyle/>
          <a:p>
            <a:pPr algn="ctr">
              <a:spcAft>
                <a:spcPts val="0"/>
              </a:spcAft>
            </a:pPr>
            <a:r>
              <a:rPr sz="3000" b="0" i="0">
                <a:solidFill>
                  <a:srgbClr val="1F2933"/>
                </a:solidFill>
                <a:latin typeface="Segoe UI"/>
              </a:rPr>
              <a:t>Every number in the thesis comes from these frozen values.</a:t>
            </a:r>
          </a:p>
        </p:txBody>
      </p:sp>
      <p:graphicFrame>
        <p:nvGraphicFramePr>
          <p:cNvPr id="4" name="Table 3"/>
          <p:cNvGraphicFramePr>
            <a:graphicFrameLocks noGrp="1"/>
          </p:cNvGraphicFramePr>
          <p:nvPr/>
        </p:nvGraphicFramePr>
        <p:xfrm>
          <a:off x="1143000" y="2095500"/>
          <a:ext cx="7810500" cy="5538104"/>
        </p:xfrm>
        <a:graphic>
          <a:graphicData uri="http://schemas.openxmlformats.org/drawingml/2006/table">
            <a:tbl>
              <a:tblPr firstRow="1" bandRow="1">
                <a:tableStyleId>{5C22544A-7EE6-4342-B048-85BDC9FD1C3A}</a:tableStyleId>
              </a:tblPr>
              <a:tblGrid>
                <a:gridCol w="1789906"/>
                <a:gridCol w="4067969"/>
                <a:gridCol w="1952625"/>
              </a:tblGrid>
              <a:tr h="503464">
                <a:tc>
                  <a:txBody>
                    <a:bodyPr/>
                    <a:lstStyle/>
                    <a:p>
                      <a:pPr algn="l"/>
                      <a:r>
                        <a:rPr sz="1800" b="1">
                          <a:solidFill>
                            <a:srgbClr val="FFFFFF"/>
                          </a:solidFill>
                          <a:latin typeface="Segoe UI"/>
                        </a:rPr>
                        <a:t>Stage</a:t>
                      </a:r>
                    </a:p>
                  </a:txBody>
                  <a:tcPr anchor="ctr" marL="114300" marR="114300">
                    <a:solidFill>
                      <a:srgbClr val="1F2933"/>
                    </a:solidFill>
                  </a:tcPr>
                </a:tc>
                <a:tc>
                  <a:txBody>
                    <a:bodyPr/>
                    <a:lstStyle/>
                    <a:p>
                      <a:pPr algn="l"/>
                      <a:r>
                        <a:rPr sz="1800" b="1">
                          <a:solidFill>
                            <a:srgbClr val="FFFFFF"/>
                          </a:solidFill>
                          <a:latin typeface="Segoe UI"/>
                        </a:rPr>
                        <a:t>Parameter</a:t>
                      </a:r>
                    </a:p>
                  </a:txBody>
                  <a:tcPr anchor="ctr" marL="114300" marR="114300">
                    <a:solidFill>
                      <a:srgbClr val="1F2933"/>
                    </a:solidFill>
                  </a:tcPr>
                </a:tc>
                <a:tc>
                  <a:txBody>
                    <a:bodyPr/>
                    <a:lstStyle/>
                    <a:p>
                      <a:pPr algn="ctr"/>
                      <a:r>
                        <a:rPr sz="1800" b="1">
                          <a:solidFill>
                            <a:srgbClr val="FFFFFF"/>
                          </a:solidFill>
                          <a:latin typeface="Segoe UI"/>
                        </a:rPr>
                        <a:t>Value</a:t>
                      </a:r>
                    </a:p>
                  </a:txBody>
                  <a:tcPr anchor="ctr" marL="114300" marR="114300">
                    <a:solidFill>
                      <a:srgbClr val="1F2933"/>
                    </a:solidFill>
                  </a:tcPr>
                </a:tc>
              </a:tr>
              <a:tr h="503464">
                <a:tc>
                  <a:txBody>
                    <a:bodyPr/>
                    <a:lstStyle/>
                    <a:p>
                      <a:pPr algn="l"/>
                      <a:r>
                        <a:rPr sz="1800" b="1">
                          <a:solidFill>
                            <a:srgbClr val="1F2933"/>
                          </a:solidFill>
                          <a:latin typeface="Segoe UI"/>
                        </a:rPr>
                        <a:t>Preprocess</a:t>
                      </a:r>
                    </a:p>
                  </a:txBody>
                  <a:tcPr anchor="ctr" marL="114300" marR="114300">
                    <a:solidFill>
                      <a:srgbClr val="FFFFFF"/>
                    </a:solidFill>
                  </a:tcPr>
                </a:tc>
                <a:tc>
                  <a:txBody>
                    <a:bodyPr/>
                    <a:lstStyle/>
                    <a:p>
                      <a:pPr algn="l"/>
                      <a:r>
                        <a:rPr sz="1800" b="0">
                          <a:solidFill>
                            <a:srgbClr val="1F2933"/>
                          </a:solidFill>
                          <a:latin typeface="Segoe UI"/>
                        </a:rPr>
                        <a:t>z-filter threshold</a:t>
                      </a:r>
                    </a:p>
                  </a:txBody>
                  <a:tcPr anchor="ctr" marL="114300" marR="114300">
                    <a:solidFill>
                      <a:srgbClr val="FFFFFF"/>
                    </a:solidFill>
                  </a:tcPr>
                </a:tc>
                <a:tc>
                  <a:txBody>
                    <a:bodyPr/>
                    <a:lstStyle/>
                    <a:p>
                      <a:pPr algn="ctr"/>
                      <a:r>
                        <a:rPr sz="1800" b="0">
                          <a:solidFill>
                            <a:srgbClr val="1F2933"/>
                          </a:solidFill>
                          <a:latin typeface="Segoe UI"/>
                        </a:rPr>
                        <a:t>−2.0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voxel size</a:t>
                      </a:r>
                    </a:p>
                  </a:txBody>
                  <a:tcPr anchor="ctr" marL="114300" marR="114300">
                    <a:solidFill>
                      <a:srgbClr val="EEF0F2"/>
                    </a:solidFill>
                  </a:tcPr>
                </a:tc>
                <a:tc>
                  <a:txBody>
                    <a:bodyPr/>
                    <a:lstStyle/>
                    <a:p>
                      <a:pPr algn="ctr"/>
                      <a:r>
                        <a:rPr sz="1800" b="0">
                          <a:solidFill>
                            <a:srgbClr val="1F2933"/>
                          </a:solidFill>
                          <a:latin typeface="Segoe UI"/>
                        </a:rPr>
                        <a:t>0.05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denoise neighbours / std ratio</a:t>
                      </a:r>
                    </a:p>
                  </a:txBody>
                  <a:tcPr anchor="ctr" marL="114300" marR="114300">
                    <a:solidFill>
                      <a:srgbClr val="FFFFFF"/>
                    </a:solidFill>
                  </a:tcPr>
                </a:tc>
                <a:tc>
                  <a:txBody>
                    <a:bodyPr/>
                    <a:lstStyle/>
                    <a:p>
                      <a:pPr algn="ctr"/>
                      <a:r>
                        <a:rPr sz="1800" b="0">
                          <a:solidFill>
                            <a:srgbClr val="1F2933"/>
                          </a:solidFill>
                          <a:latin typeface="Segoe UI"/>
                        </a:rPr>
                        <a:t>20 / 2.0</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voxel before denoise</a:t>
                      </a:r>
                    </a:p>
                  </a:txBody>
                  <a:tcPr anchor="ctr" marL="114300" marR="114300">
                    <a:solidFill>
                      <a:srgbClr val="EEF0F2"/>
                    </a:solidFill>
                  </a:tcPr>
                </a:tc>
                <a:tc>
                  <a:txBody>
                    <a:bodyPr/>
                    <a:lstStyle/>
                    <a:p>
                      <a:pPr algn="ctr"/>
                      <a:r>
                        <a:rPr sz="1800" b="0">
                          <a:solidFill>
                            <a:srgbClr val="1F2933"/>
                          </a:solidFill>
                          <a:latin typeface="Segoe UI"/>
                        </a:rPr>
                        <a:t>true</a:t>
                      </a:r>
                    </a:p>
                  </a:txBody>
                  <a:tcPr anchor="ctr" marL="114300" marR="114300">
                    <a:solidFill>
                      <a:srgbClr val="EEF0F2"/>
                    </a:solidFill>
                  </a:tcPr>
                </a:tc>
              </a:tr>
              <a:tr h="503464">
                <a:tc>
                  <a:txBody>
                    <a:bodyPr/>
                    <a:lstStyle/>
                    <a:p>
                      <a:pPr algn="l"/>
                      <a:r>
                        <a:rPr sz="1800" b="1">
                          <a:solidFill>
                            <a:srgbClr val="1F2933"/>
                          </a:solidFill>
                          <a:latin typeface="Segoe UI"/>
                        </a:rPr>
                        <a:t>Ground</a:t>
                      </a:r>
                    </a:p>
                  </a:txBody>
                  <a:tcPr anchor="ctr" marL="114300" marR="114300">
                    <a:solidFill>
                      <a:srgbClr val="FFFFFF"/>
                    </a:solidFill>
                  </a:tcPr>
                </a:tc>
                <a:tc>
                  <a:txBody>
                    <a:bodyPr/>
                    <a:lstStyle/>
                    <a:p>
                      <a:pPr algn="l"/>
                      <a:r>
                        <a:rPr sz="1800" b="0">
                          <a:solidFill>
                            <a:srgbClr val="1F2933"/>
                          </a:solidFill>
                          <a:latin typeface="Segoe UI"/>
                        </a:rPr>
                        <a:t>RANSAC iterations</a:t>
                      </a:r>
                    </a:p>
                  </a:txBody>
                  <a:tcPr anchor="ctr" marL="114300" marR="114300">
                    <a:solidFill>
                      <a:srgbClr val="FFFFFF"/>
                    </a:solidFill>
                  </a:tcPr>
                </a:tc>
                <a:tc>
                  <a:txBody>
                    <a:bodyPr/>
                    <a:lstStyle/>
                    <a:p>
                      <a:pPr algn="ctr"/>
                      <a:r>
                        <a:rPr sz="1800" b="0">
                          <a:solidFill>
                            <a:srgbClr val="1F2933"/>
                          </a:solidFill>
                          <a:latin typeface="Segoe UI"/>
                        </a:rPr>
                        <a:t>300</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inlier distance</a:t>
                      </a:r>
                    </a:p>
                  </a:txBody>
                  <a:tcPr anchor="ctr" marL="114300" marR="114300">
                    <a:solidFill>
                      <a:srgbClr val="EEF0F2"/>
                    </a:solidFill>
                  </a:tcPr>
                </a:tc>
                <a:tc>
                  <a:txBody>
                    <a:bodyPr/>
                    <a:lstStyle/>
                    <a:p>
                      <a:pPr algn="ctr"/>
                      <a:r>
                        <a:rPr sz="1800" b="0">
                          <a:solidFill>
                            <a:srgbClr val="1F2933"/>
                          </a:solidFill>
                          <a:latin typeface="Segoe UI"/>
                        </a:rPr>
                        <a:t>0.2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normal z</a:t>
                      </a:r>
                    </a:p>
                  </a:txBody>
                  <a:tcPr anchor="ctr" marL="114300" marR="114300">
                    <a:solidFill>
                      <a:srgbClr val="FFFFFF"/>
                    </a:solidFill>
                  </a:tcPr>
                </a:tc>
                <a:tc>
                  <a:txBody>
                    <a:bodyPr/>
                    <a:lstStyle/>
                    <a:p>
                      <a:pPr algn="ctr"/>
                      <a:r>
                        <a:rPr sz="1800" b="0">
                          <a:solidFill>
                            <a:srgbClr val="1F2933"/>
                          </a:solidFill>
                          <a:latin typeface="Segoe UI"/>
                        </a:rPr>
                        <a:t>0.5</a:t>
                      </a:r>
                    </a:p>
                  </a:txBody>
                  <a:tcPr anchor="ctr" marL="114300" marR="114300">
                    <a:solidFill>
                      <a:srgbClr val="FFFFFF"/>
                    </a:solidFill>
                  </a:tcPr>
                </a:tc>
              </a:tr>
              <a:tr h="503464">
                <a:tc>
                  <a:txBody>
                    <a:bodyPr/>
                    <a:lstStyle/>
                    <a:p>
                      <a:pPr algn="l"/>
                      <a:r>
                        <a:rPr sz="1800" b="1">
                          <a:solidFill>
                            <a:srgbClr val="1F2933"/>
                          </a:solidFill>
                          <a:latin typeface="Segoe UI"/>
                        </a:rPr>
                        <a:t>Clustering</a:t>
                      </a:r>
                    </a:p>
                  </a:txBody>
                  <a:tcPr anchor="ctr" marL="114300" marR="114300">
                    <a:solidFill>
                      <a:srgbClr val="EEF0F2"/>
                    </a:solidFill>
                  </a:tcPr>
                </a:tc>
                <a:tc>
                  <a:txBody>
                    <a:bodyPr/>
                    <a:lstStyle/>
                    <a:p>
                      <a:pPr algn="l"/>
                      <a:r>
                        <a:rPr sz="1800" b="0">
                          <a:solidFill>
                            <a:srgbClr val="1F2933"/>
                          </a:solidFill>
                          <a:latin typeface="Segoe UI"/>
                        </a:rPr>
                        <a:t>method</a:t>
                      </a:r>
                    </a:p>
                  </a:txBody>
                  <a:tcPr anchor="ctr" marL="114300" marR="114300">
                    <a:solidFill>
                      <a:srgbClr val="EEF0F2"/>
                    </a:solidFill>
                  </a:tcPr>
                </a:tc>
                <a:tc>
                  <a:txBody>
                    <a:bodyPr/>
                    <a:lstStyle/>
                    <a:p>
                      <a:pPr algn="ctr"/>
                      <a:r>
                        <a:rPr sz="1800" b="0">
                          <a:solidFill>
                            <a:srgbClr val="1F2933"/>
                          </a:solidFill>
                          <a:latin typeface="Segoe UI"/>
                        </a:rPr>
                        <a:t>HDBSCAN</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cluster size / min. samples</a:t>
                      </a:r>
                    </a:p>
                  </a:txBody>
                  <a:tcPr anchor="ctr" marL="114300" marR="114300">
                    <a:solidFill>
                      <a:srgbClr val="FFFFFF"/>
                    </a:solidFill>
                  </a:tcPr>
                </a:tc>
                <a:tc>
                  <a:txBody>
                    <a:bodyPr/>
                    <a:lstStyle/>
                    <a:p>
                      <a:pPr algn="ctr"/>
                      <a:r>
                        <a:rPr sz="1800" b="0">
                          <a:solidFill>
                            <a:srgbClr val="1F2933"/>
                          </a:solidFill>
                          <a:latin typeface="Segoe UI"/>
                        </a:rPr>
                        <a:t>10 / 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clustering voxel size</a:t>
                      </a:r>
                    </a:p>
                  </a:txBody>
                  <a:tcPr anchor="ctr" marL="114300" marR="114300">
                    <a:solidFill>
                      <a:srgbClr val="EEF0F2"/>
                    </a:solidFill>
                  </a:tcPr>
                </a:tc>
                <a:tc>
                  <a:txBody>
                    <a:bodyPr/>
                    <a:lstStyle/>
                    <a:p>
                      <a:pPr algn="ctr"/>
                      <a:r>
                        <a:rPr sz="1800" b="0">
                          <a:solidFill>
                            <a:srgbClr val="1F2933"/>
                          </a:solidFill>
                          <a:latin typeface="Segoe UI"/>
                        </a:rPr>
                        <a:t>0.10 m</a:t>
                      </a:r>
                    </a:p>
                  </a:txBody>
                  <a:tcPr anchor="ctr" marL="114300" marR="114300">
                    <a:solidFill>
                      <a:srgbClr val="EEF0F2"/>
                    </a:solidFill>
                  </a:tcPr>
                </a:tc>
              </a:tr>
            </a:tbl>
          </a:graphicData>
        </a:graphic>
      </p:graphicFrame>
      <p:graphicFrame>
        <p:nvGraphicFramePr>
          <p:cNvPr id="5" name="Table 4"/>
          <p:cNvGraphicFramePr>
            <a:graphicFrameLocks noGrp="1"/>
          </p:cNvGraphicFramePr>
          <p:nvPr/>
        </p:nvGraphicFramePr>
        <p:xfrm>
          <a:off x="9334500" y="2095500"/>
          <a:ext cx="7810500" cy="7048496"/>
        </p:xfrm>
        <a:graphic>
          <a:graphicData uri="http://schemas.openxmlformats.org/drawingml/2006/table">
            <a:tbl>
              <a:tblPr firstRow="1" bandRow="1">
                <a:tableStyleId>{5C22544A-7EE6-4342-B048-85BDC9FD1C3A}</a:tableStyleId>
              </a:tblPr>
              <a:tblGrid>
                <a:gridCol w="1789906"/>
                <a:gridCol w="3254375"/>
                <a:gridCol w="2766219"/>
              </a:tblGrid>
              <a:tr h="503464">
                <a:tc>
                  <a:txBody>
                    <a:bodyPr/>
                    <a:lstStyle/>
                    <a:p>
                      <a:pPr algn="l"/>
                      <a:r>
                        <a:rPr sz="1800" b="1">
                          <a:solidFill>
                            <a:srgbClr val="FFFFFF"/>
                          </a:solidFill>
                          <a:latin typeface="Segoe UI"/>
                        </a:rPr>
                        <a:t>Stage</a:t>
                      </a:r>
                    </a:p>
                  </a:txBody>
                  <a:tcPr anchor="ctr" marL="114300" marR="114300">
                    <a:solidFill>
                      <a:srgbClr val="1F2933"/>
                    </a:solidFill>
                  </a:tcPr>
                </a:tc>
                <a:tc>
                  <a:txBody>
                    <a:bodyPr/>
                    <a:lstStyle/>
                    <a:p>
                      <a:pPr algn="l"/>
                      <a:r>
                        <a:rPr sz="1800" b="1">
                          <a:solidFill>
                            <a:srgbClr val="FFFFFF"/>
                          </a:solidFill>
                          <a:latin typeface="Segoe UI"/>
                        </a:rPr>
                        <a:t>Parameter</a:t>
                      </a:r>
                    </a:p>
                  </a:txBody>
                  <a:tcPr anchor="ctr" marL="114300" marR="114300">
                    <a:solidFill>
                      <a:srgbClr val="1F2933"/>
                    </a:solidFill>
                  </a:tcPr>
                </a:tc>
                <a:tc>
                  <a:txBody>
                    <a:bodyPr/>
                    <a:lstStyle/>
                    <a:p>
                      <a:pPr algn="ctr"/>
                      <a:r>
                        <a:rPr sz="1800" b="1">
                          <a:solidFill>
                            <a:srgbClr val="FFFFFF"/>
                          </a:solidFill>
                          <a:latin typeface="Segoe UI"/>
                        </a:rPr>
                        <a:t>Value</a:t>
                      </a:r>
                    </a:p>
                  </a:txBody>
                  <a:tcPr anchor="ctr" marL="114300" marR="114300">
                    <a:solidFill>
                      <a:srgbClr val="1F2933"/>
                    </a:solidFill>
                  </a:tcPr>
                </a:tc>
              </a:tr>
              <a:tr h="503464">
                <a:tc>
                  <a:txBody>
                    <a:bodyPr/>
                    <a:lstStyle/>
                    <a:p>
                      <a:pPr algn="l"/>
                      <a:r>
                        <a:rPr sz="1800" b="1">
                          <a:solidFill>
                            <a:srgbClr val="1F2933"/>
                          </a:solidFill>
                          <a:latin typeface="Segoe UI"/>
                        </a:rPr>
                        <a:t>Geometric</a:t>
                      </a:r>
                    </a:p>
                  </a:txBody>
                  <a:tcPr anchor="ctr" marL="114300" marR="114300">
                    <a:solidFill>
                      <a:srgbClr val="FFFFFF"/>
                    </a:solidFill>
                  </a:tcPr>
                </a:tc>
                <a:tc>
                  <a:txBody>
                    <a:bodyPr/>
                    <a:lstStyle/>
                    <a:p>
                      <a:pPr algn="l"/>
                      <a:r>
                        <a:rPr sz="1800" b="0">
                          <a:solidFill>
                            <a:srgbClr val="1F2933"/>
                          </a:solidFill>
                          <a:latin typeface="Segoe UI"/>
                        </a:rPr>
                        <a:t>min. points</a:t>
                      </a:r>
                    </a:p>
                  </a:txBody>
                  <a:tcPr anchor="ctr" marL="114300" marR="114300">
                    <a:solidFill>
                      <a:srgbClr val="FFFFFF"/>
                    </a:solidFill>
                  </a:tcPr>
                </a:tc>
                <a:tc>
                  <a:txBody>
                    <a:bodyPr/>
                    <a:lstStyle/>
                    <a:p>
                      <a:pPr algn="ctr"/>
                      <a:r>
                        <a:rPr sz="1800" b="0">
                          <a:solidFill>
                            <a:srgbClr val="1F2933"/>
                          </a:solidFill>
                          <a:latin typeface="Segoe UI"/>
                        </a:rPr>
                        <a:t>15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volume range</a:t>
                      </a:r>
                    </a:p>
                  </a:txBody>
                  <a:tcPr anchor="ctr" marL="114300" marR="114300">
                    <a:solidFill>
                      <a:srgbClr val="EEF0F2"/>
                    </a:solidFill>
                  </a:tcPr>
                </a:tc>
                <a:tc>
                  <a:txBody>
                    <a:bodyPr/>
                    <a:lstStyle/>
                    <a:p>
                      <a:pPr algn="ctr"/>
                      <a:r>
                        <a:rPr sz="1800" b="0">
                          <a:solidFill>
                            <a:srgbClr val="1F2933"/>
                          </a:solidFill>
                          <a:latin typeface="Segoe UI"/>
                        </a:rPr>
                        <a:t>[0.5, 50] m³</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longest extent</a:t>
                      </a:r>
                    </a:p>
                  </a:txBody>
                  <a:tcPr anchor="ctr" marL="114300" marR="114300">
                    <a:solidFill>
                      <a:srgbClr val="FFFFFF"/>
                    </a:solidFill>
                  </a:tcPr>
                </a:tc>
                <a:tc>
                  <a:txBody>
                    <a:bodyPr/>
                    <a:lstStyle/>
                    <a:p>
                      <a:pPr algn="ctr"/>
                      <a:r>
                        <a:rPr sz="1800" b="0">
                          <a:solidFill>
                            <a:srgbClr val="1F2933"/>
                          </a:solidFill>
                          <a:latin typeface="Segoe UI"/>
                        </a:rPr>
                        <a:t>6.0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min. top two extents</a:t>
                      </a:r>
                    </a:p>
                  </a:txBody>
                  <a:tcPr anchor="ctr" marL="114300" marR="114300">
                    <a:solidFill>
                      <a:srgbClr val="EEF0F2"/>
                    </a:solidFill>
                  </a:tcPr>
                </a:tc>
                <a:tc>
                  <a:txBody>
                    <a:bodyPr/>
                    <a:lstStyle/>
                    <a:p>
                      <a:pPr algn="ctr"/>
                      <a:r>
                        <a:rPr sz="1800" b="0">
                          <a:solidFill>
                            <a:srgbClr val="1F2933"/>
                          </a:solidFill>
                          <a:latin typeface="Segoe UI"/>
                        </a:rPr>
                        <a:t>0.5 m / 0.4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height above ground</a:t>
                      </a:r>
                    </a:p>
                  </a:txBody>
                  <a:tcPr anchor="ctr" marL="114300" marR="114300">
                    <a:solidFill>
                      <a:srgbClr val="FFFFFF"/>
                    </a:solidFill>
                  </a:tcPr>
                </a:tc>
                <a:tc>
                  <a:txBody>
                    <a:bodyPr/>
                    <a:lstStyle/>
                    <a:p>
                      <a:pPr algn="ctr"/>
                      <a:r>
                        <a:rPr sz="1800" b="0">
                          <a:solidFill>
                            <a:srgbClr val="1F2933"/>
                          </a:solidFill>
                          <a:latin typeface="Segoe UI"/>
                        </a:rPr>
                        <a:t>1.5 m</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max. vertical span</a:t>
                      </a:r>
                    </a:p>
                  </a:txBody>
                  <a:tcPr anchor="ctr" marL="114300" marR="114300">
                    <a:solidFill>
                      <a:srgbClr val="EEF0F2"/>
                    </a:solidFill>
                  </a:tcPr>
                </a:tc>
                <a:tc>
                  <a:txBody>
                    <a:bodyPr/>
                    <a:lstStyle/>
                    <a:p>
                      <a:pPr algn="ctr"/>
                      <a:r>
                        <a:rPr sz="1800" b="0">
                          <a:solidFill>
                            <a:srgbClr val="1F2933"/>
                          </a:solidFill>
                          <a:latin typeface="Segoe UI"/>
                        </a:rPr>
                        <a:t>1.8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aspect ratio</a:t>
                      </a:r>
                    </a:p>
                  </a:txBody>
                  <a:tcPr anchor="ctr" marL="114300" marR="114300">
                    <a:solidFill>
                      <a:srgbClr val="FFFFFF"/>
                    </a:solidFill>
                  </a:tcPr>
                </a:tc>
                <a:tc>
                  <a:txBody>
                    <a:bodyPr/>
                    <a:lstStyle/>
                    <a:p>
                      <a:pPr algn="ctr"/>
                      <a:r>
                        <a:rPr sz="1800" b="0">
                          <a:solidFill>
                            <a:srgbClr val="1F2933"/>
                          </a:solidFill>
                          <a:latin typeface="Segoe UI"/>
                        </a:rPr>
                        <a:t>6.0</a:t>
                      </a:r>
                    </a:p>
                  </a:txBody>
                  <a:tcPr anchor="ctr" marL="114300" marR="114300">
                    <a:solidFill>
                      <a:srgbClr val="FFFFFF"/>
                    </a:solidFill>
                  </a:tcPr>
                </a:tc>
              </a:tr>
              <a:tr h="503464">
                <a:tc>
                  <a:txBody>
                    <a:bodyPr/>
                    <a:lstStyle/>
                    <a:p>
                      <a:pPr algn="l"/>
                      <a:r>
                        <a:rPr sz="1800" b="1">
                          <a:solidFill>
                            <a:srgbClr val="1F2933"/>
                          </a:solidFill>
                          <a:latin typeface="Segoe UI"/>
                        </a:rPr>
                        <a:t>Classifier</a:t>
                      </a:r>
                    </a:p>
                  </a:txBody>
                  <a:tcPr anchor="ctr" marL="114300" marR="114300">
                    <a:solidFill>
                      <a:srgbClr val="EEF0F2"/>
                    </a:solidFill>
                  </a:tcPr>
                </a:tc>
                <a:tc>
                  <a:txBody>
                    <a:bodyPr/>
                    <a:lstStyle/>
                    <a:p>
                      <a:pPr algn="l"/>
                      <a:r>
                        <a:rPr sz="1800" b="0">
                          <a:solidFill>
                            <a:srgbClr val="1F2933"/>
                          </a:solidFill>
                          <a:latin typeface="Segoe UI"/>
                        </a:rPr>
                        <a:t>model</a:t>
                      </a:r>
                    </a:p>
                  </a:txBody>
                  <a:tcPr anchor="ctr" marL="114300" marR="114300">
                    <a:solidFill>
                      <a:srgbClr val="EEF0F2"/>
                    </a:solidFill>
                  </a:tcPr>
                </a:tc>
                <a:tc>
                  <a:txBody>
                    <a:bodyPr/>
                    <a:lstStyle/>
                    <a:p>
                      <a:pPr algn="ctr"/>
                      <a:r>
                        <a:rPr sz="1800" b="0">
                          <a:solidFill>
                            <a:srgbClr val="1F2933"/>
                          </a:solidFill>
                          <a:latin typeface="Segoe UI"/>
                        </a:rPr>
                        <a:t>dual-branch PointNet</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input points</a:t>
                      </a:r>
                    </a:p>
                  </a:txBody>
                  <a:tcPr anchor="ctr" marL="114300" marR="114300">
                    <a:solidFill>
                      <a:srgbClr val="FFFFFF"/>
                    </a:solidFill>
                  </a:tcPr>
                </a:tc>
                <a:tc>
                  <a:txBody>
                    <a:bodyPr/>
                    <a:lstStyle/>
                    <a:p>
                      <a:pPr algn="ctr"/>
                      <a:r>
                        <a:rPr sz="1800" b="0">
                          <a:solidFill>
                            <a:srgbClr val="1F2933"/>
                          </a:solidFill>
                          <a:latin typeface="Segoe UI"/>
                        </a:rPr>
                        <a:t>512</a:t>
                      </a:r>
                    </a:p>
                  </a:txBody>
                  <a:tcPr anchor="ctr" marL="114300" marR="114300">
                    <a:solidFill>
                      <a:srgbClr val="FFFFFF"/>
                    </a:solidFill>
                  </a:tcPr>
                </a:tc>
              </a:tr>
              <a:tr h="503464">
                <a:tc>
                  <a:txBody>
                    <a:bodyPr/>
                    <a:lstStyle/>
                    <a:p>
                      <a:pPr algn="l"/>
                      <a:r>
                        <a:rPr sz="1800" b="1">
                          <a:solidFill>
                            <a:srgbClr val="1F2933"/>
                          </a:solidFill>
                          <a:latin typeface="Segoe UI"/>
                        </a:rPr>
                        <a:t>Tracker</a:t>
                      </a:r>
                    </a:p>
                  </a:txBody>
                  <a:tcPr anchor="ctr" marL="114300" marR="114300">
                    <a:solidFill>
                      <a:srgbClr val="EEF0F2"/>
                    </a:solidFill>
                  </a:tcPr>
                </a:tc>
                <a:tc>
                  <a:txBody>
                    <a:bodyPr/>
                    <a:lstStyle/>
                    <a:p>
                      <a:pPr algn="l"/>
                      <a:r>
                        <a:rPr sz="1800" b="0">
                          <a:solidFill>
                            <a:srgbClr val="1F2933"/>
                          </a:solidFill>
                          <a:latin typeface="Segoe UI"/>
                        </a:rPr>
                        <a:t>max. match distance</a:t>
                      </a:r>
                    </a:p>
                  </a:txBody>
                  <a:tcPr anchor="ctr" marL="114300" marR="114300">
                    <a:solidFill>
                      <a:srgbClr val="EEF0F2"/>
                    </a:solidFill>
                  </a:tcPr>
                </a:tc>
                <a:tc>
                  <a:txBody>
                    <a:bodyPr/>
                    <a:lstStyle/>
                    <a:p>
                      <a:pPr algn="ctr"/>
                      <a:r>
                        <a:rPr sz="1800" b="0">
                          <a:solidFill>
                            <a:srgbClr val="1F2933"/>
                          </a:solidFill>
                          <a:latin typeface="Segoe UI"/>
                        </a:rPr>
                        <a:t>2.0 m</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max. disappeared frames</a:t>
                      </a:r>
                    </a:p>
                  </a:txBody>
                  <a:tcPr anchor="ctr" marL="114300" marR="114300">
                    <a:solidFill>
                      <a:srgbClr val="FFFFFF"/>
                    </a:solidFill>
                  </a:tcPr>
                </a:tc>
                <a:tc>
                  <a:txBody>
                    <a:bodyPr/>
                    <a:lstStyle/>
                    <a:p>
                      <a:pPr algn="ctr"/>
                      <a:r>
                        <a:rPr sz="1800" b="0">
                          <a:solidFill>
                            <a:srgbClr val="1F2933"/>
                          </a:solidFill>
                          <a:latin typeface="Segoe UI"/>
                        </a:rPr>
                        <a:t>5</a:t>
                      </a:r>
                    </a:p>
                  </a:txBody>
                  <a:tcPr anchor="ctr" marL="114300" marR="114300">
                    <a:solidFill>
                      <a:srgbClr val="FFFFFF"/>
                    </a:solidFill>
                  </a:tcPr>
                </a:tc>
              </a:tr>
              <a:tr h="503464">
                <a:tc>
                  <a:txBody>
                    <a:bodyPr/>
                    <a:lstStyle/>
                    <a:p>
                      <a:pPr algn="l"/>
                      <a:r>
                        <a:rPr sz="1800" b="1">
                          <a:solidFill>
                            <a:srgbClr val="1F2933"/>
                          </a:solidFill>
                          <a:latin typeface="Segoe UI"/>
                        </a:rPr>
                        <a:t/>
                      </a:r>
                    </a:p>
                  </a:txBody>
                  <a:tcPr anchor="ctr" marL="114300" marR="114300">
                    <a:solidFill>
                      <a:srgbClr val="EEF0F2"/>
                    </a:solidFill>
                  </a:tcPr>
                </a:tc>
                <a:tc>
                  <a:txBody>
                    <a:bodyPr/>
                    <a:lstStyle/>
                    <a:p>
                      <a:pPr algn="l"/>
                      <a:r>
                        <a:rPr sz="1800" b="0">
                          <a:solidFill>
                            <a:srgbClr val="1F2933"/>
                          </a:solidFill>
                          <a:latin typeface="Segoe UI"/>
                        </a:rPr>
                        <a:t>min. track length</a:t>
                      </a:r>
                    </a:p>
                  </a:txBody>
                  <a:tcPr anchor="ctr" marL="114300" marR="114300">
                    <a:solidFill>
                      <a:srgbClr val="EEF0F2"/>
                    </a:solidFill>
                  </a:tcPr>
                </a:tc>
                <a:tc>
                  <a:txBody>
                    <a:bodyPr/>
                    <a:lstStyle/>
                    <a:p>
                      <a:pPr algn="ctr"/>
                      <a:r>
                        <a:rPr sz="1800" b="0">
                          <a:solidFill>
                            <a:srgbClr val="1F2933"/>
                          </a:solidFill>
                          <a:latin typeface="Segoe UI"/>
                        </a:rPr>
                        <a:t>2</a:t>
                      </a:r>
                    </a:p>
                  </a:txBody>
                  <a:tcPr anchor="ctr" marL="114300" marR="114300">
                    <a:solidFill>
                      <a:srgbClr val="EEF0F2"/>
                    </a:solidFill>
                  </a:tcPr>
                </a:tc>
              </a:tr>
              <a:tr h="503464">
                <a:tc>
                  <a:txBody>
                    <a:bodyPr/>
                    <a:lstStyle/>
                    <a:p>
                      <a:pPr algn="l"/>
                      <a:r>
                        <a:rPr sz="1800" b="1">
                          <a:solidFill>
                            <a:srgbClr val="1F2933"/>
                          </a:solidFill>
                          <a:latin typeface="Segoe UI"/>
                        </a:rPr>
                        <a:t/>
                      </a:r>
                    </a:p>
                  </a:txBody>
                  <a:tcPr anchor="ctr" marL="114300" marR="114300">
                    <a:solidFill>
                      <a:srgbClr val="FFFFFF"/>
                    </a:solidFill>
                  </a:tcPr>
                </a:tc>
                <a:tc>
                  <a:txBody>
                    <a:bodyPr/>
                    <a:lstStyle/>
                    <a:p>
                      <a:pPr algn="l"/>
                      <a:r>
                        <a:rPr sz="1800" b="0">
                          <a:solidFill>
                            <a:srgbClr val="1F2933"/>
                          </a:solidFill>
                          <a:latin typeface="Segoe UI"/>
                        </a:rPr>
                        <a:t>min. known votes / ratio</a:t>
                      </a:r>
                    </a:p>
                  </a:txBody>
                  <a:tcPr anchor="ctr" marL="114300" marR="114300">
                    <a:solidFill>
                      <a:srgbClr val="FFFFFF"/>
                    </a:solidFill>
                  </a:tcPr>
                </a:tc>
                <a:tc>
                  <a:txBody>
                    <a:bodyPr/>
                    <a:lstStyle/>
                    <a:p>
                      <a:pPr algn="ctr"/>
                      <a:r>
                        <a:rPr sz="1800" b="0">
                          <a:solidFill>
                            <a:srgbClr val="1F2933"/>
                          </a:solidFill>
                          <a:latin typeface="Segoe UI"/>
                        </a:rPr>
                        <a:t>2 / 0.5</a:t>
                      </a:r>
                    </a:p>
                  </a:txBody>
                  <a:tcPr anchor="ctr" marL="114300" marR="114300">
                    <a:solidFill>
                      <a:srgbClr val="FFFFFF"/>
                    </a:solidFill>
                  </a:tcPr>
                </a:tc>
              </a:tr>
            </a:tbl>
          </a:graphicData>
        </a:graphic>
      </p:graphicFrame>
      <p:sp>
        <p:nvSpPr>
          <p:cNvPr id="6" name="Rectangle 5"/>
          <p:cNvSpPr/>
          <p:nvPr/>
        </p:nvSpPr>
        <p:spPr>
          <a:xfrm>
            <a:off x="0" y="9525000"/>
            <a:ext cx="18288000" cy="762000"/>
          </a:xfrm>
          <a:prstGeom prst="rect">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81000" y="9525000"/>
            <a:ext cx="11430000" cy="762000"/>
          </a:xfrm>
          <a:prstGeom prst="rect">
            <a:avLst/>
          </a:prstGeom>
          <a:noFill/>
        </p:spPr>
        <p:txBody>
          <a:bodyPr wrap="square" anchor="ctr" lIns="0" rIns="0" tIns="0" bIns="0">
            <a:spAutoFit/>
          </a:bodyPr>
          <a:lstStyle/>
          <a:p>
            <a:pPr algn="l">
              <a:spcAft>
                <a:spcPts val="0"/>
              </a:spcAft>
            </a:pPr>
            <a:r>
              <a:rPr sz="2400" b="1" i="1">
                <a:solidFill>
                  <a:srgbClr val="FFFFFF"/>
                </a:solidFill>
                <a:latin typeface="Segoe UI"/>
              </a:rPr>
              <a:t>BACKUP</a:t>
            </a:r>
          </a:p>
        </p:txBody>
      </p:sp>
      <p:sp>
        <p:nvSpPr>
          <p:cNvPr id="8" name="TextBox 7"/>
          <p:cNvSpPr txBox="1"/>
          <p:nvPr/>
        </p:nvSpPr>
        <p:spPr>
          <a:xfrm>
            <a:off x="15240000" y="9525000"/>
            <a:ext cx="2667000" cy="762000"/>
          </a:xfrm>
          <a:prstGeom prst="rect">
            <a:avLst/>
          </a:prstGeom>
          <a:noFill/>
        </p:spPr>
        <p:txBody>
          <a:bodyPr wrap="square" anchor="ctr" lIns="0" rIns="0" tIns="0" bIns="0">
            <a:spAutoFit/>
          </a:bodyPr>
          <a:lstStyle/>
          <a:p>
            <a:pPr algn="r">
              <a:spcAft>
                <a:spcPts val="0"/>
              </a:spcAft>
            </a:pPr>
            <a:r>
              <a:rPr sz="2400" b="0" i="0">
                <a:solidFill>
                  <a:srgbClr val="FFFFFF"/>
                </a:solidFill>
                <a:latin typeface="Segoe UI"/>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