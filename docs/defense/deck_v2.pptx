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 TALK 0:15 — title, name, supervisor.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 TALK 0:10 — four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divider: click through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 TALK 1:00 — source: D1; fig:bg-lidar-scan (b); say the 3 point-cloud properties aloud (backup slide)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 TALK 1:00 — source: ch1 §1.1; ch2 §2.2.2–2.2.3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ch2 §2.2; tab:positioning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 TALK 0:40 — source: ch1 §1.1–1.2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 TALK 0:45 — source: ch1 §Objectives, §Contributions (Objective-2 weak spot: project_state.md)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divider: click through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 TALK 1:00 — source: fig:architecture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ch3 §detection pipeline; fig:pipeline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 TALK 0:45 — source: ch3 §preprocessing, §RANSAC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 TALK 0:45 — source: fig:clustering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fig:geo-filter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 TALK 1:00 — source: fig:classifier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 TALK 0:30 — source: fig:tracker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ch3 §object completion; fig:completion-pipeline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 TALK 1:00 — source: fig:pcn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fig:kitti-like-partial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fig:lshape-gate, tab:completion-config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divider: click through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tab:dataset-roles, tab:dataset, tab:sensor-spec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ch4 §eligibility (recall-denominator weak spot)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divider: click through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ch4 §baselines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 TALK 0:30 — source: fig:bg-iou; ch4 §metrics; ch4 §plausibility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ch4 §splits; tab:loso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divider: click through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 TALK 1:00 — source: D9; tab:headline, tab:loso, tab:ablation-stage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 TALK 1:00 — source: tab:split, fig:failure-zooms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tab:distance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ch4 §result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divider: click through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 TALK 1:30 — source: D12; tab:plausibility, fig:plausibility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fig:completion-shape, fig:plausibility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ch4 §synthetic fidelity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tab:plausibility-seq; ch4 §plausibility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ch4 §scope of the completion claim; ch5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divider: click through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tab:runtime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ch4 §runtime evaluation (921.3 → 623.5 ms)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divider: click through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tab:ablation-stage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tab:clustering, tab:splitrate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tab:iou-sensitivity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tab:cross-domain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ch4 §completion ablations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divider: click through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 TALK 0:45 — source: ch5 §principal outcomes, §diagnostic findings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 TALK 0:30 — source: ch5 §limitations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 TALK 0:30 — source: ch5 §future 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 END — leave up during Q&amp;A; jump to slides by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ch2 §LiDAR point cloud; tab:sensor-spec; S1 notes A1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backup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backup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backup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backup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backup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○ SUPPORT (skip in talk) — source: backup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p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815" y="381000"/>
            <a:ext cx="2737871" cy="1047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811000" y="476250"/>
            <a:ext cx="5715000" cy="428625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524000" y="2667000"/>
            <a:ext cx="15240000" cy="31432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800" b="1" i="0">
                <a:solidFill>
                  <a:srgbClr val="1F2933"/>
                </a:solidFill>
                <a:latin typeface="Be Vietnam Pro"/>
              </a:rPr>
              <a:t>A MODULAR DETECTION AND COMPLETION FRAMEWORK FOR OCCLUDED VEHICLES IN AUTOMOTIVE LIDAR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77500" y="6858000"/>
            <a:ext cx="7239000" cy="2095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1">
                <a:solidFill>
                  <a:srgbClr val="1F2933"/>
                </a:solidFill>
                <a:latin typeface="Be Vietnam Pro"/>
              </a:rPr>
              <a:t>Supervisor: Dr. Doan Nhat Quang</a:t>
            </a:r>
          </a:p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Be Vietnam Pro"/>
              </a:rPr>
              <a:t>Presenter: Ngo Vi Viet Anh</a:t>
            </a:r>
          </a:p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Be Vietnam Pro"/>
              </a:rPr>
              <a:t>ID: 24MSE13205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11000" y="476250"/>
            <a:ext cx="5715000" cy="428625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143000" y="1428750"/>
            <a:ext cx="160020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600" b="1" i="0">
                <a:solidFill>
                  <a:srgbClr val="1F2933"/>
                </a:solidFill>
                <a:latin typeface="Be Vietnam Pro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57500" y="3810000"/>
            <a:ext cx="6096000" cy="285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0"/>
              </a:spcAft>
            </a:pPr>
            <a:r>
              <a:rPr sz="3600" b="1" i="0">
                <a:solidFill>
                  <a:srgbClr val="1F2933"/>
                </a:solidFill>
                <a:latin typeface="Be Vietnam Pro"/>
              </a:rPr>
              <a:t>I. Introduction</a:t>
            </a:r>
          </a:p>
          <a:p>
            <a:pPr algn="l">
              <a:spcAft>
                <a:spcPts val="6000"/>
              </a:spcAft>
            </a:pPr>
            <a:r>
              <a:rPr sz="3600" b="1" i="0">
                <a:solidFill>
                  <a:srgbClr val="1F2933"/>
                </a:solidFill>
                <a:latin typeface="Be Vietnam Pro"/>
              </a:rPr>
              <a:t>II. Proposed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6000" y="3810000"/>
            <a:ext cx="6667500" cy="285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0"/>
              </a:spcAft>
            </a:pPr>
            <a:r>
              <a:rPr sz="3600" b="1" i="0">
                <a:solidFill>
                  <a:srgbClr val="1F2933"/>
                </a:solidFill>
                <a:latin typeface="Be Vietnam Pro"/>
              </a:rPr>
              <a:t>III. Experiment Evaluation</a:t>
            </a:r>
          </a:p>
          <a:p>
            <a:pPr algn="l">
              <a:spcAft>
                <a:spcPts val="6000"/>
              </a:spcAft>
            </a:pPr>
            <a:r>
              <a:rPr sz="3600" b="1" i="0">
                <a:solidFill>
                  <a:srgbClr val="1F2933"/>
                </a:solidFill>
                <a:latin typeface="Be Vietnam Pro"/>
              </a:rPr>
              <a:t>IV. 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11000" y="476250"/>
            <a:ext cx="5715000" cy="428625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143000" y="2857500"/>
            <a:ext cx="16002000" cy="381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200"/>
              </a:spcAft>
            </a:pPr>
            <a:r>
              <a:rPr sz="5600" b="1" i="0">
                <a:solidFill>
                  <a:srgbClr val="1F2933"/>
                </a:solidFill>
                <a:latin typeface="Be Vietnam Pro"/>
              </a:rPr>
              <a:t>I. 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1.1 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The laser only reaches the near side, so half of every car is missing.</a:t>
            </a:r>
          </a:p>
        </p:txBody>
      </p:sp>
      <p:pic>
        <p:nvPicPr>
          <p:cNvPr id="4" name="Picture 3" descr="d1_occl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092" y="2095500"/>
            <a:ext cx="9006417" cy="7048500"/>
          </a:xfrm>
          <a:prstGeom prst="rect">
            <a:avLst/>
          </a:prstGeom>
        </p:spPr>
      </p:pic>
      <p:pic>
        <p:nvPicPr>
          <p:cNvPr id="5" name="Picture 4" descr="scan_panel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23319" y="2095500"/>
            <a:ext cx="3594963" cy="6477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96600" y="8686800"/>
            <a:ext cx="6248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 i="0">
                <a:solidFill>
                  <a:srgbClr val="1F2933"/>
                </a:solidFill>
                <a:latin typeface="Be Vietnam Pro"/>
              </a:rPr>
              <a:t>Real car, 6 m away (Thesis Fig. 2.3)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I. INTRODUCTION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1.2 CURRENT APPROACHES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End-to-end networks are accurate but need dense labels and act as black boxes; we take the modular route.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D2 end-to-end vs modular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I.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1.3 LITERATURE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Three lines of prior work, and what each leaves open.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table: approach / representative works / strengths / remaining challenges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I.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1.4 RESEARCH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Accurate detectors need dense labels and are hard to inspect, and real-world completion has no ground truth to train or test against.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3714750" cy="7048500"/>
          </a:xfrm>
          <a:prstGeom prst="rect">
            <a:avLst/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428750" y="2476500"/>
            <a:ext cx="3143250" cy="6286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400"/>
              </a:spcAft>
            </a:pPr>
            <a:r>
              <a:rPr sz="3200" b="1" i="0">
                <a:solidFill>
                  <a:srgbClr val="1F2933"/>
                </a:solidFill>
                <a:latin typeface="Be Vietnam Pro"/>
              </a:rPr>
              <a:t>Dense labels</a:t>
            </a:r>
          </a:p>
          <a:p>
            <a:pPr algn="ctr">
              <a:spcAft>
                <a:spcPts val="0"/>
              </a:spcAft>
            </a:pPr>
            <a:r>
              <a:rPr sz="2800" b="0" i="0">
                <a:solidFill>
                  <a:srgbClr val="1F2933"/>
                </a:solidFill>
                <a:latin typeface="Be Vietnam Pro"/>
              </a:rPr>
              <a:t>Accurate networks need a label on every 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8750" y="2095500"/>
            <a:ext cx="3714750" cy="7048500"/>
          </a:xfrm>
          <a:prstGeom prst="rect">
            <a:avLst/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524500" y="2476500"/>
            <a:ext cx="3143250" cy="6286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400"/>
              </a:spcAft>
            </a:pPr>
            <a:r>
              <a:rPr sz="3200" b="1" i="0">
                <a:solidFill>
                  <a:srgbClr val="1F2933"/>
                </a:solidFill>
                <a:latin typeface="Be Vietnam Pro"/>
              </a:rPr>
              <a:t>Opacity</a:t>
            </a:r>
          </a:p>
          <a:p>
            <a:pPr algn="ctr">
              <a:spcAft>
                <a:spcPts val="0"/>
              </a:spcAft>
            </a:pPr>
            <a:r>
              <a:rPr sz="2800" b="0" i="0">
                <a:solidFill>
                  <a:srgbClr val="1F2933"/>
                </a:solidFill>
                <a:latin typeface="Be Vietnam Pro"/>
              </a:rPr>
              <a:t>A missed car can't be traced to one step</a:t>
            </a:r>
          </a:p>
        </p:txBody>
      </p:sp>
      <p:sp>
        <p:nvSpPr>
          <p:cNvPr id="8" name="Rectangle 7"/>
          <p:cNvSpPr/>
          <p:nvPr/>
        </p:nvSpPr>
        <p:spPr>
          <a:xfrm>
            <a:off x="9334500" y="2095500"/>
            <a:ext cx="3714750" cy="7048500"/>
          </a:xfrm>
          <a:prstGeom prst="rect">
            <a:avLst/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20250" y="2476500"/>
            <a:ext cx="3143250" cy="6286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400"/>
              </a:spcAft>
            </a:pPr>
            <a:r>
              <a:rPr sz="3200" b="1" i="0">
                <a:solidFill>
                  <a:srgbClr val="1F2933"/>
                </a:solidFill>
                <a:latin typeface="Be Vietnam Pro"/>
              </a:rPr>
              <a:t>No paired real data</a:t>
            </a:r>
          </a:p>
          <a:p>
            <a:pPr algn="ctr">
              <a:spcAft>
                <a:spcPts val="0"/>
              </a:spcAft>
            </a:pPr>
            <a:r>
              <a:rPr sz="2800" b="0" i="0">
                <a:solidFill>
                  <a:srgbClr val="1F2933"/>
                </a:solidFill>
                <a:latin typeface="Be Vietnam Pro"/>
              </a:rPr>
              <a:t>No real occluded car comes with its full shape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430250" y="2095500"/>
            <a:ext cx="3714750" cy="7048500"/>
          </a:xfrm>
          <a:prstGeom prst="rect">
            <a:avLst/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00" y="2476500"/>
            <a:ext cx="3143250" cy="6286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400"/>
              </a:spcAft>
            </a:pPr>
            <a:r>
              <a:rPr sz="3200" b="1" i="0">
                <a:solidFill>
                  <a:srgbClr val="1F2933"/>
                </a:solidFill>
                <a:latin typeface="Be Vietnam Pro"/>
              </a:rPr>
              <a:t>No ground truth</a:t>
            </a:r>
          </a:p>
          <a:p>
            <a:pPr algn="ctr">
              <a:spcAft>
                <a:spcPts val="0"/>
              </a:spcAft>
            </a:pPr>
            <a:r>
              <a:rPr sz="2800" b="0" i="0">
                <a:solidFill>
                  <a:srgbClr val="1F2933"/>
                </a:solidFill>
                <a:latin typeface="Be Vietnam Pro"/>
              </a:rPr>
              <a:t>Real completions can't be scored against a true shape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I. INTRODUCTION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1.5 OBJECTIVES &amp; 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Three objectives, two contributions.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095500"/>
            <a:ext cx="7810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1F2933"/>
                </a:solidFill>
                <a:latin typeface="Be Vietnam Pro"/>
              </a:rP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857500"/>
            <a:ext cx="7810500" cy="628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200" b="0" i="0">
                <a:solidFill>
                  <a:srgbClr val="1F2933"/>
                </a:solidFill>
                <a:latin typeface="Be Vietnam Pro"/>
              </a:rPr>
              <a:t>1. Test whether a modular, geometry-first pipeline can detect vehicles as a transparent alternative to end-to-end networks.</a:t>
            </a:r>
          </a:p>
          <a:p>
            <a:pPr algn="l">
              <a:spcAft>
                <a:spcPts val="1800"/>
              </a:spcAft>
            </a:pPr>
            <a:r>
              <a:rPr sz="3200" b="0" i="0">
                <a:solidFill>
                  <a:srgbClr val="1F2933"/>
                </a:solidFill>
                <a:latin typeface="Be Vietnam Pro"/>
              </a:rPr>
              <a:t>2. Evaluate point cloud completion on real LiDAR, where no complete ground truth exists.</a:t>
            </a:r>
          </a:p>
          <a:p>
            <a:pPr algn="l">
              <a:spcAft>
                <a:spcPts val="1800"/>
              </a:spcAft>
            </a:pPr>
            <a:r>
              <a:rPr sz="3200" b="0" i="0">
                <a:solidFill>
                  <a:srgbClr val="1F2933"/>
                </a:solidFill>
                <a:latin typeface="Be Vietnam Pro"/>
              </a:rPr>
              <a:t>3. Test whether synthetic-only training and auto-mined supervision transfer to real LiDAR without new manual labels.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0" y="2095500"/>
            <a:ext cx="7810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1F2933"/>
                </a:solidFill>
                <a:latin typeface="Be Vietnam Pro"/>
              </a:rPr>
              <a:t>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0" y="2857500"/>
            <a:ext cx="7810500" cy="628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200" b="0" i="0">
                <a:solidFill>
                  <a:srgbClr val="1F2933"/>
                </a:solidFill>
                <a:latin typeface="Be Vietnam Pro"/>
              </a:rPr>
              <a:t>1. A modular detection and completion framework for occluded vehicles, inspectable and reproducible at every stage.</a:t>
            </a:r>
          </a:p>
          <a:p>
            <a:pPr algn="l">
              <a:spcAft>
                <a:spcPts val="1800"/>
              </a:spcAft>
            </a:pPr>
            <a:r>
              <a:rPr sz="3200" b="0" i="0">
                <a:solidFill>
                  <a:srgbClr val="1F2933"/>
                </a:solidFill>
                <a:latin typeface="Be Vietnam Pro"/>
              </a:rPr>
              <a:t>2. Zero additional manual annotation: classifier labels are mined automatically; the completion network trains only on synthetic shapes.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I. INTRODUCTION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11000" y="476250"/>
            <a:ext cx="5715000" cy="428625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143000" y="2857500"/>
            <a:ext cx="16002000" cy="381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200"/>
              </a:spcAft>
            </a:pPr>
            <a:r>
              <a:rPr sz="5600" b="1" i="0">
                <a:solidFill>
                  <a:srgbClr val="1F2933"/>
                </a:solidFill>
                <a:latin typeface="Be Vietnam Pro"/>
              </a:rPr>
              <a:t>II. PROPOSED 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2.1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Eight small steps from a raw scan to completed cars.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D3 master pipeline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II. PROPOSED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2.2 DETECTION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Six steps turn a raw scan into tracked cars.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fig: detection pipeline (points → clusters → cars)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II. PROPOSED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2.2.1 PREPROCESSING AND GROUND REMOVAL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Clean the scan, then remove the ground plane with RANSAC.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D4 RANSAC plane fit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II. PROPOSED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2.2.2 CLUSTERING (HDBSCAN)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HDBSCAN groups the remaining points into object candidates.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D5 clusters before/after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II. PROPOSED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2.2.3 GEOMETRIC FILTER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Size and shape rules on each cluster's oriented box drop obvious non-cars.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fig: geometric filter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II. PROPOSED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2.2.4 CAR / NOT-CAR CLASSIFIER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A small PointNet decides car or not-car, trained on labels mined automatically from SemanticKITTI.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78105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74295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D6 label mining flow ]</a:t>
            </a:r>
          </a:p>
        </p:txBody>
      </p:sp>
      <p:sp>
        <p:nvSpPr>
          <p:cNvPr id="6" name="Rectangle 5"/>
          <p:cNvSpPr/>
          <p:nvPr/>
        </p:nvSpPr>
        <p:spPr>
          <a:xfrm>
            <a:off x="9334500" y="2095500"/>
            <a:ext cx="78105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525000" y="2095500"/>
            <a:ext cx="74295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D7 simplified PointNet ]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II. PROPOSED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2.2.5 TRACKING AND TRACK FILTER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A car seen across many frames is kept; short-lived detections are dropped.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D8 tracking timeline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II. PROPOSED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2.3 OBJECT COMPLETION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Each detected car is gated, normalised, given a length, and completed by PCN.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fig: completion path (car cluster → gate → normalise → PCN → full car)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II. PROPOSED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2.3.1 COMPLETION NETWORK (PCN)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The completion network trains only on synthetic cars and must work on real scans it has never seen.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D11 PCN training and inference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II. PROPOSED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2.3.2 SYNTHETIC TRAINING PARTIALS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Training inputs are simulated LiDAR-style partial views of synthetic ShapeNet cars.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fig: KITTI-like partials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II. PROPOSED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2.3.3 NORMALISATION, L-SHAPE GATE AND LENGTH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Each real cluster is placed in the network's training frame, gated by its L-shape, and given an estimated length.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78105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74295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fig: L-shape gate ]</a:t>
            </a:r>
          </a:p>
        </p:txBody>
      </p:sp>
      <p:sp>
        <p:nvSpPr>
          <p:cNvPr id="6" name="Rectangle 5"/>
          <p:cNvSpPr/>
          <p:nvPr/>
        </p:nvSpPr>
        <p:spPr>
          <a:xfrm>
            <a:off x="9334500" y="2095500"/>
            <a:ext cx="78105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525000" y="2095500"/>
            <a:ext cx="74295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completion settings ]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II. PROPOSED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11000" y="476250"/>
            <a:ext cx="5715000" cy="428625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143000" y="2857500"/>
            <a:ext cx="16002000" cy="381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200"/>
              </a:spcAft>
            </a:pPr>
            <a:r>
              <a:rPr sz="5600" b="1" i="0">
                <a:solidFill>
                  <a:srgbClr val="1F2933"/>
                </a:solidFill>
                <a:latin typeface="Be Vietnam Pro"/>
              </a:rPr>
              <a:t>III. EXPERIMENT EVALUATION</a:t>
            </a:r>
          </a:p>
          <a:p>
            <a:pPr algn="ctr">
              <a:spcAft>
                <a:spcPts val="120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3.1 DATASET AND 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3.1.1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Real SemanticKITTI scans for detection; synthetic ShapeNet cars for completion.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78105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74295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table: dataset roles ]</a:t>
            </a:r>
          </a:p>
        </p:txBody>
      </p:sp>
      <p:sp>
        <p:nvSpPr>
          <p:cNvPr id="6" name="Rectangle 5"/>
          <p:cNvSpPr/>
          <p:nvPr/>
        </p:nvSpPr>
        <p:spPr>
          <a:xfrm>
            <a:off x="9334500" y="2095500"/>
            <a:ext cx="78105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525000" y="2095500"/>
            <a:ext cx="74295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table: sequences and sensor ]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III. EXPERIMENT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3.1.2 TARGET ELIGIBILITY AND GROUND TRUTH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A car is scored only if enough of its points survive preprocessing.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eligibility rule + example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III. EXPERIMENT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11000" y="476250"/>
            <a:ext cx="5715000" cy="428625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143000" y="2857500"/>
            <a:ext cx="16002000" cy="381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20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3.2 EXPERIMENT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3.2.1 BASELINES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Stages are compared by ablation; completion is compared with the raw partial, a dense reference, and PoinTr.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table: baselines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III. EXPERIMENT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3.2.2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Detections are matched to real cars by point overlap (IoU); completions are scored by an independent car classifier.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78105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74295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detection metrics: IoU matching ]</a:t>
            </a:r>
          </a:p>
        </p:txBody>
      </p:sp>
      <p:sp>
        <p:nvSpPr>
          <p:cNvPr id="6" name="Rectangle 5"/>
          <p:cNvSpPr/>
          <p:nvPr/>
        </p:nvSpPr>
        <p:spPr>
          <a:xfrm>
            <a:off x="9334500" y="2095500"/>
            <a:ext cx="78105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525000" y="2095500"/>
            <a:ext cx="74295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completion metric: plausibility ]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III. EXPERIMENT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3.2.3 DATA SPLIT: LEAVE-ONE-SEQUENCE-OUT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Train on ten sequences, test on the eleventh, and repeat for every sequence.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LOSO diagram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III. EXPERIMENT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11000" y="476250"/>
            <a:ext cx="5715000" cy="428625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143000" y="2857500"/>
            <a:ext cx="16002000" cy="381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20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3.3 DETECTION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3.3.1 OVERALL DETECTION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Each stage has a measurable job.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93726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89916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D9 false-positive funnel chart ]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96600" y="2095500"/>
            <a:ext cx="62484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087100" y="2095500"/>
            <a:ext cx="58674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results table ]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III. EXPERIMENT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3.3.2 WHAT LIMITS RECALL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Clustering splits cars into fragments; the classifier is not the limit.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D10 fragmented car example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III. EXPERIMENT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3.3.3 ACCURACY VS RANGE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Recall falls with distance as cars get sparser.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table: accuracy by distance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III. EXPERIMENT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3.3.4 DETECTION RESULT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What each detection stage contributes, and where it fails.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5080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4699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geometric filter ]</a:t>
            </a:r>
          </a:p>
        </p:txBody>
      </p:sp>
      <p:sp>
        <p:nvSpPr>
          <p:cNvPr id="6" name="Rectangle 5"/>
          <p:cNvSpPr/>
          <p:nvPr/>
        </p:nvSpPr>
        <p:spPr>
          <a:xfrm>
            <a:off x="6604000" y="2095500"/>
            <a:ext cx="5080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794500" y="2095500"/>
            <a:ext cx="4699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classifier ]</a:t>
            </a:r>
          </a:p>
        </p:txBody>
      </p:sp>
      <p:sp>
        <p:nvSpPr>
          <p:cNvPr id="8" name="Rectangle 7"/>
          <p:cNvSpPr/>
          <p:nvPr/>
        </p:nvSpPr>
        <p:spPr>
          <a:xfrm>
            <a:off x="12065000" y="2095500"/>
            <a:ext cx="5080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255500" y="2095500"/>
            <a:ext cx="4699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track filter ]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III. EXPERIMENT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11000" y="476250"/>
            <a:ext cx="5715000" cy="428625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143000" y="2857500"/>
            <a:ext cx="16002000" cy="381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20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3.4 COMPLETION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3.4.1 JUDGING COMPLETION WITHOUT GROUND TRUTH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Distance metrics reward doing nothing, so an independent judge decides whether each output looks like a car.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78105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74295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D12 judge schematic ]</a:t>
            </a:r>
          </a:p>
        </p:txBody>
      </p:sp>
      <p:sp>
        <p:nvSpPr>
          <p:cNvPr id="6" name="Rectangle 5"/>
          <p:cNvSpPr/>
          <p:nvPr/>
        </p:nvSpPr>
        <p:spPr>
          <a:xfrm>
            <a:off x="9334500" y="2095500"/>
            <a:ext cx="78105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525000" y="2095500"/>
            <a:ext cx="74295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acceptance bar chart ]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III. EXPERIMENT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3.4.2 COMPLETION EXAMPLES: RAW VS COMPLETED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The same real cars before and after completion.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fig: raw vs completed cars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III. EXPERIMENT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3.4.3 SYNTHETIC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On held-out synthetic cars, the network reproduces the complete shape.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78105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74295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synthetic examples ]</a:t>
            </a:r>
          </a:p>
        </p:txBody>
      </p:sp>
      <p:sp>
        <p:nvSpPr>
          <p:cNvPr id="6" name="Rectangle 5"/>
          <p:cNvSpPr/>
          <p:nvPr/>
        </p:nvSpPr>
        <p:spPr>
          <a:xfrm>
            <a:off x="9334500" y="2095500"/>
            <a:ext cx="78105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525000" y="2095500"/>
            <a:ext cx="74295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CD and F-score ]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III. EXPERIMENT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3.4.4 PLAUSIBILITY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The plausibility gain holds on every sequence, for moving cars, and under a heading flip.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78105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74295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table: per-sequence plausibility ]</a:t>
            </a:r>
          </a:p>
        </p:txBody>
      </p:sp>
      <p:sp>
        <p:nvSpPr>
          <p:cNvPr id="6" name="Rectangle 5"/>
          <p:cNvSpPr/>
          <p:nvPr/>
        </p:nvSpPr>
        <p:spPr>
          <a:xfrm>
            <a:off x="9334500" y="2095500"/>
            <a:ext cx="78105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525000" y="2095500"/>
            <a:ext cx="74295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movers / flip / McNemar ]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III. EXPERIMENT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3.4.5 COMPLETION RESULT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Where completion helps, and where it stays flat.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5080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4699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strengths ]</a:t>
            </a:r>
          </a:p>
        </p:txBody>
      </p:sp>
      <p:sp>
        <p:nvSpPr>
          <p:cNvPr id="6" name="Rectangle 5"/>
          <p:cNvSpPr/>
          <p:nvPr/>
        </p:nvSpPr>
        <p:spPr>
          <a:xfrm>
            <a:off x="6604000" y="2095500"/>
            <a:ext cx="5080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794500" y="2095500"/>
            <a:ext cx="4699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limitations ]</a:t>
            </a:r>
          </a:p>
        </p:txBody>
      </p:sp>
      <p:sp>
        <p:nvSpPr>
          <p:cNvPr id="8" name="Rectangle 7"/>
          <p:cNvSpPr/>
          <p:nvPr/>
        </p:nvSpPr>
        <p:spPr>
          <a:xfrm>
            <a:off x="12065000" y="2095500"/>
            <a:ext cx="5080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255500" y="2095500"/>
            <a:ext cx="4699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vs dense reference ]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III. EXPERIMENT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11000" y="476250"/>
            <a:ext cx="5715000" cy="428625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143000" y="2857500"/>
            <a:ext cx="16002000" cy="381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20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3.5 RUNTIME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3.5.1 RUNTIME BY STAGE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The pipeline runs offline; the classical CPU stages dominate the time per scan.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table: runtime per stage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III. EXPERIMENT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3.5.2 RUNTIME OPTIMISATION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Fewer RANSAC iterations and a coarser clustering voxel cut the time per scan by about a third.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before vs after optimisation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III. EXPERIMENT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11000" y="476250"/>
            <a:ext cx="5715000" cy="428625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143000" y="2857500"/>
            <a:ext cx="16002000" cy="381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20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3.6 ABLATION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3.6.1 STAGE 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Removing each stage in turn shows what it contributes.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table: stage ablation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III. EXPERIMENT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3.6.2 CLUSTERING ALTERNATIVES AND RESOLUTION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No faster clusterer matches HDBSCAN's recall; a coarser resolution reduces fragmentation.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78105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74295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table: clustering comparison ]</a:t>
            </a:r>
          </a:p>
        </p:txBody>
      </p:sp>
      <p:sp>
        <p:nvSpPr>
          <p:cNvPr id="6" name="Rectangle 5"/>
          <p:cNvSpPr/>
          <p:nvPr/>
        </p:nvSpPr>
        <p:spPr>
          <a:xfrm>
            <a:off x="9334500" y="2095500"/>
            <a:ext cx="78105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525000" y="2095500"/>
            <a:ext cx="74295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table: split rate by resolution ]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III. EXPERIMENT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3.6.3 IOU-THRESHOLD SENSITIVITY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How the results change with the matching threshold.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table: IoU sensitivity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III. EXPERIMENT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3.6.4 SYNTHETIC PRETRAINING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Synthetic pretraining adds nothing once enough real clusters are mined.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table: Stage A vs Stage B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III. EXPERIMENT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3.6.5 COMPLETION ABLATIONS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Comparing PCN with PoinTr, and the effect of the completion gates.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table: completion ablations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III. EXPERIMENT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11000" y="476250"/>
            <a:ext cx="5715000" cy="428625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143000" y="2857500"/>
            <a:ext cx="16002000" cy="381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200"/>
              </a:spcAft>
            </a:pPr>
            <a:r>
              <a:rPr sz="5600" b="1" i="0">
                <a:solidFill>
                  <a:srgbClr val="1F2933"/>
                </a:solidFill>
                <a:latin typeface="Be Vietnam Pro"/>
              </a:rPr>
              <a:t>IV. 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4.1 RESEARCH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What we built and what we found.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095500"/>
            <a:ext cx="7810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1F2933"/>
                </a:solidFill>
                <a:latin typeface="Be Vietnam Pro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857500"/>
            <a:ext cx="7810500" cy="628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200" b="0" i="0">
                <a:solidFill>
                  <a:srgbClr val="1F2933"/>
                </a:solidFill>
                <a:latin typeface="Be Vietnam Pro"/>
              </a:rPr>
              <a:t>• A modular detection and completion framework</a:t>
            </a:r>
          </a:p>
          <a:p>
            <a:pPr algn="l">
              <a:spcAft>
                <a:spcPts val="1800"/>
              </a:spcAft>
            </a:pPr>
            <a:r>
              <a:rPr sz="3200" b="0" i="0">
                <a:solidFill>
                  <a:srgbClr val="1F2933"/>
                </a:solidFill>
                <a:latin typeface="Be Vietnam Pro"/>
              </a:rPr>
              <a:t>• Zero additional manual annotation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0" y="2095500"/>
            <a:ext cx="7810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1F2933"/>
                </a:solidFill>
                <a:latin typeface="Be Vietnam Pro"/>
              </a:rPr>
              <a:t>What we found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0" y="2857500"/>
            <a:ext cx="7810500" cy="628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200" b="0" i="0">
                <a:solidFill>
                  <a:srgbClr val="1F2933"/>
                </a:solidFill>
                <a:latin typeface="Be Vietnam Pro"/>
              </a:rPr>
              <a:t>• Recall is limited by clustering, not by the classifier</a:t>
            </a:r>
          </a:p>
          <a:p>
            <a:pPr algn="l">
              <a:spcAft>
                <a:spcPts val="1800"/>
              </a:spcAft>
            </a:pPr>
            <a:r>
              <a:rPr sz="3200" b="0" i="0">
                <a:solidFill>
                  <a:srgbClr val="1F2933"/>
                </a:solidFill>
                <a:latin typeface="Be Vietnam Pro"/>
              </a:rPr>
              <a:t>• Completed cars are judged car-like far more often than raw scans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IV. CONCLUSION &amp; FUTURE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4.2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Where the results stop.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00" y="2286000"/>
            <a:ext cx="11430000" cy="704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400"/>
              </a:spcAft>
            </a:pPr>
            <a:r>
              <a:rPr sz="3200" b="0" i="0">
                <a:solidFill>
                  <a:srgbClr val="1F2933"/>
                </a:solidFill>
                <a:latin typeface="Be Vietnam Pro"/>
              </a:rPr>
              <a:t>• Cars only</a:t>
            </a:r>
          </a:p>
          <a:p>
            <a:pPr algn="l">
              <a:spcAft>
                <a:spcPts val="2400"/>
              </a:spcAft>
            </a:pPr>
            <a:r>
              <a:rPr sz="3200" b="0" i="0">
                <a:solidFill>
                  <a:srgbClr val="1F2933"/>
                </a:solidFill>
                <a:latin typeface="Be Vietnam Pro"/>
              </a:rPr>
              <a:t>• One dataset and one sensor</a:t>
            </a:r>
          </a:p>
          <a:p>
            <a:pPr algn="l">
              <a:spcAft>
                <a:spcPts val="2400"/>
              </a:spcAft>
            </a:pPr>
            <a:r>
              <a:rPr sz="3200" b="0" i="0">
                <a:solidFill>
                  <a:srgbClr val="1F2933"/>
                </a:solidFill>
                <a:latin typeface="Be Vietnam Pro"/>
              </a:rPr>
              <a:t>• Offline, not real-time</a:t>
            </a:r>
          </a:p>
          <a:p>
            <a:pPr algn="l">
              <a:spcAft>
                <a:spcPts val="2400"/>
              </a:spcAft>
            </a:pPr>
            <a:r>
              <a:rPr sz="3200" b="0" i="0">
                <a:solidFill>
                  <a:srgbClr val="1F2933"/>
                </a:solidFill>
                <a:latin typeface="Be Vietnam Pro"/>
              </a:rPr>
              <a:t>• Recall capped by clustering fragmentation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IV. CONCLUSION &amp; 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4.3 DISCUSSION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Three next steps, each scoped by a finding.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5080000" cy="7048500"/>
          </a:xfrm>
          <a:prstGeom prst="rect">
            <a:avLst/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428750" y="2476500"/>
            <a:ext cx="4508500" cy="6286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400"/>
              </a:spcAft>
            </a:pPr>
            <a:r>
              <a:rPr sz="3200" b="1" i="0">
                <a:solidFill>
                  <a:srgbClr val="1F2933"/>
                </a:solidFill>
                <a:latin typeface="Be Vietnam Pro"/>
              </a:rPr>
              <a:t>Real-time variant</a:t>
            </a:r>
          </a:p>
          <a:p>
            <a:pPr algn="ctr">
              <a:spcAft>
                <a:spcPts val="0"/>
              </a:spcAft>
            </a:pPr>
            <a:r>
              <a:rPr sz="2800" b="0" i="0">
                <a:solidFill>
                  <a:srgbClr val="1F2933"/>
                </a:solidFill>
                <a:latin typeface="Be Vietnam Pro"/>
              </a:rPr>
              <a:t>A native or GPU HDBSCAN implementation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604000" y="2095500"/>
            <a:ext cx="5080000" cy="7048500"/>
          </a:xfrm>
          <a:prstGeom prst="rect">
            <a:avLst/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889750" y="2476500"/>
            <a:ext cx="4508500" cy="6286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400"/>
              </a:spcAft>
            </a:pPr>
            <a:r>
              <a:rPr sz="3200" b="1" i="0">
                <a:solidFill>
                  <a:srgbClr val="1F2933"/>
                </a:solidFill>
                <a:latin typeface="Be Vietnam Pro"/>
              </a:rPr>
              <a:t>Real-data fine-tuning</a:t>
            </a:r>
          </a:p>
          <a:p>
            <a:pPr algn="ctr">
              <a:spcAft>
                <a:spcPts val="0"/>
              </a:spcAft>
            </a:pPr>
            <a:r>
              <a:rPr sz="2800" b="0" i="0">
                <a:solidFill>
                  <a:srgbClr val="1F2933"/>
                </a:solidFill>
                <a:latin typeface="Be Vietnam Pro"/>
              </a:rPr>
              <a:t>Close the synthetic-to-real gap for completion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2065000" y="2095500"/>
            <a:ext cx="5080000" cy="7048500"/>
          </a:xfrm>
          <a:prstGeom prst="rect">
            <a:avLst/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350750" y="2476500"/>
            <a:ext cx="4508500" cy="6286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400"/>
              </a:spcAft>
            </a:pPr>
            <a:r>
              <a:rPr sz="3200" b="1" i="0">
                <a:solidFill>
                  <a:srgbClr val="1F2933"/>
                </a:solidFill>
                <a:latin typeface="Be Vietnam Pro"/>
              </a:rPr>
              <a:t>Downstream detection</a:t>
            </a:r>
          </a:p>
          <a:p>
            <a:pPr algn="ctr">
              <a:spcAft>
                <a:spcPts val="0"/>
              </a:spcAft>
            </a:pPr>
            <a:r>
              <a:rPr sz="2800" b="0" i="0">
                <a:solidFill>
                  <a:srgbClr val="1F2933"/>
                </a:solidFill>
                <a:latin typeface="Be Vietnam Pro"/>
              </a:rPr>
              <a:t>Test whether completed cars improve 3D detection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IV. CONCLUSION &amp; 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p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065" y="571500"/>
            <a:ext cx="2737871" cy="1047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43000" y="1905000"/>
            <a:ext cx="160020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5600" b="1" i="0">
                <a:solidFill>
                  <a:srgbClr val="1F2933"/>
                </a:solidFill>
                <a:latin typeface="Be Vietnam Pro"/>
              </a:rPr>
              <a:t>THE END.</a:t>
            </a:r>
          </a:p>
          <a:p>
            <a:pPr algn="ctr">
              <a:spcAft>
                <a:spcPts val="800"/>
              </a:spcAft>
            </a:pPr>
            <a:r>
              <a:rPr sz="3600" b="1" i="0">
                <a:solidFill>
                  <a:srgbClr val="1F2933"/>
                </a:solidFill>
                <a:latin typeface="Be Vietnam Pro"/>
              </a:rPr>
              <a:t>THANKS FOR ATTENDING AND LISTENING.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810000"/>
            <a:ext cx="16002000" cy="49530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33500" y="3810000"/>
            <a:ext cx="15621000" cy="495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D3 master pipeline — anchor for Q&amp;A 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LIDAR POINT CLOUD PROPERTIES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000125"/>
            <a:ext cx="16002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1F2933"/>
                </a:solidFill>
                <a:latin typeface="Be Vietnam Pro"/>
              </a:rPr>
              <a:t>A LiDAR scan is an unordered set of 3D points that gets sparser with range and sees each object from one side.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95500"/>
            <a:ext cx="5080000" cy="7048500"/>
          </a:xfrm>
          <a:prstGeom prst="rect">
            <a:avLst/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428750" y="2476500"/>
            <a:ext cx="4508500" cy="6286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400"/>
              </a:spcAft>
            </a:pPr>
            <a:r>
              <a:rPr sz="3200" b="1" i="0">
                <a:solidFill>
                  <a:srgbClr val="1F2933"/>
                </a:solidFill>
                <a:latin typeface="Be Vietnam Pro"/>
              </a:rPr>
              <a:t>Unordered</a:t>
            </a:r>
          </a:p>
          <a:p>
            <a:pPr algn="ctr">
              <a:spcAft>
                <a:spcPts val="0"/>
              </a:spcAft>
            </a:pPr>
            <a:r>
              <a:rPr sz="2800" b="0" i="0">
                <a:solidFill>
                  <a:srgbClr val="1F2933"/>
                </a:solidFill>
                <a:latin typeface="Be Vietnam Pro"/>
              </a:rPr>
              <a:t>No fixed order, unlike the pixels of an image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604000" y="2095500"/>
            <a:ext cx="5080000" cy="7048500"/>
          </a:xfrm>
          <a:prstGeom prst="rect">
            <a:avLst/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889750" y="2476500"/>
            <a:ext cx="4508500" cy="6286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400"/>
              </a:spcAft>
            </a:pPr>
            <a:r>
              <a:rPr sz="3200" b="1" i="0">
                <a:solidFill>
                  <a:srgbClr val="1F2933"/>
                </a:solidFill>
                <a:latin typeface="Be Vietnam Pro"/>
              </a:rPr>
              <a:t>Sparser with range</a:t>
            </a:r>
          </a:p>
          <a:p>
            <a:pPr algn="ctr">
              <a:spcAft>
                <a:spcPts val="0"/>
              </a:spcAft>
            </a:pPr>
            <a:r>
              <a:rPr sz="2800" b="0" i="0">
                <a:solidFill>
                  <a:srgbClr val="1F2933"/>
                </a:solidFill>
                <a:latin typeface="Be Vietnam Pro"/>
              </a:rPr>
              <a:t>Far objects get only a handful of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12065000" y="2095500"/>
            <a:ext cx="5080000" cy="7048500"/>
          </a:xfrm>
          <a:prstGeom prst="rect">
            <a:avLst/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350750" y="2476500"/>
            <a:ext cx="4508500" cy="6286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400"/>
              </a:spcAft>
            </a:pPr>
            <a:r>
              <a:rPr sz="3200" b="1" i="0">
                <a:solidFill>
                  <a:srgbClr val="1F2933"/>
                </a:solidFill>
                <a:latin typeface="Be Vietnam Pro"/>
              </a:rPr>
              <a:t>One-sided</a:t>
            </a:r>
          </a:p>
          <a:p>
            <a:pPr algn="ctr">
              <a:spcAft>
                <a:spcPts val="0"/>
              </a:spcAft>
            </a:pPr>
            <a:r>
              <a:rPr sz="2800" b="0" i="0">
                <a:solidFill>
                  <a:srgbClr val="1F2933"/>
                </a:solidFill>
                <a:latin typeface="Be Vietnam Pro"/>
              </a:rPr>
              <a:t>Each object is seen from one side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BACKUP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REPAIR STRATEGIES AND WHY THEY FAIL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Repair Strategies and Why They Fail ]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BACKUP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THE NORMALISATION BUG</a:t>
            </a:r>
          </a:p>
        </p:txBody>
      </p:sp>
      <p:sp>
        <p:nvSpPr>
          <p:cNvPr id="3" name="Rectangle 2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The Normalisation Bug ]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BACKUP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IS THE JUDGE INDEPENDENT?</a:t>
            </a:r>
          </a:p>
        </p:txBody>
      </p:sp>
      <p:sp>
        <p:nvSpPr>
          <p:cNvPr id="3" name="Rectangle 2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Is the Judge Independent? ]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BACKUP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FIDELITY METRICS: UCD AND UHD</a:t>
            </a:r>
          </a:p>
        </p:txBody>
      </p:sp>
      <p:sp>
        <p:nvSpPr>
          <p:cNvPr id="3" name="Rectangle 2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Fidelity Metrics: UCD and UHD ]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BACKUP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WORKED EXAMPLE: IOU MATCHING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Worked Example: IoU Matching ]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BACKUP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5750"/>
            <a:ext cx="1600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1F2933"/>
                </a:solidFill>
                <a:latin typeface="Be Vietnam Pro"/>
              </a:rPr>
              <a:t>PIPELINE CONFIGURATION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143000" y="2095500"/>
            <a:ext cx="16002000" cy="7048500"/>
          </a:xfrm>
          <a:prstGeom prst="rect">
            <a:avLst/>
          </a:prstGeom>
          <a:solidFill>
            <a:srgbClr val="F7F7F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333500" y="2095500"/>
            <a:ext cx="15621000" cy="7048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1">
                <a:solidFill>
                  <a:srgbClr val="6B7280"/>
                </a:solidFill>
                <a:latin typeface="Be Vietnam Pro"/>
              </a:rPr>
              <a:t>[ Pipeline Configuration ]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9525000"/>
            <a:ext cx="11430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1">
                <a:solidFill>
                  <a:srgbClr val="FFFFFF"/>
                </a:solidFill>
                <a:latin typeface="Be Vietnam Pro"/>
              </a:rPr>
              <a:t>BACKUP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0" y="9525000"/>
            <a:ext cx="2667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Be Vietnam Pro"/>
              </a:rPr>
              <a:t>59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